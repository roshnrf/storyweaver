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Lst>
  <p:sldSz cx="18288000" cy="10287000"/>
  <p:notesSz cx="6858000" cy="9144000"/>
  <p:embeddedFontLst>
    <p:embeddedFont>
      <p:font typeface="Aileron Bold" charset="1" panose="00000800000000000000"/>
      <p:regular r:id="rId57"/>
    </p:embeddedFont>
    <p:embeddedFont>
      <p:font typeface="Montserrat" charset="1" panose="00000500000000000000"/>
      <p:regular r:id="rId58"/>
    </p:embeddedFont>
    <p:embeddedFont>
      <p:font typeface="Montserrat Bold" charset="1" panose="00000800000000000000"/>
      <p:regular r:id="rId59"/>
    </p:embeddedFont>
    <p:embeddedFont>
      <p:font typeface="Aileron Bold Italics" charset="1" panose="00000800000000000000"/>
      <p:regular r:id="rId60"/>
    </p:embeddedFont>
    <p:embeddedFont>
      <p:font typeface="Aileron" charset="1" panose="00000500000000000000"/>
      <p:regular r:id="rId61"/>
    </p:embeddedFont>
    <p:embeddedFont>
      <p:font typeface="Montserrat Italics" charset="1" panose="00000500000000000000"/>
      <p:regular r:id="rId62"/>
    </p:embeddedFont>
    <p:embeddedFont>
      <p:font typeface="Canva Sans Bold" charset="1" panose="020B0803030501040103"/>
      <p:regular r:id="rId63"/>
    </p:embeddedFont>
    <p:embeddedFont>
      <p:font typeface="Canva Sans" charset="1" panose="020B0503030501040103"/>
      <p:regular r:id="rId6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fonts/font57.fntdata" Type="http://schemas.openxmlformats.org/officeDocument/2006/relationships/font"/><Relationship Id="rId58" Target="fonts/font58.fntdata" Type="http://schemas.openxmlformats.org/officeDocument/2006/relationships/font"/><Relationship Id="rId59" Target="fonts/font59.fntdata" Type="http://schemas.openxmlformats.org/officeDocument/2006/relationships/font"/><Relationship Id="rId6" Target="slides/slide1.xml" Type="http://schemas.openxmlformats.org/officeDocument/2006/relationships/slide"/><Relationship Id="rId60" Target="fonts/font60.fntdata" Type="http://schemas.openxmlformats.org/officeDocument/2006/relationships/font"/><Relationship Id="rId61" Target="fonts/font61.fntdata" Type="http://schemas.openxmlformats.org/officeDocument/2006/relationships/font"/><Relationship Id="rId62" Target="fonts/font62.fntdata" Type="http://schemas.openxmlformats.org/officeDocument/2006/relationships/font"/><Relationship Id="rId63" Target="fonts/font63.fntdata" Type="http://schemas.openxmlformats.org/officeDocument/2006/relationships/font"/><Relationship Id="rId64" Target="fonts/font64.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embeddings/oleObject2.bin" Type="http://schemas.openxmlformats.org/officeDocument/2006/relationships/oleObjec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1.png" Type="http://schemas.openxmlformats.org/officeDocument/2006/relationships/image"/><Relationship Id="rId9" Target="../embeddings/oleObject1.bin" Type="http://schemas.openxmlformats.org/officeDocument/2006/relationships/oleObjec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3.png" Type="http://schemas.openxmlformats.org/officeDocument/2006/relationships/image"/><Relationship Id="rId9" Target="../embeddings/oleObject3.bin" Type="http://schemas.openxmlformats.org/officeDocument/2006/relationships/oleObjec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4.png" Type="http://schemas.openxmlformats.org/officeDocument/2006/relationships/image"/><Relationship Id="rId9" Target="../embeddings/oleObject4.bin" Type="http://schemas.openxmlformats.org/officeDocument/2006/relationships/oleObjec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5.png" Type="http://schemas.openxmlformats.org/officeDocument/2006/relationships/image"/><Relationship Id="rId9" Target="../embeddings/oleObject5.bin" Type="http://schemas.openxmlformats.org/officeDocument/2006/relationships/oleObjec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6.png" Type="http://schemas.openxmlformats.org/officeDocument/2006/relationships/image"/><Relationship Id="rId9" Target="../embeddings/oleObject6.bin" Type="http://schemas.openxmlformats.org/officeDocument/2006/relationships/oleObjec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7.png" Type="http://schemas.openxmlformats.org/officeDocument/2006/relationships/image"/><Relationship Id="rId9" Target="../embeddings/oleObject7.bin" Type="http://schemas.openxmlformats.org/officeDocument/2006/relationships/oleObjec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8.png" Type="http://schemas.openxmlformats.org/officeDocument/2006/relationships/image"/><Relationship Id="rId9" Target="../embeddings/oleObject8.bin" Type="http://schemas.openxmlformats.org/officeDocument/2006/relationships/oleObjec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9.png" Type="http://schemas.openxmlformats.org/officeDocument/2006/relationships/image"/><Relationship Id="rId7" Target="../embeddings/oleObject9.bin" Type="http://schemas.openxmlformats.org/officeDocument/2006/relationships/oleObject"/><Relationship Id="rId8" Target="../media/image8.png" Type="http://schemas.openxmlformats.org/officeDocument/2006/relationships/image"/><Relationship Id="rId9" Target="../media/image9.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20.png" Type="http://schemas.openxmlformats.org/officeDocument/2006/relationships/image"/><Relationship Id="rId9" Target="../embeddings/oleObject10.bin" Type="http://schemas.openxmlformats.org/officeDocument/2006/relationships/oleObjec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2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2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23.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24.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25.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26.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27.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28.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29.png" Type="http://schemas.openxmlformats.org/officeDocument/2006/relationships/image"/><Relationship Id="rId9" Target="../embeddings/oleObject11.bin" Type="http://schemas.openxmlformats.org/officeDocument/2006/relationships/oleObject"/></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11" Target="../embeddings/oleObject13.bin" Type="http://schemas.openxmlformats.org/officeDocument/2006/relationships/oleObjec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30.png" Type="http://schemas.openxmlformats.org/officeDocument/2006/relationships/image"/><Relationship Id="rId9" Target="../embeddings/oleObject12.bin" Type="http://schemas.openxmlformats.org/officeDocument/2006/relationships/oleObject"/></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32.png" Type="http://schemas.openxmlformats.org/officeDocument/2006/relationships/image"/><Relationship Id="rId9" Target="../embeddings/oleObject14.bin" Type="http://schemas.openxmlformats.org/officeDocument/2006/relationships/oleObject"/></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33.png" Type="http://schemas.openxmlformats.org/officeDocument/2006/relationships/image"/><Relationship Id="rId9" Target="../embeddings/oleObject15.bin" Type="http://schemas.openxmlformats.org/officeDocument/2006/relationships/oleObject"/></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34.png" Type="http://schemas.openxmlformats.org/officeDocument/2006/relationships/image"/><Relationship Id="rId9" Target="../embeddings/oleObject16.bin" Type="http://schemas.openxmlformats.org/officeDocument/2006/relationships/oleObject"/></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35.png" Type="http://schemas.openxmlformats.org/officeDocument/2006/relationships/image"/><Relationship Id="rId9" Target="../embeddings/oleObject17.bin" Type="http://schemas.openxmlformats.org/officeDocument/2006/relationships/oleObject"/></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36.png" Type="http://schemas.openxmlformats.org/officeDocument/2006/relationships/image"/><Relationship Id="rId9" Target="../embeddings/oleObject18.bin" Type="http://schemas.openxmlformats.org/officeDocument/2006/relationships/oleObject"/></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8.png" Type="http://schemas.openxmlformats.org/officeDocument/2006/relationships/image"/><Relationship Id="rId11" Target="../embeddings/oleObject20.bin" Type="http://schemas.openxmlformats.org/officeDocument/2006/relationships/oleObject"/><Relationship Id="rId12" Target="../media/image39.png" Type="http://schemas.openxmlformats.org/officeDocument/2006/relationships/image"/><Relationship Id="rId13" Target="../embeddings/oleObject21.bin" Type="http://schemas.openxmlformats.org/officeDocument/2006/relationships/oleObjec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37.png" Type="http://schemas.openxmlformats.org/officeDocument/2006/relationships/image"/><Relationship Id="rId9" Target="../embeddings/oleObject19.bin" Type="http://schemas.openxmlformats.org/officeDocument/2006/relationships/oleObject"/></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40.png" Type="http://schemas.openxmlformats.org/officeDocument/2006/relationships/image"/><Relationship Id="rId9" Target="../embeddings/oleObject22.bin" Type="http://schemas.openxmlformats.org/officeDocument/2006/relationships/oleObject"/></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CFEFF"/>
        </a:solidFill>
      </p:bgPr>
    </p:bg>
    <p:spTree>
      <p:nvGrpSpPr>
        <p:cNvPr id="1" name=""/>
        <p:cNvGrpSpPr/>
        <p:nvPr/>
      </p:nvGrpSpPr>
      <p:grpSpPr>
        <a:xfrm>
          <a:off x="0" y="0"/>
          <a:ext cx="0" cy="0"/>
          <a:chOff x="0" y="0"/>
          <a:chExt cx="0" cy="0"/>
        </a:xfrm>
      </p:grpSpPr>
      <p:sp>
        <p:nvSpPr>
          <p:cNvPr name="Freeform 2" id="2"/>
          <p:cNvSpPr/>
          <p:nvPr/>
        </p:nvSpPr>
        <p:spPr>
          <a:xfrm flipH="false" flipV="true" rot="0">
            <a:off x="9144000" y="1355173"/>
            <a:ext cx="10042068" cy="6664282"/>
          </a:xfrm>
          <a:custGeom>
            <a:avLst/>
            <a:gdLst/>
            <a:ahLst/>
            <a:cxnLst/>
            <a:rect r="r" b="b" t="t" l="l"/>
            <a:pathLst>
              <a:path h="6664282" w="10042068">
                <a:moveTo>
                  <a:pt x="0" y="6664282"/>
                </a:moveTo>
                <a:lnTo>
                  <a:pt x="10042068" y="6664282"/>
                </a:lnTo>
                <a:lnTo>
                  <a:pt x="10042068" y="0"/>
                </a:lnTo>
                <a:lnTo>
                  <a:pt x="0" y="0"/>
                </a:lnTo>
                <a:lnTo>
                  <a:pt x="0" y="6664282"/>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14145" y="0"/>
            <a:ext cx="20409103" cy="1443068"/>
          </a:xfrm>
          <a:custGeom>
            <a:avLst/>
            <a:gdLst/>
            <a:ahLst/>
            <a:cxnLst/>
            <a:rect r="r" b="b" t="t" l="l"/>
            <a:pathLst>
              <a:path h="1443068" w="20409103">
                <a:moveTo>
                  <a:pt x="0" y="0"/>
                </a:moveTo>
                <a:lnTo>
                  <a:pt x="20409103" y="0"/>
                </a:lnTo>
                <a:lnTo>
                  <a:pt x="20409103" y="1443068"/>
                </a:lnTo>
                <a:lnTo>
                  <a:pt x="0" y="14430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898068" y="2179650"/>
            <a:ext cx="10042068" cy="6664282"/>
          </a:xfrm>
          <a:custGeom>
            <a:avLst/>
            <a:gdLst/>
            <a:ahLst/>
            <a:cxnLst/>
            <a:rect r="r" b="b" t="t" l="l"/>
            <a:pathLst>
              <a:path h="6664282" w="10042068">
                <a:moveTo>
                  <a:pt x="10042068" y="0"/>
                </a:moveTo>
                <a:lnTo>
                  <a:pt x="0" y="0"/>
                </a:lnTo>
                <a:lnTo>
                  <a:pt x="0" y="6664282"/>
                </a:lnTo>
                <a:lnTo>
                  <a:pt x="10042068" y="6664282"/>
                </a:lnTo>
                <a:lnTo>
                  <a:pt x="10042068"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true" rot="0">
            <a:off x="-1748364" y="8843932"/>
            <a:ext cx="20409103" cy="1443068"/>
          </a:xfrm>
          <a:custGeom>
            <a:avLst/>
            <a:gdLst/>
            <a:ahLst/>
            <a:cxnLst/>
            <a:rect r="r" b="b" t="t" l="l"/>
            <a:pathLst>
              <a:path h="1443068" w="20409103">
                <a:moveTo>
                  <a:pt x="20409103" y="1443068"/>
                </a:moveTo>
                <a:lnTo>
                  <a:pt x="0" y="1443068"/>
                </a:lnTo>
                <a:lnTo>
                  <a:pt x="0" y="0"/>
                </a:lnTo>
                <a:lnTo>
                  <a:pt x="20409103" y="0"/>
                </a:lnTo>
                <a:lnTo>
                  <a:pt x="20409103" y="1443068"/>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3169859" y="5618309"/>
            <a:ext cx="5118141" cy="3396585"/>
          </a:xfrm>
          <a:custGeom>
            <a:avLst/>
            <a:gdLst/>
            <a:ahLst/>
            <a:cxnLst/>
            <a:rect r="r" b="b" t="t" l="l"/>
            <a:pathLst>
              <a:path h="3396585" w="5118141">
                <a:moveTo>
                  <a:pt x="0" y="0"/>
                </a:moveTo>
                <a:lnTo>
                  <a:pt x="5118141" y="0"/>
                </a:lnTo>
                <a:lnTo>
                  <a:pt x="5118141" y="3396585"/>
                </a:lnTo>
                <a:lnTo>
                  <a:pt x="0" y="33965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397203" y="2293832"/>
            <a:ext cx="17493594" cy="5766010"/>
          </a:xfrm>
          <a:prstGeom prst="rect">
            <a:avLst/>
          </a:prstGeom>
        </p:spPr>
        <p:txBody>
          <a:bodyPr anchor="t" rtlCol="false" tIns="0" lIns="0" bIns="0" rIns="0">
            <a:spAutoFit/>
          </a:bodyPr>
          <a:lstStyle/>
          <a:p>
            <a:pPr algn="ctr">
              <a:lnSpc>
                <a:spcPts val="5885"/>
              </a:lnSpc>
            </a:pPr>
          </a:p>
          <a:p>
            <a:pPr algn="ctr">
              <a:lnSpc>
                <a:spcPts val="5350"/>
              </a:lnSpc>
            </a:pPr>
            <a:r>
              <a:rPr lang="en-US" sz="5000" b="true">
                <a:solidFill>
                  <a:srgbClr val="4A5163"/>
                </a:solidFill>
                <a:latin typeface="Aileron Bold"/>
                <a:ea typeface="Aileron Bold"/>
                <a:cs typeface="Aileron Bold"/>
                <a:sym typeface="Aileron Bold"/>
              </a:rPr>
              <a:t>A Generative AI Platform for Collaborative Speech Therapy</a:t>
            </a:r>
          </a:p>
          <a:p>
            <a:pPr algn="ctr">
              <a:lnSpc>
                <a:spcPts val="5350"/>
              </a:lnSpc>
            </a:pPr>
          </a:p>
          <a:p>
            <a:pPr algn="ctr">
              <a:lnSpc>
                <a:spcPts val="3745"/>
              </a:lnSpc>
            </a:pPr>
          </a:p>
          <a:p>
            <a:pPr algn="ctr">
              <a:lnSpc>
                <a:spcPts val="3745"/>
              </a:lnSpc>
            </a:pPr>
          </a:p>
          <a:p>
            <a:pPr algn="ctr">
              <a:lnSpc>
                <a:spcPts val="3745"/>
              </a:lnSpc>
            </a:pPr>
            <a:r>
              <a:rPr lang="en-US" sz="3500" b="true">
                <a:solidFill>
                  <a:srgbClr val="576179"/>
                </a:solidFill>
                <a:latin typeface="Aileron Bold"/>
                <a:ea typeface="Aileron Bold"/>
                <a:cs typeface="Aileron Bold"/>
                <a:sym typeface="Aileron Bold"/>
              </a:rPr>
              <a:t>By:  </a:t>
            </a:r>
          </a:p>
          <a:p>
            <a:pPr algn="just">
              <a:lnSpc>
                <a:spcPts val="3745"/>
              </a:lnSpc>
            </a:pPr>
            <a:r>
              <a:rPr lang="en-US" sz="3500" b="true">
                <a:solidFill>
                  <a:srgbClr val="576179"/>
                </a:solidFill>
                <a:latin typeface="Aileron Bold"/>
                <a:ea typeface="Aileron Bold"/>
                <a:cs typeface="Aileron Bold"/>
                <a:sym typeface="Aileron Bold"/>
              </a:rPr>
              <a:t>                                                              </a:t>
            </a:r>
            <a:r>
              <a:rPr lang="en-US" sz="3500" b="true">
                <a:solidFill>
                  <a:srgbClr val="576179"/>
                </a:solidFill>
                <a:latin typeface="Aileron Bold"/>
                <a:ea typeface="Aileron Bold"/>
                <a:cs typeface="Aileron Bold"/>
                <a:sym typeface="Aileron Bold"/>
              </a:rPr>
              <a:t>Roshan A Rauof   22BAI1041</a:t>
            </a:r>
          </a:p>
          <a:p>
            <a:pPr algn="just">
              <a:lnSpc>
                <a:spcPts val="3745"/>
              </a:lnSpc>
            </a:pPr>
            <a:r>
              <a:rPr lang="en-US" sz="3500" b="true">
                <a:solidFill>
                  <a:srgbClr val="576179"/>
                </a:solidFill>
                <a:latin typeface="Aileron Bold"/>
                <a:ea typeface="Aileron Bold"/>
                <a:cs typeface="Aileron Bold"/>
                <a:sym typeface="Aileron Bold"/>
              </a:rPr>
              <a:t>                                                              Reem Fariha          22BAI1454</a:t>
            </a:r>
          </a:p>
          <a:p>
            <a:pPr algn="ctr">
              <a:lnSpc>
                <a:spcPts val="3745"/>
              </a:lnSpc>
            </a:pPr>
          </a:p>
          <a:p>
            <a:pPr algn="ctr">
              <a:lnSpc>
                <a:spcPts val="3745"/>
              </a:lnSpc>
            </a:pPr>
            <a:r>
              <a:rPr lang="en-US" sz="3500" b="true">
                <a:solidFill>
                  <a:srgbClr val="576179"/>
                </a:solidFill>
                <a:latin typeface="Aileron Bold"/>
                <a:ea typeface="Aileron Bold"/>
                <a:cs typeface="Aileron Bold"/>
                <a:sym typeface="Aileron Bold"/>
              </a:rPr>
              <a:t>Guide:  Dr. Anusooya G (50408)</a:t>
            </a:r>
          </a:p>
          <a:p>
            <a:pPr algn="ctr">
              <a:lnSpc>
                <a:spcPts val="3210"/>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35380"/>
            <a:ext cx="4670423" cy="3524046"/>
          </a:xfrm>
          <a:custGeom>
            <a:avLst/>
            <a:gdLst/>
            <a:ahLst/>
            <a:cxnLst/>
            <a:rect r="r" b="b" t="t" l="l"/>
            <a:pathLst>
              <a:path h="3524046" w="4670423">
                <a:moveTo>
                  <a:pt x="0" y="0"/>
                </a:moveTo>
                <a:lnTo>
                  <a:pt x="4670423" y="0"/>
                </a:lnTo>
                <a:lnTo>
                  <a:pt x="4670423" y="3524046"/>
                </a:lnTo>
                <a:lnTo>
                  <a:pt x="0" y="35240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1459507" y="-90484"/>
            <a:ext cx="8638773" cy="5733004"/>
          </a:xfrm>
          <a:custGeom>
            <a:avLst/>
            <a:gdLst/>
            <a:ahLst/>
            <a:cxnLst/>
            <a:rect r="r" b="b" t="t" l="l"/>
            <a:pathLst>
              <a:path h="5733004" w="8638773">
                <a:moveTo>
                  <a:pt x="0" y="5733003"/>
                </a:moveTo>
                <a:lnTo>
                  <a:pt x="8638773" y="5733003"/>
                </a:lnTo>
                <a:lnTo>
                  <a:pt x="8638773" y="0"/>
                </a:lnTo>
                <a:lnTo>
                  <a:pt x="0" y="0"/>
                </a:lnTo>
                <a:lnTo>
                  <a:pt x="0" y="5733003"/>
                </a:lnTo>
                <a:close/>
              </a:path>
            </a:pathLst>
          </a:custGeom>
          <a:blipFill>
            <a:blip r:embed="rId4">
              <a:alphaModFix amt="13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true" rot="0">
            <a:off x="14011028" y="7244296"/>
            <a:ext cx="4521303" cy="3411529"/>
          </a:xfrm>
          <a:custGeom>
            <a:avLst/>
            <a:gdLst/>
            <a:ahLst/>
            <a:cxnLst/>
            <a:rect r="r" b="b" t="t" l="l"/>
            <a:pathLst>
              <a:path h="3411529" w="4521303">
                <a:moveTo>
                  <a:pt x="4521303" y="3411528"/>
                </a:moveTo>
                <a:lnTo>
                  <a:pt x="0" y="3411528"/>
                </a:lnTo>
                <a:lnTo>
                  <a:pt x="0" y="0"/>
                </a:lnTo>
                <a:lnTo>
                  <a:pt x="4521303" y="0"/>
                </a:lnTo>
                <a:lnTo>
                  <a:pt x="4521303" y="341152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4878428" y="1074354"/>
            <a:ext cx="8531143" cy="972820"/>
          </a:xfrm>
          <a:prstGeom prst="rect">
            <a:avLst/>
          </a:prstGeom>
        </p:spPr>
        <p:txBody>
          <a:bodyPr anchor="t" rtlCol="false" tIns="0" lIns="0" bIns="0" rIns="0">
            <a:spAutoFit/>
          </a:bodyPr>
          <a:lstStyle/>
          <a:p>
            <a:pPr algn="ctr">
              <a:lnSpc>
                <a:spcPts val="7489"/>
              </a:lnSpc>
            </a:pPr>
            <a:r>
              <a:rPr lang="en-US" b="true" sz="6999">
                <a:solidFill>
                  <a:srgbClr val="000000"/>
                </a:solidFill>
                <a:latin typeface="Aileron Bold"/>
                <a:ea typeface="Aileron Bold"/>
                <a:cs typeface="Aileron Bold"/>
                <a:sym typeface="Aileron Bold"/>
              </a:rPr>
              <a:t>Overview</a:t>
            </a:r>
          </a:p>
        </p:txBody>
      </p:sp>
      <p:sp>
        <p:nvSpPr>
          <p:cNvPr name="Freeform 6" id="6"/>
          <p:cNvSpPr/>
          <p:nvPr/>
        </p:nvSpPr>
        <p:spPr>
          <a:xfrm flipH="true" flipV="false" rot="0">
            <a:off x="3996830" y="2518301"/>
            <a:ext cx="4880804" cy="6739999"/>
          </a:xfrm>
          <a:custGeom>
            <a:avLst/>
            <a:gdLst/>
            <a:ahLst/>
            <a:cxnLst/>
            <a:rect r="r" b="b" t="t" l="l"/>
            <a:pathLst>
              <a:path h="6739999" w="4880804">
                <a:moveTo>
                  <a:pt x="4880804" y="0"/>
                </a:moveTo>
                <a:lnTo>
                  <a:pt x="0" y="0"/>
                </a:lnTo>
                <a:lnTo>
                  <a:pt x="0" y="6739999"/>
                </a:lnTo>
                <a:lnTo>
                  <a:pt x="4880804" y="6739999"/>
                </a:lnTo>
                <a:lnTo>
                  <a:pt x="4880804" y="0"/>
                </a:lnTo>
                <a:close/>
              </a:path>
            </a:pathLst>
          </a:custGeom>
          <a:blipFill>
            <a:blip r:embed="rId6"/>
            <a:stretch>
              <a:fillRect l="-19398" t="0" r="0" b="-27602"/>
            </a:stretch>
          </a:blipFill>
        </p:spPr>
      </p:sp>
      <p:sp>
        <p:nvSpPr>
          <p:cNvPr name="TextBox 7" id="7"/>
          <p:cNvSpPr txBox="true"/>
          <p:nvPr/>
        </p:nvSpPr>
        <p:spPr>
          <a:xfrm rot="0">
            <a:off x="5751986" y="2679091"/>
            <a:ext cx="3125648" cy="900483"/>
          </a:xfrm>
          <a:prstGeom prst="rect">
            <a:avLst/>
          </a:prstGeom>
        </p:spPr>
        <p:txBody>
          <a:bodyPr anchor="t" rtlCol="false" tIns="0" lIns="0" bIns="0" rIns="0">
            <a:spAutoFit/>
          </a:bodyPr>
          <a:lstStyle/>
          <a:p>
            <a:pPr algn="just">
              <a:lnSpc>
                <a:spcPts val="8143"/>
              </a:lnSpc>
            </a:pPr>
            <a:r>
              <a:rPr lang="en-US" b="true" sz="3257">
                <a:solidFill>
                  <a:srgbClr val="000000"/>
                </a:solidFill>
                <a:latin typeface="Aileron Bold"/>
                <a:ea typeface="Aileron Bold"/>
                <a:cs typeface="Aileron Bold"/>
                <a:sym typeface="Aileron Bold"/>
              </a:rPr>
              <a:t>Introduction</a:t>
            </a:r>
          </a:p>
        </p:txBody>
      </p:sp>
      <p:sp>
        <p:nvSpPr>
          <p:cNvPr name="TextBox 8" id="8"/>
          <p:cNvSpPr txBox="true"/>
          <p:nvPr/>
        </p:nvSpPr>
        <p:spPr>
          <a:xfrm rot="0">
            <a:off x="4670757" y="2257106"/>
            <a:ext cx="810226" cy="1363548"/>
          </a:xfrm>
          <a:prstGeom prst="rect">
            <a:avLst/>
          </a:prstGeom>
        </p:spPr>
        <p:txBody>
          <a:bodyPr anchor="t" rtlCol="false" tIns="0" lIns="0" bIns="0" rIns="0">
            <a:spAutoFit/>
          </a:bodyPr>
          <a:lstStyle/>
          <a:p>
            <a:pPr algn="just">
              <a:lnSpc>
                <a:spcPts val="12346"/>
              </a:lnSpc>
            </a:pPr>
            <a:r>
              <a:rPr lang="en-US" b="true" sz="4938">
                <a:solidFill>
                  <a:srgbClr val="FFFFFF"/>
                </a:solidFill>
                <a:latin typeface="Aileron Bold"/>
                <a:ea typeface="Aileron Bold"/>
                <a:cs typeface="Aileron Bold"/>
                <a:sym typeface="Aileron Bold"/>
              </a:rPr>
              <a:t>1.</a:t>
            </a:r>
          </a:p>
        </p:txBody>
      </p:sp>
      <p:sp>
        <p:nvSpPr>
          <p:cNvPr name="TextBox 9" id="9"/>
          <p:cNvSpPr txBox="true"/>
          <p:nvPr/>
        </p:nvSpPr>
        <p:spPr>
          <a:xfrm rot="0">
            <a:off x="4734836" y="4119550"/>
            <a:ext cx="810226" cy="1363548"/>
          </a:xfrm>
          <a:prstGeom prst="rect">
            <a:avLst/>
          </a:prstGeom>
        </p:spPr>
        <p:txBody>
          <a:bodyPr anchor="t" rtlCol="false" tIns="0" lIns="0" bIns="0" rIns="0">
            <a:spAutoFit/>
          </a:bodyPr>
          <a:lstStyle/>
          <a:p>
            <a:pPr algn="just">
              <a:lnSpc>
                <a:spcPts val="12346"/>
              </a:lnSpc>
            </a:pPr>
            <a:r>
              <a:rPr lang="en-US" b="true" sz="4938">
                <a:solidFill>
                  <a:srgbClr val="FFFFFF"/>
                </a:solidFill>
                <a:latin typeface="Aileron Bold"/>
                <a:ea typeface="Aileron Bold"/>
                <a:cs typeface="Aileron Bold"/>
                <a:sym typeface="Aileron Bold"/>
              </a:rPr>
              <a:t>2.</a:t>
            </a:r>
          </a:p>
        </p:txBody>
      </p:sp>
      <p:sp>
        <p:nvSpPr>
          <p:cNvPr name="TextBox 10" id="10"/>
          <p:cNvSpPr txBox="true"/>
          <p:nvPr/>
        </p:nvSpPr>
        <p:spPr>
          <a:xfrm rot="0">
            <a:off x="4734836" y="5849972"/>
            <a:ext cx="810226" cy="1363548"/>
          </a:xfrm>
          <a:prstGeom prst="rect">
            <a:avLst/>
          </a:prstGeom>
        </p:spPr>
        <p:txBody>
          <a:bodyPr anchor="t" rtlCol="false" tIns="0" lIns="0" bIns="0" rIns="0">
            <a:spAutoFit/>
          </a:bodyPr>
          <a:lstStyle/>
          <a:p>
            <a:pPr algn="just">
              <a:lnSpc>
                <a:spcPts val="12346"/>
              </a:lnSpc>
            </a:pPr>
            <a:r>
              <a:rPr lang="en-US" b="true" sz="4938">
                <a:solidFill>
                  <a:srgbClr val="FFFFFF"/>
                </a:solidFill>
                <a:latin typeface="Aileron Bold"/>
                <a:ea typeface="Aileron Bold"/>
                <a:cs typeface="Aileron Bold"/>
                <a:sym typeface="Aileron Bold"/>
              </a:rPr>
              <a:t>3.</a:t>
            </a:r>
          </a:p>
        </p:txBody>
      </p:sp>
      <p:sp>
        <p:nvSpPr>
          <p:cNvPr name="TextBox 11" id="11"/>
          <p:cNvSpPr txBox="true"/>
          <p:nvPr/>
        </p:nvSpPr>
        <p:spPr>
          <a:xfrm rot="0">
            <a:off x="4734836" y="7617531"/>
            <a:ext cx="810226" cy="1363548"/>
          </a:xfrm>
          <a:prstGeom prst="rect">
            <a:avLst/>
          </a:prstGeom>
        </p:spPr>
        <p:txBody>
          <a:bodyPr anchor="t" rtlCol="false" tIns="0" lIns="0" bIns="0" rIns="0">
            <a:spAutoFit/>
          </a:bodyPr>
          <a:lstStyle/>
          <a:p>
            <a:pPr algn="just">
              <a:lnSpc>
                <a:spcPts val="12346"/>
              </a:lnSpc>
            </a:pPr>
            <a:r>
              <a:rPr lang="en-US" b="true" sz="4938">
                <a:solidFill>
                  <a:srgbClr val="FFFFFF"/>
                </a:solidFill>
                <a:latin typeface="Aileron Bold"/>
                <a:ea typeface="Aileron Bold"/>
                <a:cs typeface="Aileron Bold"/>
                <a:sym typeface="Aileron Bold"/>
              </a:rPr>
              <a:t>4.</a:t>
            </a:r>
          </a:p>
        </p:txBody>
      </p:sp>
      <p:sp>
        <p:nvSpPr>
          <p:cNvPr name="Freeform 12" id="12"/>
          <p:cNvSpPr/>
          <p:nvPr/>
        </p:nvSpPr>
        <p:spPr>
          <a:xfrm flipH="true" flipV="false" rot="0">
            <a:off x="9082721" y="2518301"/>
            <a:ext cx="4928307" cy="6805597"/>
          </a:xfrm>
          <a:custGeom>
            <a:avLst/>
            <a:gdLst/>
            <a:ahLst/>
            <a:cxnLst/>
            <a:rect r="r" b="b" t="t" l="l"/>
            <a:pathLst>
              <a:path h="6805597" w="4928307">
                <a:moveTo>
                  <a:pt x="4928307" y="0"/>
                </a:moveTo>
                <a:lnTo>
                  <a:pt x="0" y="0"/>
                </a:lnTo>
                <a:lnTo>
                  <a:pt x="0" y="6805596"/>
                </a:lnTo>
                <a:lnTo>
                  <a:pt x="4928307" y="6805596"/>
                </a:lnTo>
                <a:lnTo>
                  <a:pt x="4928307" y="0"/>
                </a:lnTo>
                <a:close/>
              </a:path>
            </a:pathLst>
          </a:custGeom>
          <a:blipFill>
            <a:blip r:embed="rId6"/>
            <a:stretch>
              <a:fillRect l="-19398" t="0" r="0" b="-27602"/>
            </a:stretch>
          </a:blipFill>
        </p:spPr>
      </p:sp>
      <p:sp>
        <p:nvSpPr>
          <p:cNvPr name="TextBox 13" id="13"/>
          <p:cNvSpPr txBox="true"/>
          <p:nvPr/>
        </p:nvSpPr>
        <p:spPr>
          <a:xfrm rot="0">
            <a:off x="9868231" y="2365477"/>
            <a:ext cx="810226" cy="1363548"/>
          </a:xfrm>
          <a:prstGeom prst="rect">
            <a:avLst/>
          </a:prstGeom>
        </p:spPr>
        <p:txBody>
          <a:bodyPr anchor="t" rtlCol="false" tIns="0" lIns="0" bIns="0" rIns="0">
            <a:spAutoFit/>
          </a:bodyPr>
          <a:lstStyle/>
          <a:p>
            <a:pPr algn="just">
              <a:lnSpc>
                <a:spcPts val="12346"/>
              </a:lnSpc>
            </a:pPr>
            <a:r>
              <a:rPr lang="en-US" b="true" sz="4938">
                <a:solidFill>
                  <a:srgbClr val="FFFFFF"/>
                </a:solidFill>
                <a:latin typeface="Aileron Bold"/>
                <a:ea typeface="Aileron Bold"/>
                <a:cs typeface="Aileron Bold"/>
                <a:sym typeface="Aileron Bold"/>
              </a:rPr>
              <a:t>5.</a:t>
            </a:r>
          </a:p>
        </p:txBody>
      </p:sp>
      <p:sp>
        <p:nvSpPr>
          <p:cNvPr name="TextBox 14" id="14"/>
          <p:cNvSpPr txBox="true"/>
          <p:nvPr/>
        </p:nvSpPr>
        <p:spPr>
          <a:xfrm rot="0">
            <a:off x="9804151" y="4119550"/>
            <a:ext cx="810226" cy="1363548"/>
          </a:xfrm>
          <a:prstGeom prst="rect">
            <a:avLst/>
          </a:prstGeom>
        </p:spPr>
        <p:txBody>
          <a:bodyPr anchor="t" rtlCol="false" tIns="0" lIns="0" bIns="0" rIns="0">
            <a:spAutoFit/>
          </a:bodyPr>
          <a:lstStyle/>
          <a:p>
            <a:pPr algn="just">
              <a:lnSpc>
                <a:spcPts val="12346"/>
              </a:lnSpc>
            </a:pPr>
            <a:r>
              <a:rPr lang="en-US" b="true" sz="4938">
                <a:solidFill>
                  <a:srgbClr val="FFFFFF"/>
                </a:solidFill>
                <a:latin typeface="Aileron Bold"/>
                <a:ea typeface="Aileron Bold"/>
                <a:cs typeface="Aileron Bold"/>
                <a:sym typeface="Aileron Bold"/>
              </a:rPr>
              <a:t>6.</a:t>
            </a:r>
          </a:p>
        </p:txBody>
      </p:sp>
      <p:sp>
        <p:nvSpPr>
          <p:cNvPr name="TextBox 15" id="15"/>
          <p:cNvSpPr txBox="true"/>
          <p:nvPr/>
        </p:nvSpPr>
        <p:spPr>
          <a:xfrm rot="0">
            <a:off x="9868231" y="5824107"/>
            <a:ext cx="810226" cy="1363548"/>
          </a:xfrm>
          <a:prstGeom prst="rect">
            <a:avLst/>
          </a:prstGeom>
        </p:spPr>
        <p:txBody>
          <a:bodyPr anchor="t" rtlCol="false" tIns="0" lIns="0" bIns="0" rIns="0">
            <a:spAutoFit/>
          </a:bodyPr>
          <a:lstStyle/>
          <a:p>
            <a:pPr algn="just">
              <a:lnSpc>
                <a:spcPts val="12346"/>
              </a:lnSpc>
            </a:pPr>
            <a:r>
              <a:rPr lang="en-US" b="true" sz="4938">
                <a:solidFill>
                  <a:srgbClr val="FFFFFF"/>
                </a:solidFill>
                <a:latin typeface="Aileron Bold"/>
                <a:ea typeface="Aileron Bold"/>
                <a:cs typeface="Aileron Bold"/>
                <a:sym typeface="Aileron Bold"/>
              </a:rPr>
              <a:t>7.</a:t>
            </a:r>
          </a:p>
        </p:txBody>
      </p:sp>
      <p:sp>
        <p:nvSpPr>
          <p:cNvPr name="TextBox 16" id="16"/>
          <p:cNvSpPr txBox="true"/>
          <p:nvPr/>
        </p:nvSpPr>
        <p:spPr>
          <a:xfrm rot="0">
            <a:off x="9868231" y="7582587"/>
            <a:ext cx="810226" cy="1363548"/>
          </a:xfrm>
          <a:prstGeom prst="rect">
            <a:avLst/>
          </a:prstGeom>
        </p:spPr>
        <p:txBody>
          <a:bodyPr anchor="t" rtlCol="false" tIns="0" lIns="0" bIns="0" rIns="0">
            <a:spAutoFit/>
          </a:bodyPr>
          <a:lstStyle/>
          <a:p>
            <a:pPr algn="just">
              <a:lnSpc>
                <a:spcPts val="12346"/>
              </a:lnSpc>
            </a:pPr>
            <a:r>
              <a:rPr lang="en-US" b="true" sz="4938">
                <a:solidFill>
                  <a:srgbClr val="FFFFFF"/>
                </a:solidFill>
                <a:latin typeface="Aileron Bold"/>
                <a:ea typeface="Aileron Bold"/>
                <a:cs typeface="Aileron Bold"/>
                <a:sym typeface="Aileron Bold"/>
              </a:rPr>
              <a:t>8.</a:t>
            </a:r>
          </a:p>
        </p:txBody>
      </p:sp>
      <p:sp>
        <p:nvSpPr>
          <p:cNvPr name="Freeform 17" id="17"/>
          <p:cNvSpPr/>
          <p:nvPr/>
        </p:nvSpPr>
        <p:spPr>
          <a:xfrm flipH="false" flipV="false" rot="0">
            <a:off x="14011028" y="6176540"/>
            <a:ext cx="4276972" cy="2838354"/>
          </a:xfrm>
          <a:custGeom>
            <a:avLst/>
            <a:gdLst/>
            <a:ahLst/>
            <a:cxnLst/>
            <a:rect r="r" b="b" t="t" l="l"/>
            <a:pathLst>
              <a:path h="2838354" w="4276972">
                <a:moveTo>
                  <a:pt x="0" y="0"/>
                </a:moveTo>
                <a:lnTo>
                  <a:pt x="4276972" y="0"/>
                </a:lnTo>
                <a:lnTo>
                  <a:pt x="4276972" y="2838354"/>
                </a:lnTo>
                <a:lnTo>
                  <a:pt x="0" y="28383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true" flipV="false" rot="0">
            <a:off x="-2092740" y="2518301"/>
            <a:ext cx="5118141" cy="3396585"/>
          </a:xfrm>
          <a:custGeom>
            <a:avLst/>
            <a:gdLst/>
            <a:ahLst/>
            <a:cxnLst/>
            <a:rect r="r" b="b" t="t" l="l"/>
            <a:pathLst>
              <a:path h="3396585" w="5118141">
                <a:moveTo>
                  <a:pt x="5118142" y="0"/>
                </a:moveTo>
                <a:lnTo>
                  <a:pt x="0" y="0"/>
                </a:lnTo>
                <a:lnTo>
                  <a:pt x="0" y="3396584"/>
                </a:lnTo>
                <a:lnTo>
                  <a:pt x="5118142" y="3396584"/>
                </a:lnTo>
                <a:lnTo>
                  <a:pt x="511814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9" id="19"/>
          <p:cNvSpPr txBox="true"/>
          <p:nvPr/>
        </p:nvSpPr>
        <p:spPr>
          <a:xfrm rot="0">
            <a:off x="5480983" y="4515648"/>
            <a:ext cx="3061856" cy="1126871"/>
          </a:xfrm>
          <a:prstGeom prst="rect">
            <a:avLst/>
          </a:prstGeom>
        </p:spPr>
        <p:txBody>
          <a:bodyPr anchor="t" rtlCol="false" tIns="0" lIns="0" bIns="0" rIns="0">
            <a:spAutoFit/>
          </a:bodyPr>
          <a:lstStyle/>
          <a:p>
            <a:pPr algn="ctr">
              <a:lnSpc>
                <a:spcPts val="4564"/>
              </a:lnSpc>
            </a:pPr>
            <a:r>
              <a:rPr lang="en-US" sz="3260" b="true">
                <a:solidFill>
                  <a:srgbClr val="000000"/>
                </a:solidFill>
                <a:latin typeface="Aileron Bold"/>
                <a:ea typeface="Aileron Bold"/>
                <a:cs typeface="Aileron Bold"/>
                <a:sym typeface="Aileron Bold"/>
              </a:rPr>
              <a:t>Literature Review</a:t>
            </a:r>
          </a:p>
        </p:txBody>
      </p:sp>
      <p:sp>
        <p:nvSpPr>
          <p:cNvPr name="TextBox 20" id="20"/>
          <p:cNvSpPr txBox="true"/>
          <p:nvPr/>
        </p:nvSpPr>
        <p:spPr>
          <a:xfrm rot="0">
            <a:off x="5545062" y="5982768"/>
            <a:ext cx="3061856" cy="1608201"/>
          </a:xfrm>
          <a:prstGeom prst="rect">
            <a:avLst/>
          </a:prstGeom>
        </p:spPr>
        <p:txBody>
          <a:bodyPr anchor="t" rtlCol="false" tIns="0" lIns="0" bIns="0" rIns="0">
            <a:spAutoFit/>
          </a:bodyPr>
          <a:lstStyle/>
          <a:p>
            <a:pPr algn="ctr">
              <a:lnSpc>
                <a:spcPts val="4284"/>
              </a:lnSpc>
            </a:pPr>
            <a:r>
              <a:rPr lang="en-US" sz="3060" b="true">
                <a:solidFill>
                  <a:srgbClr val="000000"/>
                </a:solidFill>
                <a:latin typeface="Aileron Bold"/>
                <a:ea typeface="Aileron Bold"/>
                <a:cs typeface="Aileron Bold"/>
                <a:sym typeface="Aileron Bold"/>
              </a:rPr>
              <a:t>Scope &amp; Problem Statement</a:t>
            </a:r>
          </a:p>
        </p:txBody>
      </p:sp>
      <p:sp>
        <p:nvSpPr>
          <p:cNvPr name="TextBox 21" id="21"/>
          <p:cNvSpPr txBox="true"/>
          <p:nvPr/>
        </p:nvSpPr>
        <p:spPr>
          <a:xfrm rot="0">
            <a:off x="5545062" y="8012094"/>
            <a:ext cx="3061856" cy="1126871"/>
          </a:xfrm>
          <a:prstGeom prst="rect">
            <a:avLst/>
          </a:prstGeom>
        </p:spPr>
        <p:txBody>
          <a:bodyPr anchor="t" rtlCol="false" tIns="0" lIns="0" bIns="0" rIns="0">
            <a:spAutoFit/>
          </a:bodyPr>
          <a:lstStyle/>
          <a:p>
            <a:pPr algn="ctr">
              <a:lnSpc>
                <a:spcPts val="4564"/>
              </a:lnSpc>
            </a:pPr>
            <a:r>
              <a:rPr lang="en-US" sz="3260" b="true">
                <a:solidFill>
                  <a:srgbClr val="000000"/>
                </a:solidFill>
                <a:latin typeface="Aileron Bold"/>
                <a:ea typeface="Aileron Bold"/>
                <a:cs typeface="Aileron Bold"/>
                <a:sym typeface="Aileron Bold"/>
              </a:rPr>
              <a:t>Research Challenges</a:t>
            </a:r>
          </a:p>
        </p:txBody>
      </p:sp>
      <p:sp>
        <p:nvSpPr>
          <p:cNvPr name="TextBox 22" id="22"/>
          <p:cNvSpPr txBox="true"/>
          <p:nvPr/>
        </p:nvSpPr>
        <p:spPr>
          <a:xfrm rot="0">
            <a:off x="10614377" y="2737347"/>
            <a:ext cx="3061856" cy="1126871"/>
          </a:xfrm>
          <a:prstGeom prst="rect">
            <a:avLst/>
          </a:prstGeom>
        </p:spPr>
        <p:txBody>
          <a:bodyPr anchor="t" rtlCol="false" tIns="0" lIns="0" bIns="0" rIns="0">
            <a:spAutoFit/>
          </a:bodyPr>
          <a:lstStyle/>
          <a:p>
            <a:pPr algn="ctr">
              <a:lnSpc>
                <a:spcPts val="4564"/>
              </a:lnSpc>
            </a:pPr>
            <a:r>
              <a:rPr lang="en-US" sz="3260" b="true">
                <a:solidFill>
                  <a:srgbClr val="000000"/>
                </a:solidFill>
                <a:latin typeface="Aileron Bold"/>
                <a:ea typeface="Aileron Bold"/>
                <a:cs typeface="Aileron Bold"/>
                <a:sym typeface="Aileron Bold"/>
              </a:rPr>
              <a:t>Research Objectives</a:t>
            </a:r>
          </a:p>
        </p:txBody>
      </p:sp>
      <p:sp>
        <p:nvSpPr>
          <p:cNvPr name="TextBox 23" id="23"/>
          <p:cNvSpPr txBox="true"/>
          <p:nvPr/>
        </p:nvSpPr>
        <p:spPr>
          <a:xfrm rot="0">
            <a:off x="10678457" y="4270502"/>
            <a:ext cx="3061856" cy="1608201"/>
          </a:xfrm>
          <a:prstGeom prst="rect">
            <a:avLst/>
          </a:prstGeom>
        </p:spPr>
        <p:txBody>
          <a:bodyPr anchor="t" rtlCol="false" tIns="0" lIns="0" bIns="0" rIns="0">
            <a:spAutoFit/>
          </a:bodyPr>
          <a:lstStyle/>
          <a:p>
            <a:pPr algn="ctr">
              <a:lnSpc>
                <a:spcPts val="4284"/>
              </a:lnSpc>
            </a:pPr>
            <a:r>
              <a:rPr lang="en-US" sz="3060" b="true">
                <a:solidFill>
                  <a:srgbClr val="000000"/>
                </a:solidFill>
                <a:latin typeface="Aileron Bold"/>
                <a:ea typeface="Aileron Bold"/>
                <a:cs typeface="Aileron Bold"/>
                <a:sym typeface="Aileron Bold"/>
              </a:rPr>
              <a:t>Proposed Architecture &amp; Methodology</a:t>
            </a:r>
          </a:p>
        </p:txBody>
      </p:sp>
      <p:sp>
        <p:nvSpPr>
          <p:cNvPr name="TextBox 24" id="24"/>
          <p:cNvSpPr txBox="true"/>
          <p:nvPr/>
        </p:nvSpPr>
        <p:spPr>
          <a:xfrm rot="0">
            <a:off x="10614377" y="6244536"/>
            <a:ext cx="3061856" cy="1126871"/>
          </a:xfrm>
          <a:prstGeom prst="rect">
            <a:avLst/>
          </a:prstGeom>
        </p:spPr>
        <p:txBody>
          <a:bodyPr anchor="t" rtlCol="false" tIns="0" lIns="0" bIns="0" rIns="0">
            <a:spAutoFit/>
          </a:bodyPr>
          <a:lstStyle/>
          <a:p>
            <a:pPr algn="ctr">
              <a:lnSpc>
                <a:spcPts val="4564"/>
              </a:lnSpc>
            </a:pPr>
            <a:r>
              <a:rPr lang="en-US" sz="3260" b="true">
                <a:solidFill>
                  <a:srgbClr val="000000"/>
                </a:solidFill>
                <a:latin typeface="Aileron Bold"/>
                <a:ea typeface="Aileron Bold"/>
                <a:cs typeface="Aileron Bold"/>
                <a:sym typeface="Aileron Bold"/>
              </a:rPr>
              <a:t>Results &amp; Discussion</a:t>
            </a:r>
          </a:p>
        </p:txBody>
      </p:sp>
      <p:sp>
        <p:nvSpPr>
          <p:cNvPr name="TextBox 25" id="25"/>
          <p:cNvSpPr txBox="true"/>
          <p:nvPr/>
        </p:nvSpPr>
        <p:spPr>
          <a:xfrm rot="0">
            <a:off x="10678457" y="8297844"/>
            <a:ext cx="3061856" cy="555371"/>
          </a:xfrm>
          <a:prstGeom prst="rect">
            <a:avLst/>
          </a:prstGeom>
        </p:spPr>
        <p:txBody>
          <a:bodyPr anchor="t" rtlCol="false" tIns="0" lIns="0" bIns="0" rIns="0">
            <a:spAutoFit/>
          </a:bodyPr>
          <a:lstStyle/>
          <a:p>
            <a:pPr algn="ctr">
              <a:lnSpc>
                <a:spcPts val="4564"/>
              </a:lnSpc>
            </a:pPr>
            <a:r>
              <a:rPr lang="en-US" sz="3260" b="true">
                <a:solidFill>
                  <a:srgbClr val="000000"/>
                </a:solidFill>
                <a:latin typeface="Aileron Bold"/>
                <a:ea typeface="Aileron Bold"/>
                <a:cs typeface="Aileron Bold"/>
                <a:sym typeface="Aileron Bold"/>
              </a:rPr>
              <a:t>Conclusion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10717673" y="793797"/>
            <a:ext cx="8638773" cy="5733004"/>
          </a:xfrm>
          <a:custGeom>
            <a:avLst/>
            <a:gdLst/>
            <a:ahLst/>
            <a:cxnLst/>
            <a:rect r="r" b="b" t="t" l="l"/>
            <a:pathLst>
              <a:path h="5733004" w="8638773">
                <a:moveTo>
                  <a:pt x="0" y="5733003"/>
                </a:moveTo>
                <a:lnTo>
                  <a:pt x="8638773" y="5733003"/>
                </a:lnTo>
                <a:lnTo>
                  <a:pt x="8638773" y="0"/>
                </a:lnTo>
                <a:lnTo>
                  <a:pt x="0" y="0"/>
                </a:lnTo>
                <a:lnTo>
                  <a:pt x="0" y="5733003"/>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168815" y="2927354"/>
            <a:ext cx="8182690" cy="5430330"/>
          </a:xfrm>
          <a:custGeom>
            <a:avLst/>
            <a:gdLst/>
            <a:ahLst/>
            <a:cxnLst/>
            <a:rect r="r" b="b" t="t" l="l"/>
            <a:pathLst>
              <a:path h="5430330" w="8182690">
                <a:moveTo>
                  <a:pt x="8182690" y="0"/>
                </a:moveTo>
                <a:lnTo>
                  <a:pt x="0" y="0"/>
                </a:lnTo>
                <a:lnTo>
                  <a:pt x="0" y="5430331"/>
                </a:lnTo>
                <a:lnTo>
                  <a:pt x="8182690" y="5430331"/>
                </a:lnTo>
                <a:lnTo>
                  <a:pt x="818269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169859" y="394684"/>
            <a:ext cx="5118141" cy="3396585"/>
          </a:xfrm>
          <a:custGeom>
            <a:avLst/>
            <a:gdLst/>
            <a:ahLst/>
            <a:cxnLst/>
            <a:rect r="r" b="b" t="t" l="l"/>
            <a:pathLst>
              <a:path h="3396585" w="5118141">
                <a:moveTo>
                  <a:pt x="0" y="0"/>
                </a:moveTo>
                <a:lnTo>
                  <a:pt x="5118141" y="0"/>
                </a:lnTo>
                <a:lnTo>
                  <a:pt x="5118141" y="3396585"/>
                </a:lnTo>
                <a:lnTo>
                  <a:pt x="0" y="33965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1168815" y="6526800"/>
            <a:ext cx="5118141" cy="3396585"/>
          </a:xfrm>
          <a:custGeom>
            <a:avLst/>
            <a:gdLst/>
            <a:ahLst/>
            <a:cxnLst/>
            <a:rect r="r" b="b" t="t" l="l"/>
            <a:pathLst>
              <a:path h="3396585" w="5118141">
                <a:moveTo>
                  <a:pt x="5118142" y="0"/>
                </a:moveTo>
                <a:lnTo>
                  <a:pt x="0" y="0"/>
                </a:lnTo>
                <a:lnTo>
                  <a:pt x="0" y="3396585"/>
                </a:lnTo>
                <a:lnTo>
                  <a:pt x="5118142" y="3396585"/>
                </a:lnTo>
                <a:lnTo>
                  <a:pt x="511814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05262" y="-488243"/>
            <a:ext cx="5281132" cy="3984854"/>
          </a:xfrm>
          <a:custGeom>
            <a:avLst/>
            <a:gdLst/>
            <a:ahLst/>
            <a:cxnLst/>
            <a:rect r="r" b="b" t="t" l="l"/>
            <a:pathLst>
              <a:path h="3984854" w="5281132">
                <a:moveTo>
                  <a:pt x="0" y="0"/>
                </a:moveTo>
                <a:lnTo>
                  <a:pt x="5281132" y="0"/>
                </a:lnTo>
                <a:lnTo>
                  <a:pt x="5281132" y="3984854"/>
                </a:lnTo>
                <a:lnTo>
                  <a:pt x="0" y="39848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true" rot="0">
            <a:off x="13409572" y="6838370"/>
            <a:ext cx="5171931" cy="3902457"/>
          </a:xfrm>
          <a:custGeom>
            <a:avLst/>
            <a:gdLst/>
            <a:ahLst/>
            <a:cxnLst/>
            <a:rect r="r" b="b" t="t" l="l"/>
            <a:pathLst>
              <a:path h="3902457" w="5171931">
                <a:moveTo>
                  <a:pt x="5171930" y="3902456"/>
                </a:moveTo>
                <a:lnTo>
                  <a:pt x="0" y="3902456"/>
                </a:lnTo>
                <a:lnTo>
                  <a:pt x="0" y="0"/>
                </a:lnTo>
                <a:lnTo>
                  <a:pt x="5171930" y="0"/>
                </a:lnTo>
                <a:lnTo>
                  <a:pt x="5171930" y="390245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4262283" y="1127595"/>
            <a:ext cx="6802066" cy="1310944"/>
          </a:xfrm>
          <a:custGeom>
            <a:avLst/>
            <a:gdLst/>
            <a:ahLst/>
            <a:cxnLst/>
            <a:rect r="r" b="b" t="t" l="l"/>
            <a:pathLst>
              <a:path h="1310944" w="6802066">
                <a:moveTo>
                  <a:pt x="0" y="0"/>
                </a:moveTo>
                <a:lnTo>
                  <a:pt x="6802066" y="0"/>
                </a:lnTo>
                <a:lnTo>
                  <a:pt x="6802066" y="1310944"/>
                </a:lnTo>
                <a:lnTo>
                  <a:pt x="0" y="13109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3162896" y="2718900"/>
            <a:ext cx="11874164" cy="7034664"/>
          </a:xfrm>
          <a:custGeom>
            <a:avLst/>
            <a:gdLst/>
            <a:ahLst/>
            <a:cxnLst/>
            <a:rect r="r" b="b" t="t" l="l"/>
            <a:pathLst>
              <a:path h="7034664" w="11874164">
                <a:moveTo>
                  <a:pt x="0" y="0"/>
                </a:moveTo>
                <a:lnTo>
                  <a:pt x="11874164" y="0"/>
                </a:lnTo>
                <a:lnTo>
                  <a:pt x="11874164" y="7034664"/>
                </a:lnTo>
                <a:lnTo>
                  <a:pt x="0" y="7034664"/>
                </a:lnTo>
                <a:lnTo>
                  <a:pt x="0" y="0"/>
                </a:lnTo>
                <a:close/>
              </a:path>
            </a:pathLst>
          </a:custGeom>
          <a:blipFill>
            <a:blip r:embed="rId8"/>
            <a:stretch>
              <a:fillRect l="0" t="-533" r="0" b="-533"/>
            </a:stretch>
          </a:blipFill>
        </p:spPr>
      </p:sp>
      <p:sp>
        <p:nvSpPr>
          <p:cNvPr name="TextBox 10" id="10"/>
          <p:cNvSpPr txBox="true"/>
          <p:nvPr/>
        </p:nvSpPr>
        <p:spPr>
          <a:xfrm rot="0">
            <a:off x="5633927" y="1423339"/>
            <a:ext cx="4914903" cy="712876"/>
          </a:xfrm>
          <a:prstGeom prst="rect">
            <a:avLst/>
          </a:prstGeom>
        </p:spPr>
        <p:txBody>
          <a:bodyPr anchor="t" rtlCol="false" tIns="0" lIns="0" bIns="0" rIns="0">
            <a:spAutoFit/>
          </a:bodyPr>
          <a:lstStyle/>
          <a:p>
            <a:pPr algn="l">
              <a:lnSpc>
                <a:spcPts val="5457"/>
              </a:lnSpc>
            </a:pPr>
            <a:r>
              <a:rPr lang="en-US" sz="5100" b="true">
                <a:solidFill>
                  <a:srgbClr val="FCFEFF"/>
                </a:solidFill>
                <a:latin typeface="Aileron Bold"/>
                <a:ea typeface="Aileron Bold"/>
                <a:cs typeface="Aileron Bold"/>
                <a:sym typeface="Aileron Bold"/>
              </a:rPr>
              <a:t>Guide Approval</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10717673" y="793797"/>
            <a:ext cx="8638773" cy="5733004"/>
          </a:xfrm>
          <a:custGeom>
            <a:avLst/>
            <a:gdLst/>
            <a:ahLst/>
            <a:cxnLst/>
            <a:rect r="r" b="b" t="t" l="l"/>
            <a:pathLst>
              <a:path h="5733004" w="8638773">
                <a:moveTo>
                  <a:pt x="0" y="5733003"/>
                </a:moveTo>
                <a:lnTo>
                  <a:pt x="8638773" y="5733003"/>
                </a:lnTo>
                <a:lnTo>
                  <a:pt x="8638773" y="0"/>
                </a:lnTo>
                <a:lnTo>
                  <a:pt x="0" y="0"/>
                </a:lnTo>
                <a:lnTo>
                  <a:pt x="0" y="5733003"/>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168815" y="2927354"/>
            <a:ext cx="8182690" cy="5430330"/>
          </a:xfrm>
          <a:custGeom>
            <a:avLst/>
            <a:gdLst/>
            <a:ahLst/>
            <a:cxnLst/>
            <a:rect r="r" b="b" t="t" l="l"/>
            <a:pathLst>
              <a:path h="5430330" w="8182690">
                <a:moveTo>
                  <a:pt x="8182690" y="0"/>
                </a:moveTo>
                <a:lnTo>
                  <a:pt x="0" y="0"/>
                </a:lnTo>
                <a:lnTo>
                  <a:pt x="0" y="5430331"/>
                </a:lnTo>
                <a:lnTo>
                  <a:pt x="8182690" y="5430331"/>
                </a:lnTo>
                <a:lnTo>
                  <a:pt x="818269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169859" y="394684"/>
            <a:ext cx="5118141" cy="3396585"/>
          </a:xfrm>
          <a:custGeom>
            <a:avLst/>
            <a:gdLst/>
            <a:ahLst/>
            <a:cxnLst/>
            <a:rect r="r" b="b" t="t" l="l"/>
            <a:pathLst>
              <a:path h="3396585" w="5118141">
                <a:moveTo>
                  <a:pt x="0" y="0"/>
                </a:moveTo>
                <a:lnTo>
                  <a:pt x="5118141" y="0"/>
                </a:lnTo>
                <a:lnTo>
                  <a:pt x="5118141" y="3396585"/>
                </a:lnTo>
                <a:lnTo>
                  <a:pt x="0" y="33965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1168815" y="6526800"/>
            <a:ext cx="5118141" cy="3396585"/>
          </a:xfrm>
          <a:custGeom>
            <a:avLst/>
            <a:gdLst/>
            <a:ahLst/>
            <a:cxnLst/>
            <a:rect r="r" b="b" t="t" l="l"/>
            <a:pathLst>
              <a:path h="3396585" w="5118141">
                <a:moveTo>
                  <a:pt x="5118142" y="0"/>
                </a:moveTo>
                <a:lnTo>
                  <a:pt x="0" y="0"/>
                </a:lnTo>
                <a:lnTo>
                  <a:pt x="0" y="3396585"/>
                </a:lnTo>
                <a:lnTo>
                  <a:pt x="5118142" y="3396585"/>
                </a:lnTo>
                <a:lnTo>
                  <a:pt x="511814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05262" y="-488243"/>
            <a:ext cx="5281132" cy="3984854"/>
          </a:xfrm>
          <a:custGeom>
            <a:avLst/>
            <a:gdLst/>
            <a:ahLst/>
            <a:cxnLst/>
            <a:rect r="r" b="b" t="t" l="l"/>
            <a:pathLst>
              <a:path h="3984854" w="5281132">
                <a:moveTo>
                  <a:pt x="0" y="0"/>
                </a:moveTo>
                <a:lnTo>
                  <a:pt x="5281132" y="0"/>
                </a:lnTo>
                <a:lnTo>
                  <a:pt x="5281132" y="3984854"/>
                </a:lnTo>
                <a:lnTo>
                  <a:pt x="0" y="39848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true" rot="0">
            <a:off x="13409572" y="6838370"/>
            <a:ext cx="5171931" cy="3902457"/>
          </a:xfrm>
          <a:custGeom>
            <a:avLst/>
            <a:gdLst/>
            <a:ahLst/>
            <a:cxnLst/>
            <a:rect r="r" b="b" t="t" l="l"/>
            <a:pathLst>
              <a:path h="3902457" w="5171931">
                <a:moveTo>
                  <a:pt x="5171930" y="3902456"/>
                </a:moveTo>
                <a:lnTo>
                  <a:pt x="0" y="3902456"/>
                </a:lnTo>
                <a:lnTo>
                  <a:pt x="0" y="0"/>
                </a:lnTo>
                <a:lnTo>
                  <a:pt x="5171930" y="0"/>
                </a:lnTo>
                <a:lnTo>
                  <a:pt x="5171930" y="390245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1028700" y="3468303"/>
            <a:ext cx="16230600" cy="4603509"/>
          </a:xfrm>
          <a:prstGeom prst="rect">
            <a:avLst/>
          </a:prstGeom>
        </p:spPr>
        <p:txBody>
          <a:bodyPr anchor="t" rtlCol="false" tIns="0" lIns="0" bIns="0" rIns="0">
            <a:spAutoFit/>
          </a:bodyPr>
          <a:lstStyle/>
          <a:p>
            <a:pPr algn="just">
              <a:lnSpc>
                <a:spcPts val="5286"/>
              </a:lnSpc>
            </a:pPr>
            <a:r>
              <a:rPr lang="en-US" sz="3432">
                <a:solidFill>
                  <a:srgbClr val="000000"/>
                </a:solidFill>
                <a:latin typeface="Montserrat"/>
                <a:ea typeface="Montserrat"/>
                <a:cs typeface="Montserrat"/>
                <a:sym typeface="Montserrat"/>
              </a:rPr>
              <a:t>StoryWeaver is an intelligent web platform that makes speech therapy for children aged 4–6 with mild-to-moderate language delays engaging through storytelling. It listens as children describe pictures, detects articulation, grammar, and vocabulary errors in real time, and generates personalized stories with those words. The system offers interactive practice, instant feedback, progress tracking, and independent use without constant supervision.</a:t>
            </a:r>
          </a:p>
        </p:txBody>
      </p:sp>
      <p:sp>
        <p:nvSpPr>
          <p:cNvPr name="Freeform 9" id="9"/>
          <p:cNvSpPr/>
          <p:nvPr/>
        </p:nvSpPr>
        <p:spPr>
          <a:xfrm flipH="false" flipV="false" rot="0">
            <a:off x="4262283" y="1127595"/>
            <a:ext cx="6802066" cy="1310944"/>
          </a:xfrm>
          <a:custGeom>
            <a:avLst/>
            <a:gdLst/>
            <a:ahLst/>
            <a:cxnLst/>
            <a:rect r="r" b="b" t="t" l="l"/>
            <a:pathLst>
              <a:path h="1310944" w="6802066">
                <a:moveTo>
                  <a:pt x="0" y="0"/>
                </a:moveTo>
                <a:lnTo>
                  <a:pt x="6802066" y="0"/>
                </a:lnTo>
                <a:lnTo>
                  <a:pt x="6802066" y="1310944"/>
                </a:lnTo>
                <a:lnTo>
                  <a:pt x="0" y="13109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5633927" y="1432864"/>
            <a:ext cx="4914903" cy="767080"/>
          </a:xfrm>
          <a:prstGeom prst="rect">
            <a:avLst/>
          </a:prstGeom>
        </p:spPr>
        <p:txBody>
          <a:bodyPr anchor="t" rtlCol="false" tIns="0" lIns="0" bIns="0" rIns="0">
            <a:spAutoFit/>
          </a:bodyPr>
          <a:lstStyle/>
          <a:p>
            <a:pPr algn="l">
              <a:lnSpc>
                <a:spcPts val="5885"/>
              </a:lnSpc>
            </a:pPr>
            <a:r>
              <a:rPr lang="en-US" sz="5500" b="true">
                <a:solidFill>
                  <a:srgbClr val="FCFEFF"/>
                </a:solidFill>
                <a:latin typeface="Aileron Bold"/>
                <a:ea typeface="Aileron Bold"/>
                <a:cs typeface="Aileron Bold"/>
                <a:sym typeface="Aileron Bold"/>
              </a:rPr>
              <a:t>Introduction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8885441" y="1542111"/>
            <a:ext cx="10042068" cy="6664282"/>
          </a:xfrm>
          <a:custGeom>
            <a:avLst/>
            <a:gdLst/>
            <a:ahLst/>
            <a:cxnLst/>
            <a:rect r="r" b="b" t="t" l="l"/>
            <a:pathLst>
              <a:path h="6664282" w="10042068">
                <a:moveTo>
                  <a:pt x="0" y="6664281"/>
                </a:moveTo>
                <a:lnTo>
                  <a:pt x="10042069" y="6664281"/>
                </a:lnTo>
                <a:lnTo>
                  <a:pt x="10042069" y="0"/>
                </a:lnTo>
                <a:lnTo>
                  <a:pt x="0" y="0"/>
                </a:lnTo>
                <a:lnTo>
                  <a:pt x="0" y="6664281"/>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898068" y="2179650"/>
            <a:ext cx="10042068" cy="6664282"/>
          </a:xfrm>
          <a:custGeom>
            <a:avLst/>
            <a:gdLst/>
            <a:ahLst/>
            <a:cxnLst/>
            <a:rect r="r" b="b" t="t" l="l"/>
            <a:pathLst>
              <a:path h="6664282" w="10042068">
                <a:moveTo>
                  <a:pt x="10042068" y="0"/>
                </a:moveTo>
                <a:lnTo>
                  <a:pt x="0" y="0"/>
                </a:lnTo>
                <a:lnTo>
                  <a:pt x="0" y="6664282"/>
                </a:lnTo>
                <a:lnTo>
                  <a:pt x="10042068" y="6664282"/>
                </a:lnTo>
                <a:lnTo>
                  <a:pt x="10042068"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11278" y="4982792"/>
            <a:ext cx="4216232" cy="2798045"/>
          </a:xfrm>
          <a:custGeom>
            <a:avLst/>
            <a:gdLst/>
            <a:ahLst/>
            <a:cxnLst/>
            <a:rect r="r" b="b" t="t" l="l"/>
            <a:pathLst>
              <a:path h="2798045" w="4216232">
                <a:moveTo>
                  <a:pt x="0" y="0"/>
                </a:moveTo>
                <a:lnTo>
                  <a:pt x="4216232" y="0"/>
                </a:lnTo>
                <a:lnTo>
                  <a:pt x="4216232" y="2798045"/>
                </a:lnTo>
                <a:lnTo>
                  <a:pt x="0" y="2798045"/>
                </a:lnTo>
                <a:lnTo>
                  <a:pt x="0" y="0"/>
                </a:lnTo>
                <a:close/>
              </a:path>
            </a:pathLst>
          </a:custGeom>
          <a:blipFill>
            <a:blip r:embed="rId2">
              <a:alphaModFix amt="42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1540716" y="2311677"/>
            <a:ext cx="5118141" cy="3396585"/>
          </a:xfrm>
          <a:custGeom>
            <a:avLst/>
            <a:gdLst/>
            <a:ahLst/>
            <a:cxnLst/>
            <a:rect r="r" b="b" t="t" l="l"/>
            <a:pathLst>
              <a:path h="3396585" w="5118141">
                <a:moveTo>
                  <a:pt x="5118141" y="0"/>
                </a:moveTo>
                <a:lnTo>
                  <a:pt x="0" y="0"/>
                </a:lnTo>
                <a:lnTo>
                  <a:pt x="0" y="3396584"/>
                </a:lnTo>
                <a:lnTo>
                  <a:pt x="5118141" y="3396584"/>
                </a:lnTo>
                <a:lnTo>
                  <a:pt x="5118141"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05789" y="-488243"/>
            <a:ext cx="5381659" cy="4060706"/>
          </a:xfrm>
          <a:custGeom>
            <a:avLst/>
            <a:gdLst/>
            <a:ahLst/>
            <a:cxnLst/>
            <a:rect r="r" b="b" t="t" l="l"/>
            <a:pathLst>
              <a:path h="4060706" w="5381659">
                <a:moveTo>
                  <a:pt x="0" y="0"/>
                </a:moveTo>
                <a:lnTo>
                  <a:pt x="5381659" y="0"/>
                </a:lnTo>
                <a:lnTo>
                  <a:pt x="5381659" y="4060707"/>
                </a:lnTo>
                <a:lnTo>
                  <a:pt x="0" y="4060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true" rot="0">
            <a:off x="13031403" y="6736988"/>
            <a:ext cx="5581585" cy="4211560"/>
          </a:xfrm>
          <a:custGeom>
            <a:avLst/>
            <a:gdLst/>
            <a:ahLst/>
            <a:cxnLst/>
            <a:rect r="r" b="b" t="t" l="l"/>
            <a:pathLst>
              <a:path h="4211560" w="5581585">
                <a:moveTo>
                  <a:pt x="5581585" y="4211560"/>
                </a:moveTo>
                <a:lnTo>
                  <a:pt x="0" y="4211560"/>
                </a:lnTo>
                <a:lnTo>
                  <a:pt x="0" y="0"/>
                </a:lnTo>
                <a:lnTo>
                  <a:pt x="5581585" y="0"/>
                </a:lnTo>
                <a:lnTo>
                  <a:pt x="5581585" y="42115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1008829" y="3218382"/>
            <a:ext cx="16230600" cy="6039918"/>
          </a:xfrm>
          <a:prstGeom prst="rect">
            <a:avLst/>
          </a:prstGeom>
        </p:spPr>
        <p:txBody>
          <a:bodyPr anchor="t" rtlCol="false" tIns="0" lIns="0" bIns="0" rIns="0">
            <a:spAutoFit/>
          </a:bodyPr>
          <a:lstStyle/>
          <a:p>
            <a:pPr algn="just" marL="752610" indent="-376305" lvl="1">
              <a:lnSpc>
                <a:spcPts val="5368"/>
              </a:lnSpc>
              <a:buFont typeface="Arial"/>
              <a:buChar char="•"/>
            </a:pPr>
            <a:r>
              <a:rPr lang="en-US" sz="3485">
                <a:solidFill>
                  <a:srgbClr val="000000"/>
                </a:solidFill>
                <a:latin typeface="Montserrat"/>
                <a:ea typeface="Montserrat"/>
                <a:cs typeface="Montserrat"/>
                <a:sym typeface="Montserrat"/>
              </a:rPr>
              <a:t>Millions of U.S. children face speech and language delays, with up to 10% of preschoolers struggling with articulation. </a:t>
            </a:r>
          </a:p>
          <a:p>
            <a:pPr algn="just" marL="752610" indent="-376305" lvl="1">
              <a:lnSpc>
                <a:spcPts val="5368"/>
              </a:lnSpc>
              <a:buFont typeface="Arial"/>
              <a:buChar char="•"/>
            </a:pPr>
            <a:r>
              <a:rPr lang="en-US" sz="3485">
                <a:solidFill>
                  <a:srgbClr val="000000"/>
                </a:solidFill>
                <a:latin typeface="Montserrat"/>
                <a:ea typeface="Montserrat"/>
                <a:cs typeface="Montserrat"/>
                <a:sym typeface="Montserrat"/>
              </a:rPr>
              <a:t>Ages 4–6 are the critical years for effective intervention, improving outcomes by up to 85%. However, access remains limited due to high costs, therapist shortages, rural gaps, long waitlists, and inadequate insurance coverage. </a:t>
            </a:r>
          </a:p>
          <a:p>
            <a:pPr algn="just" marL="752610" indent="-376305" lvl="1">
              <a:lnSpc>
                <a:spcPts val="5368"/>
              </a:lnSpc>
              <a:buFont typeface="Arial"/>
              <a:buChar char="•"/>
            </a:pPr>
            <a:r>
              <a:rPr lang="en-US" sz="3485">
                <a:solidFill>
                  <a:srgbClr val="000000"/>
                </a:solidFill>
                <a:latin typeface="Montserrat"/>
                <a:ea typeface="Montserrat"/>
                <a:cs typeface="Montserrat"/>
                <a:sym typeface="Montserrat"/>
              </a:rPr>
              <a:t>These barriers often lead to lasting academic, social, and emotional difficulties such as reading struggles, low self-esteem, and social withdrawal.</a:t>
            </a:r>
          </a:p>
        </p:txBody>
      </p:sp>
      <p:sp>
        <p:nvSpPr>
          <p:cNvPr name="Freeform 9" id="9"/>
          <p:cNvSpPr/>
          <p:nvPr/>
        </p:nvSpPr>
        <p:spPr>
          <a:xfrm flipH="false" flipV="false" rot="0">
            <a:off x="4262283" y="1127595"/>
            <a:ext cx="6802066" cy="1310944"/>
          </a:xfrm>
          <a:custGeom>
            <a:avLst/>
            <a:gdLst/>
            <a:ahLst/>
            <a:cxnLst/>
            <a:rect r="r" b="b" t="t" l="l"/>
            <a:pathLst>
              <a:path h="1310944" w="6802066">
                <a:moveTo>
                  <a:pt x="0" y="0"/>
                </a:moveTo>
                <a:lnTo>
                  <a:pt x="6802066" y="0"/>
                </a:lnTo>
                <a:lnTo>
                  <a:pt x="6802066" y="1310944"/>
                </a:lnTo>
                <a:lnTo>
                  <a:pt x="0" y="13109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5378962" y="1488744"/>
            <a:ext cx="5473629" cy="636248"/>
          </a:xfrm>
          <a:prstGeom prst="rect">
            <a:avLst/>
          </a:prstGeom>
        </p:spPr>
        <p:txBody>
          <a:bodyPr anchor="t" rtlCol="false" tIns="0" lIns="0" bIns="0" rIns="0">
            <a:spAutoFit/>
          </a:bodyPr>
          <a:lstStyle/>
          <a:p>
            <a:pPr algn="l">
              <a:lnSpc>
                <a:spcPts val="4815"/>
              </a:lnSpc>
            </a:pPr>
            <a:r>
              <a:rPr lang="en-US" sz="4500" b="true">
                <a:solidFill>
                  <a:srgbClr val="FCFEFF"/>
                </a:solidFill>
                <a:latin typeface="Aileron Bold"/>
                <a:ea typeface="Aileron Bold"/>
                <a:cs typeface="Aileron Bold"/>
                <a:sym typeface="Aileron Bold"/>
              </a:rPr>
              <a:t>Problem Statement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10717673" y="793797"/>
            <a:ext cx="8638773" cy="5733004"/>
          </a:xfrm>
          <a:custGeom>
            <a:avLst/>
            <a:gdLst/>
            <a:ahLst/>
            <a:cxnLst/>
            <a:rect r="r" b="b" t="t" l="l"/>
            <a:pathLst>
              <a:path h="5733004" w="8638773">
                <a:moveTo>
                  <a:pt x="0" y="5733003"/>
                </a:moveTo>
                <a:lnTo>
                  <a:pt x="8638773" y="5733003"/>
                </a:lnTo>
                <a:lnTo>
                  <a:pt x="8638773" y="0"/>
                </a:lnTo>
                <a:lnTo>
                  <a:pt x="0" y="0"/>
                </a:lnTo>
                <a:lnTo>
                  <a:pt x="0" y="5733003"/>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168815" y="2927354"/>
            <a:ext cx="8182690" cy="5430330"/>
          </a:xfrm>
          <a:custGeom>
            <a:avLst/>
            <a:gdLst/>
            <a:ahLst/>
            <a:cxnLst/>
            <a:rect r="r" b="b" t="t" l="l"/>
            <a:pathLst>
              <a:path h="5430330" w="8182690">
                <a:moveTo>
                  <a:pt x="8182690" y="0"/>
                </a:moveTo>
                <a:lnTo>
                  <a:pt x="0" y="0"/>
                </a:lnTo>
                <a:lnTo>
                  <a:pt x="0" y="5430331"/>
                </a:lnTo>
                <a:lnTo>
                  <a:pt x="8182690" y="5430331"/>
                </a:lnTo>
                <a:lnTo>
                  <a:pt x="818269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5262" y="-488243"/>
            <a:ext cx="5281132" cy="3984854"/>
          </a:xfrm>
          <a:custGeom>
            <a:avLst/>
            <a:gdLst/>
            <a:ahLst/>
            <a:cxnLst/>
            <a:rect r="r" b="b" t="t" l="l"/>
            <a:pathLst>
              <a:path h="3984854" w="5281132">
                <a:moveTo>
                  <a:pt x="0" y="0"/>
                </a:moveTo>
                <a:lnTo>
                  <a:pt x="5281132" y="0"/>
                </a:lnTo>
                <a:lnTo>
                  <a:pt x="5281132" y="3984854"/>
                </a:lnTo>
                <a:lnTo>
                  <a:pt x="0" y="39848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0">
            <a:off x="13409572" y="6838370"/>
            <a:ext cx="5171931" cy="3902457"/>
          </a:xfrm>
          <a:custGeom>
            <a:avLst/>
            <a:gdLst/>
            <a:ahLst/>
            <a:cxnLst/>
            <a:rect r="r" b="b" t="t" l="l"/>
            <a:pathLst>
              <a:path h="3902457" w="5171931">
                <a:moveTo>
                  <a:pt x="5171930" y="3902456"/>
                </a:moveTo>
                <a:lnTo>
                  <a:pt x="0" y="3902456"/>
                </a:lnTo>
                <a:lnTo>
                  <a:pt x="0" y="0"/>
                </a:lnTo>
                <a:lnTo>
                  <a:pt x="5171930" y="0"/>
                </a:lnTo>
                <a:lnTo>
                  <a:pt x="5171930" y="390245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4262283" y="1127595"/>
            <a:ext cx="6802066" cy="1310944"/>
          </a:xfrm>
          <a:custGeom>
            <a:avLst/>
            <a:gdLst/>
            <a:ahLst/>
            <a:cxnLst/>
            <a:rect r="r" b="b" t="t" l="l"/>
            <a:pathLst>
              <a:path h="1310944" w="6802066">
                <a:moveTo>
                  <a:pt x="0" y="0"/>
                </a:moveTo>
                <a:lnTo>
                  <a:pt x="6802066" y="0"/>
                </a:lnTo>
                <a:lnTo>
                  <a:pt x="6802066" y="1310944"/>
                </a:lnTo>
                <a:lnTo>
                  <a:pt x="0" y="13109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Object 7" id="7"/>
          <p:cNvGraphicFramePr/>
          <p:nvPr/>
        </p:nvGraphicFramePr>
        <p:xfrm>
          <a:off x="1028700" y="2927354"/>
          <a:ext cx="16016288" cy="3881485"/>
        </p:xfrm>
        <a:graphic>
          <a:graphicData uri="http://schemas.openxmlformats.org/presentationml/2006/ole">
            <p:oleObj imgW="19215100" imgH="70866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graphicFrame>
        <p:nvGraphicFramePr>
          <p:cNvPr name="Object 8" id="8"/>
          <p:cNvGraphicFramePr/>
          <p:nvPr/>
        </p:nvGraphicFramePr>
        <p:xfrm>
          <a:off x="1028700" y="2298704"/>
          <a:ext cx="14130338" cy="628650"/>
        </p:xfrm>
        <a:graphic>
          <a:graphicData uri="http://schemas.openxmlformats.org/presentationml/2006/ole">
            <p:oleObj imgW="16954500" imgH="3454400" r:id="rId11" progId="Excel.Sheet.12" name="Worksheet">
              <p:embed/>
              <p:pic>
                <p:nvPicPr>
                  <p:cNvPr name="" id="0"/>
                  <p:cNvPicPr/>
                  <p:nvPr/>
                </p:nvPicPr>
                <p:blipFill>
                  <a:blip r:embed="rId10"/>
                  <a:stretch>
                    <a:fillRect/>
                  </a:stretch>
                </p:blipFill>
                <p:spPr>
                  <a:xfrm>
                    <a:off x="1270000" y="1270000"/>
                    <a:ext cx="1270000" cy="1270000"/>
                  </a:xfrm>
                  <a:prstGeom prst="rect"/>
                </p:spPr>
              </p:pic>
            </p:oleObj>
          </a:graphicData>
        </a:graphic>
      </p:graphicFrame>
      <p:sp>
        <p:nvSpPr>
          <p:cNvPr name="TextBox 9" id="9"/>
          <p:cNvSpPr txBox="true"/>
          <p:nvPr/>
        </p:nvSpPr>
        <p:spPr>
          <a:xfrm rot="0">
            <a:off x="5439320" y="1483156"/>
            <a:ext cx="4914903" cy="647447"/>
          </a:xfrm>
          <a:prstGeom prst="rect">
            <a:avLst/>
          </a:prstGeom>
        </p:spPr>
        <p:txBody>
          <a:bodyPr anchor="t" rtlCol="false" tIns="0" lIns="0" bIns="0" rIns="0">
            <a:spAutoFit/>
          </a:bodyPr>
          <a:lstStyle/>
          <a:p>
            <a:pPr algn="l">
              <a:lnSpc>
                <a:spcPts val="4922"/>
              </a:lnSpc>
            </a:pPr>
            <a:r>
              <a:rPr lang="en-US" sz="4600" b="true">
                <a:solidFill>
                  <a:srgbClr val="FCFEFF"/>
                </a:solidFill>
                <a:latin typeface="Aileron Bold"/>
                <a:ea typeface="Aileron Bold"/>
                <a:cs typeface="Aileron Bold"/>
                <a:sym typeface="Aileron Bold"/>
              </a:rPr>
              <a:t>Literature Review</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10717673" y="793797"/>
            <a:ext cx="8638773" cy="5733004"/>
          </a:xfrm>
          <a:custGeom>
            <a:avLst/>
            <a:gdLst/>
            <a:ahLst/>
            <a:cxnLst/>
            <a:rect r="r" b="b" t="t" l="l"/>
            <a:pathLst>
              <a:path h="5733004" w="8638773">
                <a:moveTo>
                  <a:pt x="0" y="5733003"/>
                </a:moveTo>
                <a:lnTo>
                  <a:pt x="8638773" y="5733003"/>
                </a:lnTo>
                <a:lnTo>
                  <a:pt x="8638773" y="0"/>
                </a:lnTo>
                <a:lnTo>
                  <a:pt x="0" y="0"/>
                </a:lnTo>
                <a:lnTo>
                  <a:pt x="0" y="5733003"/>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168815" y="2927354"/>
            <a:ext cx="8182690" cy="5430330"/>
          </a:xfrm>
          <a:custGeom>
            <a:avLst/>
            <a:gdLst/>
            <a:ahLst/>
            <a:cxnLst/>
            <a:rect r="r" b="b" t="t" l="l"/>
            <a:pathLst>
              <a:path h="5430330" w="8182690">
                <a:moveTo>
                  <a:pt x="8182690" y="0"/>
                </a:moveTo>
                <a:lnTo>
                  <a:pt x="0" y="0"/>
                </a:lnTo>
                <a:lnTo>
                  <a:pt x="0" y="5430331"/>
                </a:lnTo>
                <a:lnTo>
                  <a:pt x="8182690" y="5430331"/>
                </a:lnTo>
                <a:lnTo>
                  <a:pt x="818269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5262" y="-488243"/>
            <a:ext cx="5281132" cy="3984854"/>
          </a:xfrm>
          <a:custGeom>
            <a:avLst/>
            <a:gdLst/>
            <a:ahLst/>
            <a:cxnLst/>
            <a:rect r="r" b="b" t="t" l="l"/>
            <a:pathLst>
              <a:path h="3984854" w="5281132">
                <a:moveTo>
                  <a:pt x="0" y="0"/>
                </a:moveTo>
                <a:lnTo>
                  <a:pt x="5281132" y="0"/>
                </a:lnTo>
                <a:lnTo>
                  <a:pt x="5281132" y="3984854"/>
                </a:lnTo>
                <a:lnTo>
                  <a:pt x="0" y="39848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0">
            <a:off x="13409572" y="6838370"/>
            <a:ext cx="5171931" cy="3902457"/>
          </a:xfrm>
          <a:custGeom>
            <a:avLst/>
            <a:gdLst/>
            <a:ahLst/>
            <a:cxnLst/>
            <a:rect r="r" b="b" t="t" l="l"/>
            <a:pathLst>
              <a:path h="3902457" w="5171931">
                <a:moveTo>
                  <a:pt x="5171930" y="3902456"/>
                </a:moveTo>
                <a:lnTo>
                  <a:pt x="0" y="3902456"/>
                </a:lnTo>
                <a:lnTo>
                  <a:pt x="0" y="0"/>
                </a:lnTo>
                <a:lnTo>
                  <a:pt x="5171930" y="0"/>
                </a:lnTo>
                <a:lnTo>
                  <a:pt x="5171930" y="390245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4262283" y="1127595"/>
            <a:ext cx="6802066" cy="1310944"/>
          </a:xfrm>
          <a:custGeom>
            <a:avLst/>
            <a:gdLst/>
            <a:ahLst/>
            <a:cxnLst/>
            <a:rect r="r" b="b" t="t" l="l"/>
            <a:pathLst>
              <a:path h="1310944" w="6802066">
                <a:moveTo>
                  <a:pt x="0" y="0"/>
                </a:moveTo>
                <a:lnTo>
                  <a:pt x="6802066" y="0"/>
                </a:lnTo>
                <a:lnTo>
                  <a:pt x="6802066" y="1310944"/>
                </a:lnTo>
                <a:lnTo>
                  <a:pt x="0" y="13109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Object 7" id="7"/>
          <p:cNvGraphicFramePr/>
          <p:nvPr/>
        </p:nvGraphicFramePr>
        <p:xfrm>
          <a:off x="1028700" y="2818707"/>
          <a:ext cx="14130338" cy="3143250"/>
        </p:xfrm>
        <a:graphic>
          <a:graphicData uri="http://schemas.openxmlformats.org/presentationml/2006/ole">
            <p:oleObj imgW="16954500" imgH="59690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sp>
        <p:nvSpPr>
          <p:cNvPr name="TextBox 8" id="8"/>
          <p:cNvSpPr txBox="true"/>
          <p:nvPr/>
        </p:nvSpPr>
        <p:spPr>
          <a:xfrm rot="0">
            <a:off x="5439320" y="1483156"/>
            <a:ext cx="4914903" cy="647447"/>
          </a:xfrm>
          <a:prstGeom prst="rect">
            <a:avLst/>
          </a:prstGeom>
        </p:spPr>
        <p:txBody>
          <a:bodyPr anchor="t" rtlCol="false" tIns="0" lIns="0" bIns="0" rIns="0">
            <a:spAutoFit/>
          </a:bodyPr>
          <a:lstStyle/>
          <a:p>
            <a:pPr algn="l">
              <a:lnSpc>
                <a:spcPts val="4922"/>
              </a:lnSpc>
            </a:pPr>
            <a:r>
              <a:rPr lang="en-US" sz="4600" b="true">
                <a:solidFill>
                  <a:srgbClr val="FCFEFF"/>
                </a:solidFill>
                <a:latin typeface="Aileron Bold"/>
                <a:ea typeface="Aileron Bold"/>
                <a:cs typeface="Aileron Bold"/>
                <a:sym typeface="Aileron Bold"/>
              </a:rPr>
              <a:t>Literature Review</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10717673" y="793797"/>
            <a:ext cx="8638773" cy="5733004"/>
          </a:xfrm>
          <a:custGeom>
            <a:avLst/>
            <a:gdLst/>
            <a:ahLst/>
            <a:cxnLst/>
            <a:rect r="r" b="b" t="t" l="l"/>
            <a:pathLst>
              <a:path h="5733004" w="8638773">
                <a:moveTo>
                  <a:pt x="0" y="5733003"/>
                </a:moveTo>
                <a:lnTo>
                  <a:pt x="8638773" y="5733003"/>
                </a:lnTo>
                <a:lnTo>
                  <a:pt x="8638773" y="0"/>
                </a:lnTo>
                <a:lnTo>
                  <a:pt x="0" y="0"/>
                </a:lnTo>
                <a:lnTo>
                  <a:pt x="0" y="5733003"/>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168815" y="2927354"/>
            <a:ext cx="8182690" cy="5430330"/>
          </a:xfrm>
          <a:custGeom>
            <a:avLst/>
            <a:gdLst/>
            <a:ahLst/>
            <a:cxnLst/>
            <a:rect r="r" b="b" t="t" l="l"/>
            <a:pathLst>
              <a:path h="5430330" w="8182690">
                <a:moveTo>
                  <a:pt x="8182690" y="0"/>
                </a:moveTo>
                <a:lnTo>
                  <a:pt x="0" y="0"/>
                </a:lnTo>
                <a:lnTo>
                  <a:pt x="0" y="5430331"/>
                </a:lnTo>
                <a:lnTo>
                  <a:pt x="8182690" y="5430331"/>
                </a:lnTo>
                <a:lnTo>
                  <a:pt x="818269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5262" y="-488243"/>
            <a:ext cx="5281132" cy="3984854"/>
          </a:xfrm>
          <a:custGeom>
            <a:avLst/>
            <a:gdLst/>
            <a:ahLst/>
            <a:cxnLst/>
            <a:rect r="r" b="b" t="t" l="l"/>
            <a:pathLst>
              <a:path h="3984854" w="5281132">
                <a:moveTo>
                  <a:pt x="0" y="0"/>
                </a:moveTo>
                <a:lnTo>
                  <a:pt x="5281132" y="0"/>
                </a:lnTo>
                <a:lnTo>
                  <a:pt x="5281132" y="3984854"/>
                </a:lnTo>
                <a:lnTo>
                  <a:pt x="0" y="39848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0">
            <a:off x="13409572" y="6838370"/>
            <a:ext cx="5171931" cy="3902457"/>
          </a:xfrm>
          <a:custGeom>
            <a:avLst/>
            <a:gdLst/>
            <a:ahLst/>
            <a:cxnLst/>
            <a:rect r="r" b="b" t="t" l="l"/>
            <a:pathLst>
              <a:path h="3902457" w="5171931">
                <a:moveTo>
                  <a:pt x="5171930" y="3902456"/>
                </a:moveTo>
                <a:lnTo>
                  <a:pt x="0" y="3902456"/>
                </a:lnTo>
                <a:lnTo>
                  <a:pt x="0" y="0"/>
                </a:lnTo>
                <a:lnTo>
                  <a:pt x="5171930" y="0"/>
                </a:lnTo>
                <a:lnTo>
                  <a:pt x="5171930" y="390245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4262283" y="1127595"/>
            <a:ext cx="6802066" cy="1310944"/>
          </a:xfrm>
          <a:custGeom>
            <a:avLst/>
            <a:gdLst/>
            <a:ahLst/>
            <a:cxnLst/>
            <a:rect r="r" b="b" t="t" l="l"/>
            <a:pathLst>
              <a:path h="1310944" w="6802066">
                <a:moveTo>
                  <a:pt x="0" y="0"/>
                </a:moveTo>
                <a:lnTo>
                  <a:pt x="6802066" y="0"/>
                </a:lnTo>
                <a:lnTo>
                  <a:pt x="6802066" y="1310944"/>
                </a:lnTo>
                <a:lnTo>
                  <a:pt x="0" y="13109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Object 7" id="7"/>
          <p:cNvGraphicFramePr/>
          <p:nvPr/>
        </p:nvGraphicFramePr>
        <p:xfrm>
          <a:off x="1028700" y="2641747"/>
          <a:ext cx="14130338" cy="3143250"/>
        </p:xfrm>
        <a:graphic>
          <a:graphicData uri="http://schemas.openxmlformats.org/presentationml/2006/ole">
            <p:oleObj imgW="16954500" imgH="59690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sp>
        <p:nvSpPr>
          <p:cNvPr name="TextBox 8" id="8"/>
          <p:cNvSpPr txBox="true"/>
          <p:nvPr/>
        </p:nvSpPr>
        <p:spPr>
          <a:xfrm rot="0">
            <a:off x="5439320" y="1483156"/>
            <a:ext cx="4914903" cy="647447"/>
          </a:xfrm>
          <a:prstGeom prst="rect">
            <a:avLst/>
          </a:prstGeom>
        </p:spPr>
        <p:txBody>
          <a:bodyPr anchor="t" rtlCol="false" tIns="0" lIns="0" bIns="0" rIns="0">
            <a:spAutoFit/>
          </a:bodyPr>
          <a:lstStyle/>
          <a:p>
            <a:pPr algn="l">
              <a:lnSpc>
                <a:spcPts val="4922"/>
              </a:lnSpc>
            </a:pPr>
            <a:r>
              <a:rPr lang="en-US" sz="4600" b="true">
                <a:solidFill>
                  <a:srgbClr val="FCFEFF"/>
                </a:solidFill>
                <a:latin typeface="Aileron Bold"/>
                <a:ea typeface="Aileron Bold"/>
                <a:cs typeface="Aileron Bold"/>
                <a:sym typeface="Aileron Bold"/>
              </a:rPr>
              <a:t>Literature Review</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10717673" y="793797"/>
            <a:ext cx="8638773" cy="5733004"/>
          </a:xfrm>
          <a:custGeom>
            <a:avLst/>
            <a:gdLst/>
            <a:ahLst/>
            <a:cxnLst/>
            <a:rect r="r" b="b" t="t" l="l"/>
            <a:pathLst>
              <a:path h="5733004" w="8638773">
                <a:moveTo>
                  <a:pt x="0" y="5733003"/>
                </a:moveTo>
                <a:lnTo>
                  <a:pt x="8638773" y="5733003"/>
                </a:lnTo>
                <a:lnTo>
                  <a:pt x="8638773" y="0"/>
                </a:lnTo>
                <a:lnTo>
                  <a:pt x="0" y="0"/>
                </a:lnTo>
                <a:lnTo>
                  <a:pt x="0" y="5733003"/>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168815" y="2927354"/>
            <a:ext cx="8182690" cy="5430330"/>
          </a:xfrm>
          <a:custGeom>
            <a:avLst/>
            <a:gdLst/>
            <a:ahLst/>
            <a:cxnLst/>
            <a:rect r="r" b="b" t="t" l="l"/>
            <a:pathLst>
              <a:path h="5430330" w="8182690">
                <a:moveTo>
                  <a:pt x="8182690" y="0"/>
                </a:moveTo>
                <a:lnTo>
                  <a:pt x="0" y="0"/>
                </a:lnTo>
                <a:lnTo>
                  <a:pt x="0" y="5430331"/>
                </a:lnTo>
                <a:lnTo>
                  <a:pt x="8182690" y="5430331"/>
                </a:lnTo>
                <a:lnTo>
                  <a:pt x="818269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5262" y="-488243"/>
            <a:ext cx="5281132" cy="3984854"/>
          </a:xfrm>
          <a:custGeom>
            <a:avLst/>
            <a:gdLst/>
            <a:ahLst/>
            <a:cxnLst/>
            <a:rect r="r" b="b" t="t" l="l"/>
            <a:pathLst>
              <a:path h="3984854" w="5281132">
                <a:moveTo>
                  <a:pt x="0" y="0"/>
                </a:moveTo>
                <a:lnTo>
                  <a:pt x="5281132" y="0"/>
                </a:lnTo>
                <a:lnTo>
                  <a:pt x="5281132" y="3984854"/>
                </a:lnTo>
                <a:lnTo>
                  <a:pt x="0" y="39848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0">
            <a:off x="13409572" y="6838370"/>
            <a:ext cx="5171931" cy="3902457"/>
          </a:xfrm>
          <a:custGeom>
            <a:avLst/>
            <a:gdLst/>
            <a:ahLst/>
            <a:cxnLst/>
            <a:rect r="r" b="b" t="t" l="l"/>
            <a:pathLst>
              <a:path h="3902457" w="5171931">
                <a:moveTo>
                  <a:pt x="5171930" y="3902456"/>
                </a:moveTo>
                <a:lnTo>
                  <a:pt x="0" y="3902456"/>
                </a:lnTo>
                <a:lnTo>
                  <a:pt x="0" y="0"/>
                </a:lnTo>
                <a:lnTo>
                  <a:pt x="5171930" y="0"/>
                </a:lnTo>
                <a:lnTo>
                  <a:pt x="5171930" y="390245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4262283" y="1127595"/>
            <a:ext cx="6802066" cy="1310944"/>
          </a:xfrm>
          <a:custGeom>
            <a:avLst/>
            <a:gdLst/>
            <a:ahLst/>
            <a:cxnLst/>
            <a:rect r="r" b="b" t="t" l="l"/>
            <a:pathLst>
              <a:path h="1310944" w="6802066">
                <a:moveTo>
                  <a:pt x="0" y="0"/>
                </a:moveTo>
                <a:lnTo>
                  <a:pt x="6802066" y="0"/>
                </a:lnTo>
                <a:lnTo>
                  <a:pt x="6802066" y="1310944"/>
                </a:lnTo>
                <a:lnTo>
                  <a:pt x="0" y="13109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Object 7" id="7"/>
          <p:cNvGraphicFramePr/>
          <p:nvPr/>
        </p:nvGraphicFramePr>
        <p:xfrm>
          <a:off x="1028700" y="2729852"/>
          <a:ext cx="14130338" cy="3143250"/>
        </p:xfrm>
        <a:graphic>
          <a:graphicData uri="http://schemas.openxmlformats.org/presentationml/2006/ole">
            <p:oleObj imgW="16954500" imgH="59690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sp>
        <p:nvSpPr>
          <p:cNvPr name="TextBox 8" id="8"/>
          <p:cNvSpPr txBox="true"/>
          <p:nvPr/>
        </p:nvSpPr>
        <p:spPr>
          <a:xfrm rot="0">
            <a:off x="5439320" y="1483156"/>
            <a:ext cx="4914903" cy="647447"/>
          </a:xfrm>
          <a:prstGeom prst="rect">
            <a:avLst/>
          </a:prstGeom>
        </p:spPr>
        <p:txBody>
          <a:bodyPr anchor="t" rtlCol="false" tIns="0" lIns="0" bIns="0" rIns="0">
            <a:spAutoFit/>
          </a:bodyPr>
          <a:lstStyle/>
          <a:p>
            <a:pPr algn="l">
              <a:lnSpc>
                <a:spcPts val="4922"/>
              </a:lnSpc>
            </a:pPr>
            <a:r>
              <a:rPr lang="en-US" sz="4600" b="true">
                <a:solidFill>
                  <a:srgbClr val="FCFEFF"/>
                </a:solidFill>
                <a:latin typeface="Aileron Bold"/>
                <a:ea typeface="Aileron Bold"/>
                <a:cs typeface="Aileron Bold"/>
                <a:sym typeface="Aileron Bold"/>
              </a:rPr>
              <a:t>Literature Review</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10717673" y="793797"/>
            <a:ext cx="8638773" cy="5733004"/>
          </a:xfrm>
          <a:custGeom>
            <a:avLst/>
            <a:gdLst/>
            <a:ahLst/>
            <a:cxnLst/>
            <a:rect r="r" b="b" t="t" l="l"/>
            <a:pathLst>
              <a:path h="5733004" w="8638773">
                <a:moveTo>
                  <a:pt x="0" y="5733003"/>
                </a:moveTo>
                <a:lnTo>
                  <a:pt x="8638773" y="5733003"/>
                </a:lnTo>
                <a:lnTo>
                  <a:pt x="8638773" y="0"/>
                </a:lnTo>
                <a:lnTo>
                  <a:pt x="0" y="0"/>
                </a:lnTo>
                <a:lnTo>
                  <a:pt x="0" y="5733003"/>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168815" y="2927354"/>
            <a:ext cx="8182690" cy="5430330"/>
          </a:xfrm>
          <a:custGeom>
            <a:avLst/>
            <a:gdLst/>
            <a:ahLst/>
            <a:cxnLst/>
            <a:rect r="r" b="b" t="t" l="l"/>
            <a:pathLst>
              <a:path h="5430330" w="8182690">
                <a:moveTo>
                  <a:pt x="8182690" y="0"/>
                </a:moveTo>
                <a:lnTo>
                  <a:pt x="0" y="0"/>
                </a:lnTo>
                <a:lnTo>
                  <a:pt x="0" y="5430331"/>
                </a:lnTo>
                <a:lnTo>
                  <a:pt x="8182690" y="5430331"/>
                </a:lnTo>
                <a:lnTo>
                  <a:pt x="818269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5262" y="-488243"/>
            <a:ext cx="5281132" cy="3984854"/>
          </a:xfrm>
          <a:custGeom>
            <a:avLst/>
            <a:gdLst/>
            <a:ahLst/>
            <a:cxnLst/>
            <a:rect r="r" b="b" t="t" l="l"/>
            <a:pathLst>
              <a:path h="3984854" w="5281132">
                <a:moveTo>
                  <a:pt x="0" y="0"/>
                </a:moveTo>
                <a:lnTo>
                  <a:pt x="5281132" y="0"/>
                </a:lnTo>
                <a:lnTo>
                  <a:pt x="5281132" y="3984854"/>
                </a:lnTo>
                <a:lnTo>
                  <a:pt x="0" y="39848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0">
            <a:off x="13409572" y="6838370"/>
            <a:ext cx="5171931" cy="3902457"/>
          </a:xfrm>
          <a:custGeom>
            <a:avLst/>
            <a:gdLst/>
            <a:ahLst/>
            <a:cxnLst/>
            <a:rect r="r" b="b" t="t" l="l"/>
            <a:pathLst>
              <a:path h="3902457" w="5171931">
                <a:moveTo>
                  <a:pt x="5171930" y="3902456"/>
                </a:moveTo>
                <a:lnTo>
                  <a:pt x="0" y="3902456"/>
                </a:lnTo>
                <a:lnTo>
                  <a:pt x="0" y="0"/>
                </a:lnTo>
                <a:lnTo>
                  <a:pt x="5171930" y="0"/>
                </a:lnTo>
                <a:lnTo>
                  <a:pt x="5171930" y="390245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4262283" y="1127595"/>
            <a:ext cx="6802066" cy="1310944"/>
          </a:xfrm>
          <a:custGeom>
            <a:avLst/>
            <a:gdLst/>
            <a:ahLst/>
            <a:cxnLst/>
            <a:rect r="r" b="b" t="t" l="l"/>
            <a:pathLst>
              <a:path h="1310944" w="6802066">
                <a:moveTo>
                  <a:pt x="0" y="0"/>
                </a:moveTo>
                <a:lnTo>
                  <a:pt x="6802066" y="0"/>
                </a:lnTo>
                <a:lnTo>
                  <a:pt x="6802066" y="1310944"/>
                </a:lnTo>
                <a:lnTo>
                  <a:pt x="0" y="13109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Object 7" id="7"/>
          <p:cNvGraphicFramePr/>
          <p:nvPr/>
        </p:nvGraphicFramePr>
        <p:xfrm>
          <a:off x="1028700" y="2569135"/>
          <a:ext cx="14130338" cy="3143250"/>
        </p:xfrm>
        <a:graphic>
          <a:graphicData uri="http://schemas.openxmlformats.org/presentationml/2006/ole">
            <p:oleObj imgW="16954500" imgH="59690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sp>
        <p:nvSpPr>
          <p:cNvPr name="TextBox 8" id="8"/>
          <p:cNvSpPr txBox="true"/>
          <p:nvPr/>
        </p:nvSpPr>
        <p:spPr>
          <a:xfrm rot="0">
            <a:off x="5439320" y="1483156"/>
            <a:ext cx="4914903" cy="647447"/>
          </a:xfrm>
          <a:prstGeom prst="rect">
            <a:avLst/>
          </a:prstGeom>
        </p:spPr>
        <p:txBody>
          <a:bodyPr anchor="t" rtlCol="false" tIns="0" lIns="0" bIns="0" rIns="0">
            <a:spAutoFit/>
          </a:bodyPr>
          <a:lstStyle/>
          <a:p>
            <a:pPr algn="l">
              <a:lnSpc>
                <a:spcPts val="4922"/>
              </a:lnSpc>
            </a:pPr>
            <a:r>
              <a:rPr lang="en-US" sz="4600" b="true">
                <a:solidFill>
                  <a:srgbClr val="FCFEFF"/>
                </a:solidFill>
                <a:latin typeface="Aileron Bold"/>
                <a:ea typeface="Aileron Bold"/>
                <a:cs typeface="Aileron Bold"/>
                <a:sym typeface="Aileron Bold"/>
              </a:rPr>
              <a:t>Literature Review</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10717673" y="793797"/>
            <a:ext cx="8638773" cy="5733004"/>
          </a:xfrm>
          <a:custGeom>
            <a:avLst/>
            <a:gdLst/>
            <a:ahLst/>
            <a:cxnLst/>
            <a:rect r="r" b="b" t="t" l="l"/>
            <a:pathLst>
              <a:path h="5733004" w="8638773">
                <a:moveTo>
                  <a:pt x="0" y="5733003"/>
                </a:moveTo>
                <a:lnTo>
                  <a:pt x="8638773" y="5733003"/>
                </a:lnTo>
                <a:lnTo>
                  <a:pt x="8638773" y="0"/>
                </a:lnTo>
                <a:lnTo>
                  <a:pt x="0" y="0"/>
                </a:lnTo>
                <a:lnTo>
                  <a:pt x="0" y="5733003"/>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168815" y="2927354"/>
            <a:ext cx="8182690" cy="5430330"/>
          </a:xfrm>
          <a:custGeom>
            <a:avLst/>
            <a:gdLst/>
            <a:ahLst/>
            <a:cxnLst/>
            <a:rect r="r" b="b" t="t" l="l"/>
            <a:pathLst>
              <a:path h="5430330" w="8182690">
                <a:moveTo>
                  <a:pt x="8182690" y="0"/>
                </a:moveTo>
                <a:lnTo>
                  <a:pt x="0" y="0"/>
                </a:lnTo>
                <a:lnTo>
                  <a:pt x="0" y="5430331"/>
                </a:lnTo>
                <a:lnTo>
                  <a:pt x="8182690" y="5430331"/>
                </a:lnTo>
                <a:lnTo>
                  <a:pt x="818269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5262" y="-488243"/>
            <a:ext cx="5281132" cy="3984854"/>
          </a:xfrm>
          <a:custGeom>
            <a:avLst/>
            <a:gdLst/>
            <a:ahLst/>
            <a:cxnLst/>
            <a:rect r="r" b="b" t="t" l="l"/>
            <a:pathLst>
              <a:path h="3984854" w="5281132">
                <a:moveTo>
                  <a:pt x="0" y="0"/>
                </a:moveTo>
                <a:lnTo>
                  <a:pt x="5281132" y="0"/>
                </a:lnTo>
                <a:lnTo>
                  <a:pt x="5281132" y="3984854"/>
                </a:lnTo>
                <a:lnTo>
                  <a:pt x="0" y="39848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0">
            <a:off x="13409572" y="6838370"/>
            <a:ext cx="5171931" cy="3902457"/>
          </a:xfrm>
          <a:custGeom>
            <a:avLst/>
            <a:gdLst/>
            <a:ahLst/>
            <a:cxnLst/>
            <a:rect r="r" b="b" t="t" l="l"/>
            <a:pathLst>
              <a:path h="3902457" w="5171931">
                <a:moveTo>
                  <a:pt x="5171930" y="3902456"/>
                </a:moveTo>
                <a:lnTo>
                  <a:pt x="0" y="3902456"/>
                </a:lnTo>
                <a:lnTo>
                  <a:pt x="0" y="0"/>
                </a:lnTo>
                <a:lnTo>
                  <a:pt x="5171930" y="0"/>
                </a:lnTo>
                <a:lnTo>
                  <a:pt x="5171930" y="390245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4262283" y="1127595"/>
            <a:ext cx="6802066" cy="1310944"/>
          </a:xfrm>
          <a:custGeom>
            <a:avLst/>
            <a:gdLst/>
            <a:ahLst/>
            <a:cxnLst/>
            <a:rect r="r" b="b" t="t" l="l"/>
            <a:pathLst>
              <a:path h="1310944" w="6802066">
                <a:moveTo>
                  <a:pt x="0" y="0"/>
                </a:moveTo>
                <a:lnTo>
                  <a:pt x="6802066" y="0"/>
                </a:lnTo>
                <a:lnTo>
                  <a:pt x="6802066" y="1310944"/>
                </a:lnTo>
                <a:lnTo>
                  <a:pt x="0" y="13109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Object 7" id="7"/>
          <p:cNvGraphicFramePr/>
          <p:nvPr/>
        </p:nvGraphicFramePr>
        <p:xfrm>
          <a:off x="1028700" y="3031648"/>
          <a:ext cx="14130338" cy="628650"/>
        </p:xfrm>
        <a:graphic>
          <a:graphicData uri="http://schemas.openxmlformats.org/presentationml/2006/ole">
            <p:oleObj imgW="16954500" imgH="34544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sp>
        <p:nvSpPr>
          <p:cNvPr name="TextBox 8" id="8"/>
          <p:cNvSpPr txBox="true"/>
          <p:nvPr/>
        </p:nvSpPr>
        <p:spPr>
          <a:xfrm rot="0">
            <a:off x="5439320" y="1483156"/>
            <a:ext cx="4914903" cy="647447"/>
          </a:xfrm>
          <a:prstGeom prst="rect">
            <a:avLst/>
          </a:prstGeom>
        </p:spPr>
        <p:txBody>
          <a:bodyPr anchor="t" rtlCol="false" tIns="0" lIns="0" bIns="0" rIns="0">
            <a:spAutoFit/>
          </a:bodyPr>
          <a:lstStyle/>
          <a:p>
            <a:pPr algn="l">
              <a:lnSpc>
                <a:spcPts val="4922"/>
              </a:lnSpc>
            </a:pPr>
            <a:r>
              <a:rPr lang="en-US" sz="4600" b="true">
                <a:solidFill>
                  <a:srgbClr val="FCFEFF"/>
                </a:solidFill>
                <a:latin typeface="Aileron Bold"/>
                <a:ea typeface="Aileron Bold"/>
                <a:cs typeface="Aileron Bold"/>
                <a:sym typeface="Aileron Bold"/>
              </a:rPr>
              <a:t>Literature Review</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2781424"/>
            <a:ext cx="16230600" cy="583614"/>
          </a:xfrm>
          <a:prstGeom prst="rect">
            <a:avLst/>
          </a:prstGeom>
        </p:spPr>
        <p:txBody>
          <a:bodyPr anchor="t" rtlCol="false" tIns="0" lIns="0" bIns="0" rIns="0">
            <a:spAutoFit/>
          </a:bodyPr>
          <a:lstStyle/>
          <a:p>
            <a:pPr algn="l">
              <a:lnSpc>
                <a:spcPts val="4494"/>
              </a:lnSpc>
              <a:spcBef>
                <a:spcPct val="0"/>
              </a:spcBef>
            </a:pPr>
            <a:r>
              <a:rPr lang="en-US" b="true" sz="4200">
                <a:solidFill>
                  <a:srgbClr val="000000"/>
                </a:solidFill>
                <a:latin typeface="Aileron Bold"/>
                <a:ea typeface="Aileron Bold"/>
                <a:cs typeface="Aileron Bold"/>
                <a:sym typeface="Aileron Bold"/>
              </a:rPr>
              <a:t>Recent Research in Speech Intervention Systems (2020-2025)</a:t>
            </a:r>
          </a:p>
        </p:txBody>
      </p:sp>
      <p:sp>
        <p:nvSpPr>
          <p:cNvPr name="Freeform 3" id="3"/>
          <p:cNvSpPr/>
          <p:nvPr/>
        </p:nvSpPr>
        <p:spPr>
          <a:xfrm flipH="false" flipV="true" rot="0">
            <a:off x="10717673" y="793797"/>
            <a:ext cx="8638773" cy="5733004"/>
          </a:xfrm>
          <a:custGeom>
            <a:avLst/>
            <a:gdLst/>
            <a:ahLst/>
            <a:cxnLst/>
            <a:rect r="r" b="b" t="t" l="l"/>
            <a:pathLst>
              <a:path h="5733004" w="8638773">
                <a:moveTo>
                  <a:pt x="0" y="5733003"/>
                </a:moveTo>
                <a:lnTo>
                  <a:pt x="8638773" y="5733003"/>
                </a:lnTo>
                <a:lnTo>
                  <a:pt x="8638773" y="0"/>
                </a:lnTo>
                <a:lnTo>
                  <a:pt x="0" y="0"/>
                </a:lnTo>
                <a:lnTo>
                  <a:pt x="0" y="5733003"/>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168815" y="2927354"/>
            <a:ext cx="8182690" cy="5430330"/>
          </a:xfrm>
          <a:custGeom>
            <a:avLst/>
            <a:gdLst/>
            <a:ahLst/>
            <a:cxnLst/>
            <a:rect r="r" b="b" t="t" l="l"/>
            <a:pathLst>
              <a:path h="5430330" w="8182690">
                <a:moveTo>
                  <a:pt x="8182690" y="0"/>
                </a:moveTo>
                <a:lnTo>
                  <a:pt x="0" y="0"/>
                </a:lnTo>
                <a:lnTo>
                  <a:pt x="0" y="5430331"/>
                </a:lnTo>
                <a:lnTo>
                  <a:pt x="8182690" y="5430331"/>
                </a:lnTo>
                <a:lnTo>
                  <a:pt x="818269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05262" y="-488243"/>
            <a:ext cx="5281132" cy="3984854"/>
          </a:xfrm>
          <a:custGeom>
            <a:avLst/>
            <a:gdLst/>
            <a:ahLst/>
            <a:cxnLst/>
            <a:rect r="r" b="b" t="t" l="l"/>
            <a:pathLst>
              <a:path h="3984854" w="5281132">
                <a:moveTo>
                  <a:pt x="0" y="0"/>
                </a:moveTo>
                <a:lnTo>
                  <a:pt x="5281132" y="0"/>
                </a:lnTo>
                <a:lnTo>
                  <a:pt x="5281132" y="3984854"/>
                </a:lnTo>
                <a:lnTo>
                  <a:pt x="0" y="39848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3409572" y="6838370"/>
            <a:ext cx="5171931" cy="3902457"/>
          </a:xfrm>
          <a:custGeom>
            <a:avLst/>
            <a:gdLst/>
            <a:ahLst/>
            <a:cxnLst/>
            <a:rect r="r" b="b" t="t" l="l"/>
            <a:pathLst>
              <a:path h="3902457" w="5171931">
                <a:moveTo>
                  <a:pt x="5171930" y="3902456"/>
                </a:moveTo>
                <a:lnTo>
                  <a:pt x="0" y="3902456"/>
                </a:lnTo>
                <a:lnTo>
                  <a:pt x="0" y="0"/>
                </a:lnTo>
                <a:lnTo>
                  <a:pt x="5171930" y="0"/>
                </a:lnTo>
                <a:lnTo>
                  <a:pt x="5171930" y="390245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28700" y="8516680"/>
            <a:ext cx="16230600" cy="741620"/>
          </a:xfrm>
          <a:prstGeom prst="rect">
            <a:avLst/>
          </a:prstGeom>
        </p:spPr>
        <p:txBody>
          <a:bodyPr anchor="t" rtlCol="false" tIns="0" lIns="0" bIns="0" rIns="0">
            <a:spAutoFit/>
          </a:bodyPr>
          <a:lstStyle/>
          <a:p>
            <a:pPr algn="l">
              <a:lnSpc>
                <a:spcPts val="2995"/>
              </a:lnSpc>
              <a:spcBef>
                <a:spcPct val="0"/>
              </a:spcBef>
            </a:pPr>
            <a:r>
              <a:rPr lang="en-US" sz="2799">
                <a:solidFill>
                  <a:srgbClr val="000000"/>
                </a:solidFill>
                <a:latin typeface="Montserrat"/>
                <a:ea typeface="Montserrat"/>
                <a:cs typeface="Montserrat"/>
                <a:sym typeface="Montserrat"/>
              </a:rPr>
              <a:t>Research Gap Identified: No system combines real-time error detection + contextual story generation + independent use.</a:t>
            </a:r>
          </a:p>
        </p:txBody>
      </p:sp>
      <p:sp>
        <p:nvSpPr>
          <p:cNvPr name="Freeform 8" id="8"/>
          <p:cNvSpPr/>
          <p:nvPr/>
        </p:nvSpPr>
        <p:spPr>
          <a:xfrm flipH="false" flipV="false" rot="0">
            <a:off x="4262283" y="1127595"/>
            <a:ext cx="6802066" cy="1310944"/>
          </a:xfrm>
          <a:custGeom>
            <a:avLst/>
            <a:gdLst/>
            <a:ahLst/>
            <a:cxnLst/>
            <a:rect r="r" b="b" t="t" l="l"/>
            <a:pathLst>
              <a:path h="1310944" w="6802066">
                <a:moveTo>
                  <a:pt x="0" y="0"/>
                </a:moveTo>
                <a:lnTo>
                  <a:pt x="6802066" y="0"/>
                </a:lnTo>
                <a:lnTo>
                  <a:pt x="6802066" y="1310944"/>
                </a:lnTo>
                <a:lnTo>
                  <a:pt x="0" y="13109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Object 9" id="9"/>
          <p:cNvGraphicFramePr/>
          <p:nvPr/>
        </p:nvGraphicFramePr>
        <p:xfrm>
          <a:off x="1028700" y="3660298"/>
          <a:ext cx="7543800" cy="3771900"/>
        </p:xfrm>
        <a:graphic>
          <a:graphicData uri="http://schemas.openxmlformats.org/presentationml/2006/ole">
            <p:oleObj imgW="9042400" imgH="52705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sp>
        <p:nvSpPr>
          <p:cNvPr name="TextBox 10" id="10"/>
          <p:cNvSpPr txBox="true"/>
          <p:nvPr/>
        </p:nvSpPr>
        <p:spPr>
          <a:xfrm rot="0">
            <a:off x="5439320" y="1483156"/>
            <a:ext cx="4914903" cy="647447"/>
          </a:xfrm>
          <a:prstGeom prst="rect">
            <a:avLst/>
          </a:prstGeom>
        </p:spPr>
        <p:txBody>
          <a:bodyPr anchor="t" rtlCol="false" tIns="0" lIns="0" bIns="0" rIns="0">
            <a:spAutoFit/>
          </a:bodyPr>
          <a:lstStyle/>
          <a:p>
            <a:pPr algn="l">
              <a:lnSpc>
                <a:spcPts val="4922"/>
              </a:lnSpc>
            </a:pPr>
            <a:r>
              <a:rPr lang="en-US" sz="4600" b="true">
                <a:solidFill>
                  <a:srgbClr val="FCFEFF"/>
                </a:solidFill>
                <a:latin typeface="Aileron Bold"/>
                <a:ea typeface="Aileron Bold"/>
                <a:cs typeface="Aileron Bold"/>
                <a:sym typeface="Aileron Bold"/>
              </a:rPr>
              <a:t>Literature Review</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10717673" y="793797"/>
            <a:ext cx="8638773" cy="5733004"/>
          </a:xfrm>
          <a:custGeom>
            <a:avLst/>
            <a:gdLst/>
            <a:ahLst/>
            <a:cxnLst/>
            <a:rect r="r" b="b" t="t" l="l"/>
            <a:pathLst>
              <a:path h="5733004" w="8638773">
                <a:moveTo>
                  <a:pt x="0" y="5733003"/>
                </a:moveTo>
                <a:lnTo>
                  <a:pt x="8638773" y="5733003"/>
                </a:lnTo>
                <a:lnTo>
                  <a:pt x="8638773" y="0"/>
                </a:lnTo>
                <a:lnTo>
                  <a:pt x="0" y="0"/>
                </a:lnTo>
                <a:lnTo>
                  <a:pt x="0" y="5733003"/>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168815" y="2927354"/>
            <a:ext cx="8182690" cy="5430330"/>
          </a:xfrm>
          <a:custGeom>
            <a:avLst/>
            <a:gdLst/>
            <a:ahLst/>
            <a:cxnLst/>
            <a:rect r="r" b="b" t="t" l="l"/>
            <a:pathLst>
              <a:path h="5430330" w="8182690">
                <a:moveTo>
                  <a:pt x="8182690" y="0"/>
                </a:moveTo>
                <a:lnTo>
                  <a:pt x="0" y="0"/>
                </a:lnTo>
                <a:lnTo>
                  <a:pt x="0" y="5430331"/>
                </a:lnTo>
                <a:lnTo>
                  <a:pt x="8182690" y="5430331"/>
                </a:lnTo>
                <a:lnTo>
                  <a:pt x="818269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2849108"/>
            <a:ext cx="11191762" cy="647503"/>
          </a:xfrm>
          <a:prstGeom prst="rect">
            <a:avLst/>
          </a:prstGeom>
        </p:spPr>
        <p:txBody>
          <a:bodyPr anchor="t" rtlCol="false" tIns="0" lIns="0" bIns="0" rIns="0">
            <a:spAutoFit/>
          </a:bodyPr>
          <a:lstStyle/>
          <a:p>
            <a:pPr algn="ctr">
              <a:lnSpc>
                <a:spcPts val="4922"/>
              </a:lnSpc>
              <a:spcBef>
                <a:spcPct val="0"/>
              </a:spcBef>
            </a:pPr>
            <a:r>
              <a:rPr lang="en-US" b="true" sz="4600">
                <a:solidFill>
                  <a:srgbClr val="000000"/>
                </a:solidFill>
                <a:latin typeface="Aileron Bold"/>
                <a:ea typeface="Aileron Bold"/>
                <a:cs typeface="Aileron Bold"/>
                <a:sym typeface="Aileron Bold"/>
              </a:rPr>
              <a:t>Speech Recognition &amp; Language Models</a:t>
            </a:r>
          </a:p>
        </p:txBody>
      </p:sp>
      <p:sp>
        <p:nvSpPr>
          <p:cNvPr name="Freeform 5" id="5"/>
          <p:cNvSpPr/>
          <p:nvPr/>
        </p:nvSpPr>
        <p:spPr>
          <a:xfrm flipH="false" flipV="false" rot="0">
            <a:off x="-205262" y="-488243"/>
            <a:ext cx="5281132" cy="3984854"/>
          </a:xfrm>
          <a:custGeom>
            <a:avLst/>
            <a:gdLst/>
            <a:ahLst/>
            <a:cxnLst/>
            <a:rect r="r" b="b" t="t" l="l"/>
            <a:pathLst>
              <a:path h="3984854" w="5281132">
                <a:moveTo>
                  <a:pt x="0" y="0"/>
                </a:moveTo>
                <a:lnTo>
                  <a:pt x="5281132" y="0"/>
                </a:lnTo>
                <a:lnTo>
                  <a:pt x="5281132" y="3984854"/>
                </a:lnTo>
                <a:lnTo>
                  <a:pt x="0" y="39848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3409572" y="6838370"/>
            <a:ext cx="5171931" cy="3902457"/>
          </a:xfrm>
          <a:custGeom>
            <a:avLst/>
            <a:gdLst/>
            <a:ahLst/>
            <a:cxnLst/>
            <a:rect r="r" b="b" t="t" l="l"/>
            <a:pathLst>
              <a:path h="3902457" w="5171931">
                <a:moveTo>
                  <a:pt x="5171930" y="3902456"/>
                </a:moveTo>
                <a:lnTo>
                  <a:pt x="0" y="3902456"/>
                </a:lnTo>
                <a:lnTo>
                  <a:pt x="0" y="0"/>
                </a:lnTo>
                <a:lnTo>
                  <a:pt x="5171930" y="0"/>
                </a:lnTo>
                <a:lnTo>
                  <a:pt x="5171930" y="3902456"/>
                </a:lnTo>
                <a:close/>
              </a:path>
            </a:pathLst>
          </a:custGeom>
          <a:blipFill>
            <a:blip r:embed="rId4">
              <a:extLst>
                <a:ext uri="{96DAC541-7B7A-43D3-8B79-37D633B846F1}">
                  <asvg:svgBlip xmlns:asvg="http://schemas.microsoft.com/office/drawing/2016/SVG/main" r:embed="rId5"/>
                </a:ext>
              </a:extLst>
            </a:blip>
            <a:stretch>
              <a:fillRect l="0" t="0" r="0" b="0"/>
            </a:stretch>
          </a:blipFill>
        </p:spPr>
      </p:sp>
      <p:graphicFrame>
        <p:nvGraphicFramePr>
          <p:cNvPr name="Object 7" id="7"/>
          <p:cNvGraphicFramePr/>
          <p:nvPr/>
        </p:nvGraphicFramePr>
        <p:xfrm>
          <a:off x="1028700" y="3580034"/>
          <a:ext cx="5657850" cy="3143250"/>
        </p:xfrm>
        <a:graphic>
          <a:graphicData uri="http://schemas.openxmlformats.org/presentationml/2006/ole">
            <p:oleObj imgW="6781800" imgH="4267200" r:id="rId7" progId="Excel.Sheet.12" name="Worksheet">
              <p:embed/>
              <p:pic>
                <p:nvPicPr>
                  <p:cNvPr name="" id="0"/>
                  <p:cNvPicPr/>
                  <p:nvPr/>
                </p:nvPicPr>
                <p:blipFill>
                  <a:blip r:embed="rId6"/>
                  <a:stretch>
                    <a:fillRect/>
                  </a:stretch>
                </p:blipFill>
                <p:spPr>
                  <a:xfrm>
                    <a:off x="1270000" y="1270000"/>
                    <a:ext cx="1270000" cy="1270000"/>
                  </a:xfrm>
                  <a:prstGeom prst="rect"/>
                </p:spPr>
              </p:pic>
            </p:oleObj>
          </a:graphicData>
        </a:graphic>
      </p:graphicFrame>
      <p:sp>
        <p:nvSpPr>
          <p:cNvPr name="Freeform 8" id="8"/>
          <p:cNvSpPr/>
          <p:nvPr/>
        </p:nvSpPr>
        <p:spPr>
          <a:xfrm flipH="false" flipV="false" rot="0">
            <a:off x="4262283" y="1127595"/>
            <a:ext cx="6802066" cy="1310944"/>
          </a:xfrm>
          <a:custGeom>
            <a:avLst/>
            <a:gdLst/>
            <a:ahLst/>
            <a:cxnLst/>
            <a:rect r="r" b="b" t="t" l="l"/>
            <a:pathLst>
              <a:path h="1310944" w="6802066">
                <a:moveTo>
                  <a:pt x="0" y="0"/>
                </a:moveTo>
                <a:lnTo>
                  <a:pt x="6802066" y="0"/>
                </a:lnTo>
                <a:lnTo>
                  <a:pt x="6802066" y="1310944"/>
                </a:lnTo>
                <a:lnTo>
                  <a:pt x="0" y="131094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5439320" y="1483156"/>
            <a:ext cx="4914903" cy="647447"/>
          </a:xfrm>
          <a:prstGeom prst="rect">
            <a:avLst/>
          </a:prstGeom>
        </p:spPr>
        <p:txBody>
          <a:bodyPr anchor="t" rtlCol="false" tIns="0" lIns="0" bIns="0" rIns="0">
            <a:spAutoFit/>
          </a:bodyPr>
          <a:lstStyle/>
          <a:p>
            <a:pPr algn="l">
              <a:lnSpc>
                <a:spcPts val="4922"/>
              </a:lnSpc>
            </a:pPr>
            <a:r>
              <a:rPr lang="en-US" sz="4600" b="true">
                <a:solidFill>
                  <a:srgbClr val="FCFEFF"/>
                </a:solidFill>
                <a:latin typeface="Aileron Bold"/>
                <a:ea typeface="Aileron Bold"/>
                <a:cs typeface="Aileron Bold"/>
                <a:sym typeface="Aileron Bold"/>
              </a:rPr>
              <a:t>Literature Review</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10717673" y="793797"/>
            <a:ext cx="8638773" cy="5733004"/>
          </a:xfrm>
          <a:custGeom>
            <a:avLst/>
            <a:gdLst/>
            <a:ahLst/>
            <a:cxnLst/>
            <a:rect r="r" b="b" t="t" l="l"/>
            <a:pathLst>
              <a:path h="5733004" w="8638773">
                <a:moveTo>
                  <a:pt x="0" y="5733003"/>
                </a:moveTo>
                <a:lnTo>
                  <a:pt x="8638773" y="5733003"/>
                </a:lnTo>
                <a:lnTo>
                  <a:pt x="8638773" y="0"/>
                </a:lnTo>
                <a:lnTo>
                  <a:pt x="0" y="0"/>
                </a:lnTo>
                <a:lnTo>
                  <a:pt x="0" y="5733003"/>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168815" y="2927354"/>
            <a:ext cx="8182690" cy="5430330"/>
          </a:xfrm>
          <a:custGeom>
            <a:avLst/>
            <a:gdLst/>
            <a:ahLst/>
            <a:cxnLst/>
            <a:rect r="r" b="b" t="t" l="l"/>
            <a:pathLst>
              <a:path h="5430330" w="8182690">
                <a:moveTo>
                  <a:pt x="8182690" y="0"/>
                </a:moveTo>
                <a:lnTo>
                  <a:pt x="0" y="0"/>
                </a:lnTo>
                <a:lnTo>
                  <a:pt x="0" y="5430331"/>
                </a:lnTo>
                <a:lnTo>
                  <a:pt x="8182690" y="5430331"/>
                </a:lnTo>
                <a:lnTo>
                  <a:pt x="818269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2709347"/>
            <a:ext cx="9816085" cy="647503"/>
          </a:xfrm>
          <a:prstGeom prst="rect">
            <a:avLst/>
          </a:prstGeom>
        </p:spPr>
        <p:txBody>
          <a:bodyPr anchor="t" rtlCol="false" tIns="0" lIns="0" bIns="0" rIns="0">
            <a:spAutoFit/>
          </a:bodyPr>
          <a:lstStyle/>
          <a:p>
            <a:pPr algn="ctr">
              <a:lnSpc>
                <a:spcPts val="4922"/>
              </a:lnSpc>
              <a:spcBef>
                <a:spcPct val="0"/>
              </a:spcBef>
            </a:pPr>
            <a:r>
              <a:rPr lang="en-US" b="true" sz="4600">
                <a:solidFill>
                  <a:srgbClr val="000000"/>
                </a:solidFill>
                <a:latin typeface="Aileron Bold"/>
                <a:ea typeface="Aileron Bold"/>
                <a:cs typeface="Aileron Bold"/>
                <a:sym typeface="Aileron Bold"/>
              </a:rPr>
              <a:t>Id</a:t>
            </a:r>
            <a:r>
              <a:rPr lang="en-US" b="true" sz="4600">
                <a:solidFill>
                  <a:srgbClr val="000000"/>
                </a:solidFill>
                <a:latin typeface="Aileron Bold"/>
                <a:ea typeface="Aileron Bold"/>
                <a:cs typeface="Aileron Bold"/>
                <a:sym typeface="Aileron Bold"/>
              </a:rPr>
              <a:t>entified Gaps in Current Solutions</a:t>
            </a:r>
          </a:p>
        </p:txBody>
      </p:sp>
      <p:sp>
        <p:nvSpPr>
          <p:cNvPr name="Freeform 5" id="5"/>
          <p:cNvSpPr/>
          <p:nvPr/>
        </p:nvSpPr>
        <p:spPr>
          <a:xfrm flipH="false" flipV="false" rot="0">
            <a:off x="-205262" y="-488243"/>
            <a:ext cx="5281132" cy="3984854"/>
          </a:xfrm>
          <a:custGeom>
            <a:avLst/>
            <a:gdLst/>
            <a:ahLst/>
            <a:cxnLst/>
            <a:rect r="r" b="b" t="t" l="l"/>
            <a:pathLst>
              <a:path h="3984854" w="5281132">
                <a:moveTo>
                  <a:pt x="0" y="0"/>
                </a:moveTo>
                <a:lnTo>
                  <a:pt x="5281132" y="0"/>
                </a:lnTo>
                <a:lnTo>
                  <a:pt x="5281132" y="3984854"/>
                </a:lnTo>
                <a:lnTo>
                  <a:pt x="0" y="39848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3409572" y="6838370"/>
            <a:ext cx="5171931" cy="3902457"/>
          </a:xfrm>
          <a:custGeom>
            <a:avLst/>
            <a:gdLst/>
            <a:ahLst/>
            <a:cxnLst/>
            <a:rect r="r" b="b" t="t" l="l"/>
            <a:pathLst>
              <a:path h="3902457" w="5171931">
                <a:moveTo>
                  <a:pt x="5171930" y="3902456"/>
                </a:moveTo>
                <a:lnTo>
                  <a:pt x="0" y="3902456"/>
                </a:lnTo>
                <a:lnTo>
                  <a:pt x="0" y="0"/>
                </a:lnTo>
                <a:lnTo>
                  <a:pt x="5171930" y="0"/>
                </a:lnTo>
                <a:lnTo>
                  <a:pt x="5171930" y="390245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262283" y="1127595"/>
            <a:ext cx="6802066" cy="1310944"/>
          </a:xfrm>
          <a:custGeom>
            <a:avLst/>
            <a:gdLst/>
            <a:ahLst/>
            <a:cxnLst/>
            <a:rect r="r" b="b" t="t" l="l"/>
            <a:pathLst>
              <a:path h="1310944" w="6802066">
                <a:moveTo>
                  <a:pt x="0" y="0"/>
                </a:moveTo>
                <a:lnTo>
                  <a:pt x="6802066" y="0"/>
                </a:lnTo>
                <a:lnTo>
                  <a:pt x="6802066" y="1310944"/>
                </a:lnTo>
                <a:lnTo>
                  <a:pt x="0" y="13109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Object 8" id="8"/>
          <p:cNvGraphicFramePr/>
          <p:nvPr/>
        </p:nvGraphicFramePr>
        <p:xfrm>
          <a:off x="1028700" y="3574542"/>
          <a:ext cx="5657850" cy="4400550"/>
        </p:xfrm>
        <a:graphic>
          <a:graphicData uri="http://schemas.openxmlformats.org/presentationml/2006/ole">
            <p:oleObj imgW="6781800" imgH="55245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sp>
        <p:nvSpPr>
          <p:cNvPr name="TextBox 9" id="9"/>
          <p:cNvSpPr txBox="true"/>
          <p:nvPr/>
        </p:nvSpPr>
        <p:spPr>
          <a:xfrm rot="0">
            <a:off x="5439320" y="1483156"/>
            <a:ext cx="4914903" cy="647447"/>
          </a:xfrm>
          <a:prstGeom prst="rect">
            <a:avLst/>
          </a:prstGeom>
        </p:spPr>
        <p:txBody>
          <a:bodyPr anchor="t" rtlCol="false" tIns="0" lIns="0" bIns="0" rIns="0">
            <a:spAutoFit/>
          </a:bodyPr>
          <a:lstStyle/>
          <a:p>
            <a:pPr algn="l">
              <a:lnSpc>
                <a:spcPts val="4922"/>
              </a:lnSpc>
            </a:pPr>
            <a:r>
              <a:rPr lang="en-US" sz="4600" b="true">
                <a:solidFill>
                  <a:srgbClr val="FCFEFF"/>
                </a:solidFill>
                <a:latin typeface="Aileron Bold"/>
                <a:ea typeface="Aileron Bold"/>
                <a:cs typeface="Aileron Bold"/>
                <a:sym typeface="Aileron Bold"/>
              </a:rPr>
              <a:t>Literature Review</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10717673" y="793797"/>
            <a:ext cx="8638773" cy="5733004"/>
          </a:xfrm>
          <a:custGeom>
            <a:avLst/>
            <a:gdLst/>
            <a:ahLst/>
            <a:cxnLst/>
            <a:rect r="r" b="b" t="t" l="l"/>
            <a:pathLst>
              <a:path h="5733004" w="8638773">
                <a:moveTo>
                  <a:pt x="0" y="5733003"/>
                </a:moveTo>
                <a:lnTo>
                  <a:pt x="8638773" y="5733003"/>
                </a:lnTo>
                <a:lnTo>
                  <a:pt x="8638773" y="0"/>
                </a:lnTo>
                <a:lnTo>
                  <a:pt x="0" y="0"/>
                </a:lnTo>
                <a:lnTo>
                  <a:pt x="0" y="5733003"/>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168815" y="2927354"/>
            <a:ext cx="8182690" cy="5430330"/>
          </a:xfrm>
          <a:custGeom>
            <a:avLst/>
            <a:gdLst/>
            <a:ahLst/>
            <a:cxnLst/>
            <a:rect r="r" b="b" t="t" l="l"/>
            <a:pathLst>
              <a:path h="5430330" w="8182690">
                <a:moveTo>
                  <a:pt x="8182690" y="0"/>
                </a:moveTo>
                <a:lnTo>
                  <a:pt x="0" y="0"/>
                </a:lnTo>
                <a:lnTo>
                  <a:pt x="0" y="5430331"/>
                </a:lnTo>
                <a:lnTo>
                  <a:pt x="8182690" y="5430331"/>
                </a:lnTo>
                <a:lnTo>
                  <a:pt x="818269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169859" y="394684"/>
            <a:ext cx="5118141" cy="3396585"/>
          </a:xfrm>
          <a:custGeom>
            <a:avLst/>
            <a:gdLst/>
            <a:ahLst/>
            <a:cxnLst/>
            <a:rect r="r" b="b" t="t" l="l"/>
            <a:pathLst>
              <a:path h="3396585" w="5118141">
                <a:moveTo>
                  <a:pt x="0" y="0"/>
                </a:moveTo>
                <a:lnTo>
                  <a:pt x="5118141" y="0"/>
                </a:lnTo>
                <a:lnTo>
                  <a:pt x="5118141" y="3396585"/>
                </a:lnTo>
                <a:lnTo>
                  <a:pt x="0" y="33965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1168815" y="6526800"/>
            <a:ext cx="5118141" cy="3396585"/>
          </a:xfrm>
          <a:custGeom>
            <a:avLst/>
            <a:gdLst/>
            <a:ahLst/>
            <a:cxnLst/>
            <a:rect r="r" b="b" t="t" l="l"/>
            <a:pathLst>
              <a:path h="3396585" w="5118141">
                <a:moveTo>
                  <a:pt x="5118142" y="0"/>
                </a:moveTo>
                <a:lnTo>
                  <a:pt x="0" y="0"/>
                </a:lnTo>
                <a:lnTo>
                  <a:pt x="0" y="3396585"/>
                </a:lnTo>
                <a:lnTo>
                  <a:pt x="5118142" y="3396585"/>
                </a:lnTo>
                <a:lnTo>
                  <a:pt x="5118142" y="0"/>
                </a:lnTo>
                <a:close/>
              </a:path>
            </a:pathLst>
          </a:custGeom>
          <a:blipFill>
            <a:blip r:embed="rId2">
              <a:alphaModFix amt="17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05262" y="-488243"/>
            <a:ext cx="5281132" cy="3984854"/>
          </a:xfrm>
          <a:custGeom>
            <a:avLst/>
            <a:gdLst/>
            <a:ahLst/>
            <a:cxnLst/>
            <a:rect r="r" b="b" t="t" l="l"/>
            <a:pathLst>
              <a:path h="3984854" w="5281132">
                <a:moveTo>
                  <a:pt x="0" y="0"/>
                </a:moveTo>
                <a:lnTo>
                  <a:pt x="5281132" y="0"/>
                </a:lnTo>
                <a:lnTo>
                  <a:pt x="5281132" y="3984854"/>
                </a:lnTo>
                <a:lnTo>
                  <a:pt x="0" y="39848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true" rot="0">
            <a:off x="13409572" y="6838370"/>
            <a:ext cx="5171931" cy="3902457"/>
          </a:xfrm>
          <a:custGeom>
            <a:avLst/>
            <a:gdLst/>
            <a:ahLst/>
            <a:cxnLst/>
            <a:rect r="r" b="b" t="t" l="l"/>
            <a:pathLst>
              <a:path h="3902457" w="5171931">
                <a:moveTo>
                  <a:pt x="5171930" y="3902456"/>
                </a:moveTo>
                <a:lnTo>
                  <a:pt x="0" y="3902456"/>
                </a:lnTo>
                <a:lnTo>
                  <a:pt x="0" y="0"/>
                </a:lnTo>
                <a:lnTo>
                  <a:pt x="5171930" y="0"/>
                </a:lnTo>
                <a:lnTo>
                  <a:pt x="5171930" y="390245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14925" y="244840"/>
            <a:ext cx="7315200" cy="1409839"/>
          </a:xfrm>
          <a:custGeom>
            <a:avLst/>
            <a:gdLst/>
            <a:ahLst/>
            <a:cxnLst/>
            <a:rect r="r" b="b" t="t" l="l"/>
            <a:pathLst>
              <a:path h="1409839" w="7315200">
                <a:moveTo>
                  <a:pt x="0" y="0"/>
                </a:moveTo>
                <a:lnTo>
                  <a:pt x="7315200" y="0"/>
                </a:lnTo>
                <a:lnTo>
                  <a:pt x="7315200" y="1409838"/>
                </a:lnTo>
                <a:lnTo>
                  <a:pt x="0" y="140983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4946446" y="260446"/>
            <a:ext cx="13700917" cy="9813282"/>
          </a:xfrm>
          <a:custGeom>
            <a:avLst/>
            <a:gdLst/>
            <a:ahLst/>
            <a:cxnLst/>
            <a:rect r="r" b="b" t="t" l="l"/>
            <a:pathLst>
              <a:path h="9813282" w="13700917">
                <a:moveTo>
                  <a:pt x="0" y="0"/>
                </a:moveTo>
                <a:lnTo>
                  <a:pt x="13700917" y="0"/>
                </a:lnTo>
                <a:lnTo>
                  <a:pt x="13700917" y="9813281"/>
                </a:lnTo>
                <a:lnTo>
                  <a:pt x="0" y="9813281"/>
                </a:lnTo>
                <a:lnTo>
                  <a:pt x="0" y="0"/>
                </a:lnTo>
                <a:close/>
              </a:path>
            </a:pathLst>
          </a:custGeom>
          <a:blipFill>
            <a:blip r:embed="rId8"/>
            <a:stretch>
              <a:fillRect l="0" t="0" r="0" b="0"/>
            </a:stretch>
          </a:blipFill>
        </p:spPr>
      </p:sp>
      <p:sp>
        <p:nvSpPr>
          <p:cNvPr name="TextBox 10" id="10"/>
          <p:cNvSpPr txBox="true"/>
          <p:nvPr/>
        </p:nvSpPr>
        <p:spPr>
          <a:xfrm rot="0">
            <a:off x="840396" y="611597"/>
            <a:ext cx="4164268" cy="733474"/>
          </a:xfrm>
          <a:prstGeom prst="rect">
            <a:avLst/>
          </a:prstGeom>
        </p:spPr>
        <p:txBody>
          <a:bodyPr anchor="t" rtlCol="false" tIns="0" lIns="0" bIns="0" rIns="0">
            <a:spAutoFit/>
          </a:bodyPr>
          <a:lstStyle/>
          <a:p>
            <a:pPr algn="l">
              <a:lnSpc>
                <a:spcPts val="5564"/>
              </a:lnSpc>
            </a:pPr>
            <a:r>
              <a:rPr lang="en-US" sz="5200" b="true">
                <a:solidFill>
                  <a:srgbClr val="FCFEFF"/>
                </a:solidFill>
                <a:latin typeface="Aileron Bold"/>
                <a:ea typeface="Aileron Bold"/>
                <a:cs typeface="Aileron Bold"/>
                <a:sym typeface="Aileron Bold"/>
              </a:rPr>
              <a:t>Architecture</a:t>
            </a:r>
          </a:p>
        </p:txBody>
      </p:sp>
      <p:sp>
        <p:nvSpPr>
          <p:cNvPr name="TextBox 11" id="11"/>
          <p:cNvSpPr txBox="true"/>
          <p:nvPr/>
        </p:nvSpPr>
        <p:spPr>
          <a:xfrm rot="0">
            <a:off x="133975" y="7978896"/>
            <a:ext cx="7059507" cy="1944489"/>
          </a:xfrm>
          <a:prstGeom prst="rect">
            <a:avLst/>
          </a:prstGeom>
        </p:spPr>
        <p:txBody>
          <a:bodyPr anchor="t" rtlCol="false" tIns="0" lIns="0" bIns="0" rIns="0">
            <a:spAutoFit/>
          </a:bodyPr>
          <a:lstStyle/>
          <a:p>
            <a:pPr algn="l">
              <a:lnSpc>
                <a:spcPts val="2568"/>
              </a:lnSpc>
              <a:spcBef>
                <a:spcPct val="0"/>
              </a:spcBef>
            </a:pPr>
            <a:r>
              <a:rPr lang="en-US" sz="2400">
                <a:solidFill>
                  <a:srgbClr val="000000"/>
                </a:solidFill>
                <a:latin typeface="Montserrat"/>
                <a:ea typeface="Montserrat"/>
                <a:cs typeface="Montserrat"/>
                <a:sym typeface="Montserrat"/>
              </a:rPr>
              <a:t>Key Components:</a:t>
            </a:r>
          </a:p>
          <a:p>
            <a:pPr algn="l" marL="518160" indent="-259080" lvl="1">
              <a:lnSpc>
                <a:spcPts val="2568"/>
              </a:lnSpc>
              <a:buFont typeface="Arial"/>
              <a:buChar char="•"/>
            </a:pPr>
            <a:r>
              <a:rPr lang="en-US" sz="2400">
                <a:solidFill>
                  <a:srgbClr val="000000"/>
                </a:solidFill>
                <a:latin typeface="Montserrat"/>
                <a:ea typeface="Montserrat"/>
                <a:cs typeface="Montserrat"/>
                <a:sym typeface="Montserrat"/>
              </a:rPr>
              <a:t>Frontend: Streamlit web interface</a:t>
            </a:r>
          </a:p>
          <a:p>
            <a:pPr algn="l" marL="518160" indent="-259080" lvl="1">
              <a:lnSpc>
                <a:spcPts val="2568"/>
              </a:lnSpc>
              <a:buFont typeface="Arial"/>
              <a:buChar char="•"/>
            </a:pPr>
            <a:r>
              <a:rPr lang="en-US" sz="2400">
                <a:solidFill>
                  <a:srgbClr val="000000"/>
                </a:solidFill>
                <a:latin typeface="Montserrat"/>
                <a:ea typeface="Montserrat"/>
                <a:cs typeface="Montserrat"/>
                <a:sym typeface="Montserrat"/>
              </a:rPr>
              <a:t>ASR Engine: OpenAI Whisper (base model)</a:t>
            </a:r>
          </a:p>
          <a:p>
            <a:pPr algn="l" marL="518160" indent="-259080" lvl="1">
              <a:lnSpc>
                <a:spcPts val="2568"/>
              </a:lnSpc>
              <a:buFont typeface="Arial"/>
              <a:buChar char="•"/>
            </a:pPr>
            <a:r>
              <a:rPr lang="en-US" sz="2400">
                <a:solidFill>
                  <a:srgbClr val="000000"/>
                </a:solidFill>
                <a:latin typeface="Montserrat"/>
                <a:ea typeface="Montserrat"/>
                <a:cs typeface="Montserrat"/>
                <a:sym typeface="Montserrat"/>
              </a:rPr>
              <a:t>NLP Engine: Google Gemini 2.5-Flash</a:t>
            </a:r>
          </a:p>
          <a:p>
            <a:pPr algn="l" marL="518160" indent="-259080" lvl="1">
              <a:lnSpc>
                <a:spcPts val="2568"/>
              </a:lnSpc>
              <a:buFont typeface="Arial"/>
              <a:buChar char="•"/>
            </a:pPr>
            <a:r>
              <a:rPr lang="en-US" sz="2400">
                <a:solidFill>
                  <a:srgbClr val="000000"/>
                </a:solidFill>
                <a:latin typeface="Montserrat"/>
                <a:ea typeface="Montserrat"/>
                <a:cs typeface="Montserrat"/>
                <a:sym typeface="Montserrat"/>
              </a:rPr>
              <a:t>Storage: JSON-based persistence</a:t>
            </a:r>
          </a:p>
          <a:p>
            <a:pPr algn="l" marL="518160" indent="-259080" lvl="1">
              <a:lnSpc>
                <a:spcPts val="2568"/>
              </a:lnSpc>
              <a:buFont typeface="Arial"/>
              <a:buChar char="•"/>
            </a:pPr>
            <a:r>
              <a:rPr lang="en-US" sz="2400">
                <a:solidFill>
                  <a:srgbClr val="000000"/>
                </a:solidFill>
                <a:latin typeface="Montserrat"/>
                <a:ea typeface="Montserrat"/>
                <a:cs typeface="Montserrat"/>
                <a:sym typeface="Montserrat"/>
              </a:rPr>
              <a:t>Audio Processing: gTTS for text-to-speech</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10717673" y="793797"/>
            <a:ext cx="8638773" cy="5733004"/>
          </a:xfrm>
          <a:custGeom>
            <a:avLst/>
            <a:gdLst/>
            <a:ahLst/>
            <a:cxnLst/>
            <a:rect r="r" b="b" t="t" l="l"/>
            <a:pathLst>
              <a:path h="5733004" w="8638773">
                <a:moveTo>
                  <a:pt x="0" y="5733003"/>
                </a:moveTo>
                <a:lnTo>
                  <a:pt x="8638773" y="5733003"/>
                </a:lnTo>
                <a:lnTo>
                  <a:pt x="8638773" y="0"/>
                </a:lnTo>
                <a:lnTo>
                  <a:pt x="0" y="0"/>
                </a:lnTo>
                <a:lnTo>
                  <a:pt x="0" y="5733003"/>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168815" y="2927354"/>
            <a:ext cx="8182690" cy="5430330"/>
          </a:xfrm>
          <a:custGeom>
            <a:avLst/>
            <a:gdLst/>
            <a:ahLst/>
            <a:cxnLst/>
            <a:rect r="r" b="b" t="t" l="l"/>
            <a:pathLst>
              <a:path h="5430330" w="8182690">
                <a:moveTo>
                  <a:pt x="8182690" y="0"/>
                </a:moveTo>
                <a:lnTo>
                  <a:pt x="0" y="0"/>
                </a:lnTo>
                <a:lnTo>
                  <a:pt x="0" y="5430331"/>
                </a:lnTo>
                <a:lnTo>
                  <a:pt x="8182690" y="5430331"/>
                </a:lnTo>
                <a:lnTo>
                  <a:pt x="818269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169859" y="394684"/>
            <a:ext cx="5118141" cy="3396585"/>
          </a:xfrm>
          <a:custGeom>
            <a:avLst/>
            <a:gdLst/>
            <a:ahLst/>
            <a:cxnLst/>
            <a:rect r="r" b="b" t="t" l="l"/>
            <a:pathLst>
              <a:path h="3396585" w="5118141">
                <a:moveTo>
                  <a:pt x="0" y="0"/>
                </a:moveTo>
                <a:lnTo>
                  <a:pt x="5118141" y="0"/>
                </a:lnTo>
                <a:lnTo>
                  <a:pt x="5118141" y="3396585"/>
                </a:lnTo>
                <a:lnTo>
                  <a:pt x="0" y="33965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1168815" y="6526800"/>
            <a:ext cx="5118141" cy="3396585"/>
          </a:xfrm>
          <a:custGeom>
            <a:avLst/>
            <a:gdLst/>
            <a:ahLst/>
            <a:cxnLst/>
            <a:rect r="r" b="b" t="t" l="l"/>
            <a:pathLst>
              <a:path h="3396585" w="5118141">
                <a:moveTo>
                  <a:pt x="5118142" y="0"/>
                </a:moveTo>
                <a:lnTo>
                  <a:pt x="0" y="0"/>
                </a:lnTo>
                <a:lnTo>
                  <a:pt x="0" y="3396585"/>
                </a:lnTo>
                <a:lnTo>
                  <a:pt x="5118142" y="3396585"/>
                </a:lnTo>
                <a:lnTo>
                  <a:pt x="5118142" y="0"/>
                </a:lnTo>
                <a:close/>
              </a:path>
            </a:pathLst>
          </a:custGeom>
          <a:blipFill>
            <a:blip r:embed="rId2">
              <a:alphaModFix amt="17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05262" y="-488243"/>
            <a:ext cx="5281132" cy="3984854"/>
          </a:xfrm>
          <a:custGeom>
            <a:avLst/>
            <a:gdLst/>
            <a:ahLst/>
            <a:cxnLst/>
            <a:rect r="r" b="b" t="t" l="l"/>
            <a:pathLst>
              <a:path h="3984854" w="5281132">
                <a:moveTo>
                  <a:pt x="0" y="0"/>
                </a:moveTo>
                <a:lnTo>
                  <a:pt x="5281132" y="0"/>
                </a:lnTo>
                <a:lnTo>
                  <a:pt x="5281132" y="3984854"/>
                </a:lnTo>
                <a:lnTo>
                  <a:pt x="0" y="39848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true" rot="0">
            <a:off x="13409572" y="6838370"/>
            <a:ext cx="5171931" cy="3902457"/>
          </a:xfrm>
          <a:custGeom>
            <a:avLst/>
            <a:gdLst/>
            <a:ahLst/>
            <a:cxnLst/>
            <a:rect r="r" b="b" t="t" l="l"/>
            <a:pathLst>
              <a:path h="3902457" w="5171931">
                <a:moveTo>
                  <a:pt x="5171930" y="3902456"/>
                </a:moveTo>
                <a:lnTo>
                  <a:pt x="0" y="3902456"/>
                </a:lnTo>
                <a:lnTo>
                  <a:pt x="0" y="0"/>
                </a:lnTo>
                <a:lnTo>
                  <a:pt x="5171930" y="0"/>
                </a:lnTo>
                <a:lnTo>
                  <a:pt x="5171930" y="390245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4433454" y="949759"/>
            <a:ext cx="7315200" cy="1409839"/>
          </a:xfrm>
          <a:custGeom>
            <a:avLst/>
            <a:gdLst/>
            <a:ahLst/>
            <a:cxnLst/>
            <a:rect r="r" b="b" t="t" l="l"/>
            <a:pathLst>
              <a:path h="1409839" w="7315200">
                <a:moveTo>
                  <a:pt x="0" y="0"/>
                </a:moveTo>
                <a:lnTo>
                  <a:pt x="7315200" y="0"/>
                </a:lnTo>
                <a:lnTo>
                  <a:pt x="7315200" y="1409839"/>
                </a:lnTo>
                <a:lnTo>
                  <a:pt x="0" y="140983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5456068" y="1448237"/>
            <a:ext cx="6123062" cy="460507"/>
          </a:xfrm>
          <a:prstGeom prst="rect">
            <a:avLst/>
          </a:prstGeom>
        </p:spPr>
        <p:txBody>
          <a:bodyPr anchor="t" rtlCol="false" tIns="0" lIns="0" bIns="0" rIns="0">
            <a:spAutoFit/>
          </a:bodyPr>
          <a:lstStyle/>
          <a:p>
            <a:pPr algn="ctr">
              <a:lnSpc>
                <a:spcPts val="3597"/>
              </a:lnSpc>
              <a:spcBef>
                <a:spcPct val="0"/>
              </a:spcBef>
            </a:pPr>
            <a:r>
              <a:rPr lang="en-US" b="true" sz="3362">
                <a:solidFill>
                  <a:srgbClr val="FFFFFF"/>
                </a:solidFill>
                <a:latin typeface="Montserrat Bold"/>
                <a:ea typeface="Montserrat Bold"/>
                <a:cs typeface="Montserrat Bold"/>
                <a:sym typeface="Montserrat Bold"/>
              </a:rPr>
              <a:t> System Design - Data Flow</a:t>
            </a:r>
          </a:p>
        </p:txBody>
      </p:sp>
      <p:sp>
        <p:nvSpPr>
          <p:cNvPr name="TextBox 10" id="10"/>
          <p:cNvSpPr txBox="true"/>
          <p:nvPr/>
        </p:nvSpPr>
        <p:spPr>
          <a:xfrm rot="0">
            <a:off x="1028700" y="2626220"/>
            <a:ext cx="6427823" cy="606213"/>
          </a:xfrm>
          <a:prstGeom prst="rect">
            <a:avLst/>
          </a:prstGeom>
        </p:spPr>
        <p:txBody>
          <a:bodyPr anchor="t" rtlCol="false" tIns="0" lIns="0" bIns="0" rIns="0">
            <a:spAutoFit/>
          </a:bodyPr>
          <a:lstStyle/>
          <a:p>
            <a:pPr algn="ctr">
              <a:lnSpc>
                <a:spcPts val="4629"/>
              </a:lnSpc>
              <a:spcBef>
                <a:spcPct val="0"/>
              </a:spcBef>
            </a:pPr>
            <a:r>
              <a:rPr lang="en-US" b="true" sz="4326">
                <a:solidFill>
                  <a:srgbClr val="000000"/>
                </a:solidFill>
                <a:latin typeface="Montserrat Bold"/>
                <a:ea typeface="Montserrat Bold"/>
                <a:cs typeface="Montserrat Bold"/>
                <a:sym typeface="Montserrat Bold"/>
              </a:rPr>
              <a:t>Process Flow Diagram</a:t>
            </a:r>
          </a:p>
        </p:txBody>
      </p:sp>
      <p:sp>
        <p:nvSpPr>
          <p:cNvPr name="TextBox 11" id="11"/>
          <p:cNvSpPr txBox="true"/>
          <p:nvPr/>
        </p:nvSpPr>
        <p:spPr>
          <a:xfrm rot="0">
            <a:off x="1390256" y="3411632"/>
            <a:ext cx="6427823" cy="379637"/>
          </a:xfrm>
          <a:prstGeom prst="rect">
            <a:avLst/>
          </a:prstGeom>
        </p:spPr>
        <p:txBody>
          <a:bodyPr anchor="t" rtlCol="false" tIns="0" lIns="0" bIns="0" rIns="0">
            <a:spAutoFit/>
          </a:bodyPr>
          <a:lstStyle/>
          <a:p>
            <a:pPr algn="l">
              <a:lnSpc>
                <a:spcPts val="2995"/>
              </a:lnSpc>
              <a:spcBef>
                <a:spcPct val="0"/>
              </a:spcBef>
            </a:pPr>
            <a:r>
              <a:rPr lang="en-US" b="true" sz="2799" i="true">
                <a:solidFill>
                  <a:srgbClr val="000000"/>
                </a:solidFill>
                <a:latin typeface="Aileron Bold Italics"/>
                <a:ea typeface="Aileron Bold Italics"/>
                <a:cs typeface="Aileron Bold Italics"/>
                <a:sym typeface="Aileron Bold Italics"/>
              </a:rPr>
              <a:t>Phase 1: Error Detection</a:t>
            </a:r>
          </a:p>
        </p:txBody>
      </p:sp>
      <p:sp>
        <p:nvSpPr>
          <p:cNvPr name="TextBox 12" id="12"/>
          <p:cNvSpPr txBox="true"/>
          <p:nvPr/>
        </p:nvSpPr>
        <p:spPr>
          <a:xfrm rot="0">
            <a:off x="1254295" y="3925036"/>
            <a:ext cx="15779410" cy="334877"/>
          </a:xfrm>
          <a:prstGeom prst="rect">
            <a:avLst/>
          </a:prstGeom>
        </p:spPr>
        <p:txBody>
          <a:bodyPr anchor="t" rtlCol="false" tIns="0" lIns="0" bIns="0" rIns="0">
            <a:spAutoFit/>
          </a:bodyPr>
          <a:lstStyle/>
          <a:p>
            <a:pPr algn="ctr">
              <a:lnSpc>
                <a:spcPts val="2568"/>
              </a:lnSpc>
              <a:spcBef>
                <a:spcPct val="0"/>
              </a:spcBef>
            </a:pPr>
            <a:r>
              <a:rPr lang="en-US" sz="2400">
                <a:solidFill>
                  <a:srgbClr val="000000"/>
                </a:solidFill>
                <a:latin typeface="Aileron"/>
                <a:ea typeface="Aileron"/>
                <a:cs typeface="Aileron"/>
                <a:sym typeface="Aileron"/>
              </a:rPr>
              <a:t>Picture Display → Child Description (Audio) → Whisper Transcription → Gemini Error Analysis → Error Classification</a:t>
            </a:r>
          </a:p>
        </p:txBody>
      </p:sp>
      <p:sp>
        <p:nvSpPr>
          <p:cNvPr name="TextBox 13" id="13"/>
          <p:cNvSpPr txBox="true"/>
          <p:nvPr/>
        </p:nvSpPr>
        <p:spPr>
          <a:xfrm rot="0">
            <a:off x="1390256" y="4840937"/>
            <a:ext cx="6427823" cy="379637"/>
          </a:xfrm>
          <a:prstGeom prst="rect">
            <a:avLst/>
          </a:prstGeom>
        </p:spPr>
        <p:txBody>
          <a:bodyPr anchor="t" rtlCol="false" tIns="0" lIns="0" bIns="0" rIns="0">
            <a:spAutoFit/>
          </a:bodyPr>
          <a:lstStyle/>
          <a:p>
            <a:pPr algn="l">
              <a:lnSpc>
                <a:spcPts val="2995"/>
              </a:lnSpc>
              <a:spcBef>
                <a:spcPct val="0"/>
              </a:spcBef>
            </a:pPr>
            <a:r>
              <a:rPr lang="en-US" b="true" sz="2799" i="true">
                <a:solidFill>
                  <a:srgbClr val="000000"/>
                </a:solidFill>
                <a:latin typeface="Aileron Bold Italics"/>
                <a:ea typeface="Aileron Bold Italics"/>
                <a:cs typeface="Aileron Bold Italics"/>
                <a:sym typeface="Aileron Bold Italics"/>
              </a:rPr>
              <a:t>Phase 2: Story Generation &amp; Practice</a:t>
            </a:r>
          </a:p>
        </p:txBody>
      </p:sp>
      <p:sp>
        <p:nvSpPr>
          <p:cNvPr name="TextBox 14" id="14"/>
          <p:cNvSpPr txBox="true"/>
          <p:nvPr/>
        </p:nvSpPr>
        <p:spPr>
          <a:xfrm rot="0">
            <a:off x="1028700" y="5327455"/>
            <a:ext cx="16230600" cy="334877"/>
          </a:xfrm>
          <a:prstGeom prst="rect">
            <a:avLst/>
          </a:prstGeom>
        </p:spPr>
        <p:txBody>
          <a:bodyPr anchor="t" rtlCol="false" tIns="0" lIns="0" bIns="0" rIns="0">
            <a:spAutoFit/>
          </a:bodyPr>
          <a:lstStyle/>
          <a:p>
            <a:pPr algn="ctr">
              <a:lnSpc>
                <a:spcPts val="2568"/>
              </a:lnSpc>
              <a:spcBef>
                <a:spcPct val="0"/>
              </a:spcBef>
            </a:pPr>
            <a:r>
              <a:rPr lang="en-US" sz="2400">
                <a:solidFill>
                  <a:srgbClr val="000000"/>
                </a:solidFill>
                <a:latin typeface="Aileron"/>
                <a:ea typeface="Aileron"/>
                <a:cs typeface="Aileron"/>
                <a:sym typeface="Aileron"/>
              </a:rPr>
              <a:t>Error </a:t>
            </a:r>
            <a:r>
              <a:rPr lang="en-US" sz="2400">
                <a:solidFill>
                  <a:srgbClr val="000000"/>
                </a:solidFill>
                <a:latin typeface="Aileron"/>
                <a:ea typeface="Aileron"/>
                <a:cs typeface="Aileron"/>
                <a:sym typeface="Aileron"/>
              </a:rPr>
              <a:t>Profile + Picture Subject → Gemini Story Generation → Story Sectioning → Display with Highlighting</a:t>
            </a:r>
          </a:p>
        </p:txBody>
      </p:sp>
      <p:sp>
        <p:nvSpPr>
          <p:cNvPr name="TextBox 15" id="15"/>
          <p:cNvSpPr txBox="true"/>
          <p:nvPr/>
        </p:nvSpPr>
        <p:spPr>
          <a:xfrm rot="0">
            <a:off x="1390256" y="6205234"/>
            <a:ext cx="6427823" cy="379637"/>
          </a:xfrm>
          <a:prstGeom prst="rect">
            <a:avLst/>
          </a:prstGeom>
        </p:spPr>
        <p:txBody>
          <a:bodyPr anchor="t" rtlCol="false" tIns="0" lIns="0" bIns="0" rIns="0">
            <a:spAutoFit/>
          </a:bodyPr>
          <a:lstStyle/>
          <a:p>
            <a:pPr algn="l">
              <a:lnSpc>
                <a:spcPts val="2995"/>
              </a:lnSpc>
              <a:spcBef>
                <a:spcPct val="0"/>
              </a:spcBef>
            </a:pPr>
            <a:r>
              <a:rPr lang="en-US" b="true" sz="2799" i="true">
                <a:solidFill>
                  <a:srgbClr val="000000"/>
                </a:solidFill>
                <a:latin typeface="Aileron Bold Italics"/>
                <a:ea typeface="Aileron Bold Italics"/>
                <a:cs typeface="Aileron Bold Italics"/>
                <a:sym typeface="Aileron Bold Italics"/>
              </a:rPr>
              <a:t>Phase 3: Interactive Practice</a:t>
            </a:r>
          </a:p>
        </p:txBody>
      </p:sp>
      <p:sp>
        <p:nvSpPr>
          <p:cNvPr name="TextBox 16" id="16"/>
          <p:cNvSpPr txBox="true"/>
          <p:nvPr/>
        </p:nvSpPr>
        <p:spPr>
          <a:xfrm rot="0">
            <a:off x="1028700" y="6689645"/>
            <a:ext cx="16230600" cy="658704"/>
          </a:xfrm>
          <a:prstGeom prst="rect">
            <a:avLst/>
          </a:prstGeom>
        </p:spPr>
        <p:txBody>
          <a:bodyPr anchor="t" rtlCol="false" tIns="0" lIns="0" bIns="0" rIns="0">
            <a:spAutoFit/>
          </a:bodyPr>
          <a:lstStyle/>
          <a:p>
            <a:pPr algn="ctr">
              <a:lnSpc>
                <a:spcPts val="2568"/>
              </a:lnSpc>
              <a:spcBef>
                <a:spcPct val="0"/>
              </a:spcBef>
            </a:pPr>
            <a:r>
              <a:rPr lang="en-US" sz="2400">
                <a:solidFill>
                  <a:srgbClr val="000000"/>
                </a:solidFill>
                <a:latin typeface="Aileron"/>
                <a:ea typeface="Aileron"/>
                <a:cs typeface="Aileron"/>
                <a:sym typeface="Aileron"/>
              </a:rPr>
              <a:t>Section D</a:t>
            </a:r>
            <a:r>
              <a:rPr lang="en-US" sz="2400">
                <a:solidFill>
                  <a:srgbClr val="000000"/>
                </a:solidFill>
                <a:latin typeface="Aileron"/>
                <a:ea typeface="Aileron"/>
                <a:cs typeface="Aileron"/>
                <a:sym typeface="Aileron"/>
              </a:rPr>
              <a:t>isplay → System Read-Aloud → Child Recording → Transcription → Accuracy Calculation → Feedback </a:t>
            </a:r>
          </a:p>
          <a:p>
            <a:pPr algn="ctr">
              <a:lnSpc>
                <a:spcPts val="2568"/>
              </a:lnSpc>
              <a:spcBef>
                <a:spcPct val="0"/>
              </a:spcBef>
            </a:pPr>
            <a:r>
              <a:rPr lang="en-US" sz="2400">
                <a:solidFill>
                  <a:srgbClr val="000000"/>
                </a:solidFill>
                <a:latin typeface="Aileron"/>
                <a:ea typeface="Aileron"/>
                <a:cs typeface="Aileron"/>
                <a:sym typeface="Aileron"/>
              </a:rPr>
              <a:t>→ Next Section / Retry</a:t>
            </a:r>
          </a:p>
        </p:txBody>
      </p:sp>
      <p:sp>
        <p:nvSpPr>
          <p:cNvPr name="TextBox 17" id="17"/>
          <p:cNvSpPr txBox="true"/>
          <p:nvPr/>
        </p:nvSpPr>
        <p:spPr>
          <a:xfrm rot="0">
            <a:off x="1390256" y="7786477"/>
            <a:ext cx="6427823" cy="379637"/>
          </a:xfrm>
          <a:prstGeom prst="rect">
            <a:avLst/>
          </a:prstGeom>
        </p:spPr>
        <p:txBody>
          <a:bodyPr anchor="t" rtlCol="false" tIns="0" lIns="0" bIns="0" rIns="0">
            <a:spAutoFit/>
          </a:bodyPr>
          <a:lstStyle/>
          <a:p>
            <a:pPr algn="l">
              <a:lnSpc>
                <a:spcPts val="2995"/>
              </a:lnSpc>
              <a:spcBef>
                <a:spcPct val="0"/>
              </a:spcBef>
            </a:pPr>
            <a:r>
              <a:rPr lang="en-US" b="true" sz="2799" i="true">
                <a:solidFill>
                  <a:srgbClr val="000000"/>
                </a:solidFill>
                <a:latin typeface="Aileron Bold Italics"/>
                <a:ea typeface="Aileron Bold Italics"/>
                <a:cs typeface="Aileron Bold Italics"/>
                <a:sym typeface="Aileron Bold Italics"/>
              </a:rPr>
              <a:t>Phase 4: Progress Tracking</a:t>
            </a:r>
          </a:p>
        </p:txBody>
      </p:sp>
      <p:sp>
        <p:nvSpPr>
          <p:cNvPr name="TextBox 18" id="18"/>
          <p:cNvSpPr txBox="true"/>
          <p:nvPr/>
        </p:nvSpPr>
        <p:spPr>
          <a:xfrm rot="0">
            <a:off x="1390256" y="8328039"/>
            <a:ext cx="16230600" cy="334877"/>
          </a:xfrm>
          <a:prstGeom prst="rect">
            <a:avLst/>
          </a:prstGeom>
        </p:spPr>
        <p:txBody>
          <a:bodyPr anchor="t" rtlCol="false" tIns="0" lIns="0" bIns="0" rIns="0">
            <a:spAutoFit/>
          </a:bodyPr>
          <a:lstStyle/>
          <a:p>
            <a:pPr algn="ctr">
              <a:lnSpc>
                <a:spcPts val="2568"/>
              </a:lnSpc>
              <a:spcBef>
                <a:spcPct val="0"/>
              </a:spcBef>
            </a:pPr>
            <a:r>
              <a:rPr lang="en-US" sz="2400">
                <a:solidFill>
                  <a:srgbClr val="000000"/>
                </a:solidFill>
                <a:latin typeface="Aileron"/>
                <a:ea typeface="Aileron"/>
                <a:cs typeface="Aileron"/>
                <a:sym typeface="Aileron"/>
              </a:rPr>
              <a:t>S</a:t>
            </a:r>
            <a:r>
              <a:rPr lang="en-US" sz="2400">
                <a:solidFill>
                  <a:srgbClr val="000000"/>
                </a:solidFill>
                <a:latin typeface="Aileron"/>
                <a:ea typeface="Aileron"/>
                <a:cs typeface="Aileron"/>
                <a:sym typeface="Aileron"/>
              </a:rPr>
              <a:t>ession Data → JSON Storage → Dashboard Visualization → Historical Analysis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144000" y="1355173"/>
            <a:ext cx="10042068" cy="6664282"/>
          </a:xfrm>
          <a:custGeom>
            <a:avLst/>
            <a:gdLst/>
            <a:ahLst/>
            <a:cxnLst/>
            <a:rect r="r" b="b" t="t" l="l"/>
            <a:pathLst>
              <a:path h="6664282" w="10042068">
                <a:moveTo>
                  <a:pt x="0" y="6664282"/>
                </a:moveTo>
                <a:lnTo>
                  <a:pt x="10042068" y="6664282"/>
                </a:lnTo>
                <a:lnTo>
                  <a:pt x="10042068" y="0"/>
                </a:lnTo>
                <a:lnTo>
                  <a:pt x="0" y="0"/>
                </a:lnTo>
                <a:lnTo>
                  <a:pt x="0" y="6664282"/>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898068" y="2179650"/>
            <a:ext cx="10042068" cy="6664282"/>
          </a:xfrm>
          <a:custGeom>
            <a:avLst/>
            <a:gdLst/>
            <a:ahLst/>
            <a:cxnLst/>
            <a:rect r="r" b="b" t="t" l="l"/>
            <a:pathLst>
              <a:path h="6664282" w="10042068">
                <a:moveTo>
                  <a:pt x="10042068" y="0"/>
                </a:moveTo>
                <a:lnTo>
                  <a:pt x="0" y="0"/>
                </a:lnTo>
                <a:lnTo>
                  <a:pt x="0" y="6664282"/>
                </a:lnTo>
                <a:lnTo>
                  <a:pt x="10042068" y="6664282"/>
                </a:lnTo>
                <a:lnTo>
                  <a:pt x="10042068"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11278" y="4982792"/>
            <a:ext cx="4216232" cy="2798045"/>
          </a:xfrm>
          <a:custGeom>
            <a:avLst/>
            <a:gdLst/>
            <a:ahLst/>
            <a:cxnLst/>
            <a:rect r="r" b="b" t="t" l="l"/>
            <a:pathLst>
              <a:path h="2798045" w="4216232">
                <a:moveTo>
                  <a:pt x="0" y="0"/>
                </a:moveTo>
                <a:lnTo>
                  <a:pt x="4216232" y="0"/>
                </a:lnTo>
                <a:lnTo>
                  <a:pt x="4216232" y="2798045"/>
                </a:lnTo>
                <a:lnTo>
                  <a:pt x="0" y="2798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05789" y="-488243"/>
            <a:ext cx="5381659" cy="4060706"/>
          </a:xfrm>
          <a:custGeom>
            <a:avLst/>
            <a:gdLst/>
            <a:ahLst/>
            <a:cxnLst/>
            <a:rect r="r" b="b" t="t" l="l"/>
            <a:pathLst>
              <a:path h="4060706" w="5381659">
                <a:moveTo>
                  <a:pt x="0" y="0"/>
                </a:moveTo>
                <a:lnTo>
                  <a:pt x="5381659" y="0"/>
                </a:lnTo>
                <a:lnTo>
                  <a:pt x="5381659" y="4060707"/>
                </a:lnTo>
                <a:lnTo>
                  <a:pt x="0" y="4060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3031403" y="6736988"/>
            <a:ext cx="5581585" cy="4211560"/>
          </a:xfrm>
          <a:custGeom>
            <a:avLst/>
            <a:gdLst/>
            <a:ahLst/>
            <a:cxnLst/>
            <a:rect r="r" b="b" t="t" l="l"/>
            <a:pathLst>
              <a:path h="4211560" w="5581585">
                <a:moveTo>
                  <a:pt x="5581585" y="4211560"/>
                </a:moveTo>
                <a:lnTo>
                  <a:pt x="0" y="4211560"/>
                </a:lnTo>
                <a:lnTo>
                  <a:pt x="0" y="0"/>
                </a:lnTo>
                <a:lnTo>
                  <a:pt x="5581585" y="0"/>
                </a:lnTo>
                <a:lnTo>
                  <a:pt x="5581585" y="42115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66320" y="5177446"/>
            <a:ext cx="13193992" cy="3506078"/>
          </a:xfrm>
          <a:prstGeom prst="rect">
            <a:avLst/>
          </a:prstGeom>
        </p:spPr>
        <p:txBody>
          <a:bodyPr anchor="t" rtlCol="false" tIns="0" lIns="0" bIns="0" rIns="0">
            <a:spAutoFit/>
          </a:bodyPr>
          <a:lstStyle/>
          <a:p>
            <a:pPr algn="just" marL="0" indent="0" lvl="0">
              <a:lnSpc>
                <a:spcPts val="3503"/>
              </a:lnSpc>
              <a:spcBef>
                <a:spcPct val="0"/>
              </a:spcBef>
            </a:pPr>
            <a:r>
              <a:rPr lang="en-US" sz="2274" strike="noStrike" u="none">
                <a:solidFill>
                  <a:srgbClr val="FF3131"/>
                </a:solidFill>
                <a:latin typeface="Montserrat"/>
                <a:ea typeface="Montserrat"/>
                <a:cs typeface="Montserrat"/>
                <a:sym typeface="Montserrat"/>
              </a:rPr>
              <a:t>import whisper</a:t>
            </a:r>
          </a:p>
          <a:p>
            <a:pPr algn="just" marL="0" indent="0" lvl="0">
              <a:lnSpc>
                <a:spcPts val="3503"/>
              </a:lnSpc>
              <a:spcBef>
                <a:spcPct val="0"/>
              </a:spcBef>
            </a:pPr>
            <a:r>
              <a:rPr lang="en-US" sz="2274" strike="noStrike" u="none">
                <a:solidFill>
                  <a:srgbClr val="FF3131"/>
                </a:solidFill>
                <a:latin typeface="Montserrat"/>
                <a:ea typeface="Montserrat"/>
                <a:cs typeface="Montserrat"/>
                <a:sym typeface="Montserrat"/>
              </a:rPr>
              <a:t># Load model once at startup</a:t>
            </a:r>
          </a:p>
          <a:p>
            <a:pPr algn="just" marL="0" indent="0" lvl="0">
              <a:lnSpc>
                <a:spcPts val="3503"/>
              </a:lnSpc>
              <a:spcBef>
                <a:spcPct val="0"/>
              </a:spcBef>
            </a:pPr>
            <a:r>
              <a:rPr lang="en-US" sz="2274" strike="noStrike" u="none">
                <a:solidFill>
                  <a:srgbClr val="FF3131"/>
                </a:solidFill>
                <a:latin typeface="Montserrat"/>
                <a:ea typeface="Montserrat"/>
                <a:cs typeface="Montserrat"/>
                <a:sym typeface="Montserrat"/>
              </a:rPr>
              <a:t>whisper_model = whisper.load_model("base")</a:t>
            </a:r>
          </a:p>
          <a:p>
            <a:pPr algn="just" marL="0" indent="0" lvl="0">
              <a:lnSpc>
                <a:spcPts val="3503"/>
              </a:lnSpc>
              <a:spcBef>
                <a:spcPct val="0"/>
              </a:spcBef>
            </a:pPr>
            <a:r>
              <a:rPr lang="en-US" sz="2274" strike="noStrike" u="none">
                <a:solidFill>
                  <a:srgbClr val="FF3131"/>
                </a:solidFill>
                <a:latin typeface="Montserrat"/>
                <a:ea typeface="Montserrat"/>
                <a:cs typeface="Montserrat"/>
                <a:sym typeface="Montserrat"/>
              </a:rPr>
              <a:t># Transcribe audio</a:t>
            </a:r>
          </a:p>
          <a:p>
            <a:pPr algn="just" marL="0" indent="0" lvl="0">
              <a:lnSpc>
                <a:spcPts val="3503"/>
              </a:lnSpc>
              <a:spcBef>
                <a:spcPct val="0"/>
              </a:spcBef>
            </a:pPr>
            <a:r>
              <a:rPr lang="en-US" sz="2274" strike="noStrike" u="none">
                <a:solidFill>
                  <a:srgbClr val="FF3131"/>
                </a:solidFill>
                <a:latin typeface="Montserrat"/>
                <a:ea typeface="Montserrat"/>
                <a:cs typeface="Montserrat"/>
                <a:sym typeface="Montserrat"/>
              </a:rPr>
              <a:t>def transcribe_audio(audio_path):</a:t>
            </a:r>
          </a:p>
          <a:p>
            <a:pPr algn="just" marL="0" indent="0" lvl="0">
              <a:lnSpc>
                <a:spcPts val="3503"/>
              </a:lnSpc>
              <a:spcBef>
                <a:spcPct val="0"/>
              </a:spcBef>
            </a:pPr>
            <a:r>
              <a:rPr lang="en-US" sz="2274" strike="noStrike" u="none">
                <a:solidFill>
                  <a:srgbClr val="FF3131"/>
                </a:solidFill>
                <a:latin typeface="Montserrat"/>
                <a:ea typeface="Montserrat"/>
                <a:cs typeface="Montserrat"/>
                <a:sym typeface="Montserrat"/>
              </a:rPr>
              <a:t>    result = whisper_model.transcribe(audio_path)</a:t>
            </a:r>
          </a:p>
          <a:p>
            <a:pPr algn="just" marL="0" indent="0" lvl="0">
              <a:lnSpc>
                <a:spcPts val="3503"/>
              </a:lnSpc>
              <a:spcBef>
                <a:spcPct val="0"/>
              </a:spcBef>
            </a:pPr>
            <a:r>
              <a:rPr lang="en-US" sz="2274" strike="noStrike" u="none">
                <a:solidFill>
                  <a:srgbClr val="FF3131"/>
                </a:solidFill>
                <a:latin typeface="Montserrat"/>
                <a:ea typeface="Montserrat"/>
                <a:cs typeface="Montserrat"/>
                <a:sym typeface="Montserrat"/>
              </a:rPr>
              <a:t>    transcript = result.get("text", "").strip()</a:t>
            </a:r>
          </a:p>
          <a:p>
            <a:pPr algn="just" marL="0" indent="0" lvl="0">
              <a:lnSpc>
                <a:spcPts val="3503"/>
              </a:lnSpc>
              <a:spcBef>
                <a:spcPct val="0"/>
              </a:spcBef>
            </a:pPr>
            <a:r>
              <a:rPr lang="en-US" sz="2274" strike="noStrike" u="none">
                <a:solidFill>
                  <a:srgbClr val="FF3131"/>
                </a:solidFill>
                <a:latin typeface="Montserrat"/>
                <a:ea typeface="Montserrat"/>
                <a:cs typeface="Montserrat"/>
                <a:sym typeface="Montserrat"/>
              </a:rPr>
              <a:t>    return transcript</a:t>
            </a:r>
          </a:p>
        </p:txBody>
      </p:sp>
      <p:sp>
        <p:nvSpPr>
          <p:cNvPr name="Freeform 8" id="8"/>
          <p:cNvSpPr/>
          <p:nvPr/>
        </p:nvSpPr>
        <p:spPr>
          <a:xfrm flipH="false" flipV="false" rot="0">
            <a:off x="4262283" y="1127595"/>
            <a:ext cx="6802066" cy="1310944"/>
          </a:xfrm>
          <a:custGeom>
            <a:avLst/>
            <a:gdLst/>
            <a:ahLst/>
            <a:cxnLst/>
            <a:rect r="r" b="b" t="t" l="l"/>
            <a:pathLst>
              <a:path h="1310944" w="6802066">
                <a:moveTo>
                  <a:pt x="0" y="0"/>
                </a:moveTo>
                <a:lnTo>
                  <a:pt x="6802066" y="0"/>
                </a:lnTo>
                <a:lnTo>
                  <a:pt x="6802066" y="1310944"/>
                </a:lnTo>
                <a:lnTo>
                  <a:pt x="0" y="13109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5646784" y="1460804"/>
            <a:ext cx="4914903" cy="701698"/>
          </a:xfrm>
          <a:prstGeom prst="rect">
            <a:avLst/>
          </a:prstGeom>
        </p:spPr>
        <p:txBody>
          <a:bodyPr anchor="t" rtlCol="false" tIns="0" lIns="0" bIns="0" rIns="0">
            <a:spAutoFit/>
          </a:bodyPr>
          <a:lstStyle/>
          <a:p>
            <a:pPr algn="l">
              <a:lnSpc>
                <a:spcPts val="5350"/>
              </a:lnSpc>
            </a:pPr>
            <a:r>
              <a:rPr lang="en-US" sz="5000" b="true">
                <a:solidFill>
                  <a:srgbClr val="FCFEFF"/>
                </a:solidFill>
                <a:latin typeface="Aileron Bold"/>
                <a:ea typeface="Aileron Bold"/>
                <a:cs typeface="Aileron Bold"/>
                <a:sym typeface="Aileron Bold"/>
              </a:rPr>
              <a:t>Implementation</a:t>
            </a:r>
          </a:p>
        </p:txBody>
      </p:sp>
      <p:sp>
        <p:nvSpPr>
          <p:cNvPr name="TextBox 10" id="10"/>
          <p:cNvSpPr txBox="true"/>
          <p:nvPr/>
        </p:nvSpPr>
        <p:spPr>
          <a:xfrm rot="0">
            <a:off x="1018354" y="2683733"/>
            <a:ext cx="16240946" cy="606034"/>
          </a:xfrm>
          <a:prstGeom prst="rect">
            <a:avLst/>
          </a:prstGeom>
        </p:spPr>
        <p:txBody>
          <a:bodyPr anchor="t" rtlCol="false" tIns="0" lIns="0" bIns="0" rIns="0">
            <a:spAutoFit/>
          </a:bodyPr>
          <a:lstStyle/>
          <a:p>
            <a:pPr algn="l">
              <a:lnSpc>
                <a:spcPts val="4708"/>
              </a:lnSpc>
              <a:spcBef>
                <a:spcPct val="0"/>
              </a:spcBef>
            </a:pPr>
            <a:r>
              <a:rPr lang="en-US" b="true" sz="4400">
                <a:solidFill>
                  <a:srgbClr val="000000"/>
                </a:solidFill>
                <a:latin typeface="Montserrat Bold"/>
                <a:ea typeface="Montserrat Bold"/>
                <a:cs typeface="Montserrat Bold"/>
                <a:sym typeface="Montserrat Bold"/>
              </a:rPr>
              <a:t>Module 1: Speech Recognition</a:t>
            </a:r>
          </a:p>
        </p:txBody>
      </p:sp>
      <p:sp>
        <p:nvSpPr>
          <p:cNvPr name="TextBox 11" id="11"/>
          <p:cNvSpPr txBox="true"/>
          <p:nvPr/>
        </p:nvSpPr>
        <p:spPr>
          <a:xfrm rot="0">
            <a:off x="1028700" y="3508021"/>
            <a:ext cx="4799791" cy="400326"/>
          </a:xfrm>
          <a:prstGeom prst="rect">
            <a:avLst/>
          </a:prstGeom>
        </p:spPr>
        <p:txBody>
          <a:bodyPr anchor="t" rtlCol="false" tIns="0" lIns="0" bIns="0" rIns="0">
            <a:spAutoFit/>
          </a:bodyPr>
          <a:lstStyle/>
          <a:p>
            <a:pPr algn="ctr">
              <a:lnSpc>
                <a:spcPts val="3102"/>
              </a:lnSpc>
              <a:spcBef>
                <a:spcPct val="0"/>
              </a:spcBef>
            </a:pPr>
            <a:r>
              <a:rPr lang="en-US" b="true" sz="2899">
                <a:solidFill>
                  <a:srgbClr val="000000"/>
                </a:solidFill>
                <a:latin typeface="Montserrat Bold"/>
                <a:ea typeface="Montserrat Bold"/>
                <a:cs typeface="Montserrat Bold"/>
                <a:sym typeface="Montserrat Bold"/>
              </a:rPr>
              <a:t>Whisper ASR Integration</a:t>
            </a:r>
          </a:p>
        </p:txBody>
      </p:sp>
      <p:sp>
        <p:nvSpPr>
          <p:cNvPr name="TextBox 12" id="12"/>
          <p:cNvSpPr txBox="true"/>
          <p:nvPr/>
        </p:nvSpPr>
        <p:spPr>
          <a:xfrm rot="0">
            <a:off x="1018354" y="3973385"/>
            <a:ext cx="7685597" cy="741620"/>
          </a:xfrm>
          <a:prstGeom prst="rect">
            <a:avLst/>
          </a:prstGeom>
        </p:spPr>
        <p:txBody>
          <a:bodyPr anchor="t" rtlCol="false" tIns="0" lIns="0" bIns="0" rIns="0">
            <a:spAutoFit/>
          </a:bodyPr>
          <a:lstStyle/>
          <a:p>
            <a:pPr algn="ctr">
              <a:lnSpc>
                <a:spcPts val="2995"/>
              </a:lnSpc>
              <a:spcBef>
                <a:spcPct val="0"/>
              </a:spcBef>
            </a:pPr>
            <a:r>
              <a:rPr lang="en-US" sz="2799">
                <a:solidFill>
                  <a:srgbClr val="000000"/>
                </a:solidFill>
                <a:latin typeface="Montserrat"/>
                <a:ea typeface="Montserrat"/>
                <a:cs typeface="Montserrat"/>
                <a:sym typeface="Montserrat"/>
              </a:rPr>
              <a:t>Technology: OpenAI Whisper (base model) </a:t>
            </a:r>
          </a:p>
          <a:p>
            <a:pPr algn="l">
              <a:lnSpc>
                <a:spcPts val="2995"/>
              </a:lnSpc>
              <a:spcBef>
                <a:spcPct val="0"/>
              </a:spcBef>
            </a:pPr>
            <a:r>
              <a:rPr lang="en-US" sz="2799">
                <a:solidFill>
                  <a:srgbClr val="000000"/>
                </a:solidFill>
                <a:latin typeface="Montserrat"/>
                <a:ea typeface="Montserrat"/>
                <a:cs typeface="Montserrat"/>
                <a:sym typeface="Montserrat"/>
              </a:rPr>
              <a:t>Task: Convert child speech to text</a:t>
            </a:r>
          </a:p>
        </p:txBody>
      </p:sp>
      <p:sp>
        <p:nvSpPr>
          <p:cNvPr name="TextBox 13" id="13"/>
          <p:cNvSpPr txBox="true"/>
          <p:nvPr/>
        </p:nvSpPr>
        <p:spPr>
          <a:xfrm rot="0">
            <a:off x="1066320" y="4814409"/>
            <a:ext cx="13193992" cy="248737"/>
          </a:xfrm>
          <a:prstGeom prst="rect">
            <a:avLst/>
          </a:prstGeom>
        </p:spPr>
        <p:txBody>
          <a:bodyPr anchor="t" rtlCol="false" tIns="0" lIns="0" bIns="0" rIns="0">
            <a:spAutoFit/>
          </a:bodyPr>
          <a:lstStyle/>
          <a:p>
            <a:pPr algn="l">
              <a:lnSpc>
                <a:spcPts val="1926"/>
              </a:lnSpc>
              <a:spcBef>
                <a:spcPct val="0"/>
              </a:spcBef>
            </a:pPr>
            <a:r>
              <a:rPr lang="en-US" b="true" sz="1800">
                <a:solidFill>
                  <a:srgbClr val="000000"/>
                </a:solidFill>
                <a:latin typeface="Montserrat Bold"/>
                <a:ea typeface="Montserrat Bold"/>
                <a:cs typeface="Montserrat Bold"/>
                <a:sym typeface="Montserrat Bold"/>
              </a:rPr>
              <a:t>Implementation:</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144000" y="1355173"/>
            <a:ext cx="10042068" cy="6664282"/>
          </a:xfrm>
          <a:custGeom>
            <a:avLst/>
            <a:gdLst/>
            <a:ahLst/>
            <a:cxnLst/>
            <a:rect r="r" b="b" t="t" l="l"/>
            <a:pathLst>
              <a:path h="6664282" w="10042068">
                <a:moveTo>
                  <a:pt x="0" y="6664282"/>
                </a:moveTo>
                <a:lnTo>
                  <a:pt x="10042068" y="6664282"/>
                </a:lnTo>
                <a:lnTo>
                  <a:pt x="10042068" y="0"/>
                </a:lnTo>
                <a:lnTo>
                  <a:pt x="0" y="0"/>
                </a:lnTo>
                <a:lnTo>
                  <a:pt x="0" y="6664282"/>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898068" y="2179650"/>
            <a:ext cx="10042068" cy="6664282"/>
          </a:xfrm>
          <a:custGeom>
            <a:avLst/>
            <a:gdLst/>
            <a:ahLst/>
            <a:cxnLst/>
            <a:rect r="r" b="b" t="t" l="l"/>
            <a:pathLst>
              <a:path h="6664282" w="10042068">
                <a:moveTo>
                  <a:pt x="10042068" y="0"/>
                </a:moveTo>
                <a:lnTo>
                  <a:pt x="0" y="0"/>
                </a:lnTo>
                <a:lnTo>
                  <a:pt x="0" y="6664282"/>
                </a:lnTo>
                <a:lnTo>
                  <a:pt x="10042068" y="6664282"/>
                </a:lnTo>
                <a:lnTo>
                  <a:pt x="10042068"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11278" y="4982792"/>
            <a:ext cx="4216232" cy="2798045"/>
          </a:xfrm>
          <a:custGeom>
            <a:avLst/>
            <a:gdLst/>
            <a:ahLst/>
            <a:cxnLst/>
            <a:rect r="r" b="b" t="t" l="l"/>
            <a:pathLst>
              <a:path h="2798045" w="4216232">
                <a:moveTo>
                  <a:pt x="0" y="0"/>
                </a:moveTo>
                <a:lnTo>
                  <a:pt x="4216232" y="0"/>
                </a:lnTo>
                <a:lnTo>
                  <a:pt x="4216232" y="2798045"/>
                </a:lnTo>
                <a:lnTo>
                  <a:pt x="0" y="2798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05789" y="-488243"/>
            <a:ext cx="5381659" cy="4060706"/>
          </a:xfrm>
          <a:custGeom>
            <a:avLst/>
            <a:gdLst/>
            <a:ahLst/>
            <a:cxnLst/>
            <a:rect r="r" b="b" t="t" l="l"/>
            <a:pathLst>
              <a:path h="4060706" w="5381659">
                <a:moveTo>
                  <a:pt x="0" y="0"/>
                </a:moveTo>
                <a:lnTo>
                  <a:pt x="5381659" y="0"/>
                </a:lnTo>
                <a:lnTo>
                  <a:pt x="5381659" y="4060707"/>
                </a:lnTo>
                <a:lnTo>
                  <a:pt x="0" y="4060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3031403" y="6736988"/>
            <a:ext cx="5581585" cy="4211560"/>
          </a:xfrm>
          <a:custGeom>
            <a:avLst/>
            <a:gdLst/>
            <a:ahLst/>
            <a:cxnLst/>
            <a:rect r="r" b="b" t="t" l="l"/>
            <a:pathLst>
              <a:path h="4211560" w="5581585">
                <a:moveTo>
                  <a:pt x="5581585" y="4211560"/>
                </a:moveTo>
                <a:lnTo>
                  <a:pt x="0" y="4211560"/>
                </a:lnTo>
                <a:lnTo>
                  <a:pt x="0" y="0"/>
                </a:lnTo>
                <a:lnTo>
                  <a:pt x="5581585" y="0"/>
                </a:lnTo>
                <a:lnTo>
                  <a:pt x="5581585" y="42115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262283" y="1127595"/>
            <a:ext cx="6802066" cy="1310944"/>
          </a:xfrm>
          <a:custGeom>
            <a:avLst/>
            <a:gdLst/>
            <a:ahLst/>
            <a:cxnLst/>
            <a:rect r="r" b="b" t="t" l="l"/>
            <a:pathLst>
              <a:path h="1310944" w="6802066">
                <a:moveTo>
                  <a:pt x="0" y="0"/>
                </a:moveTo>
                <a:lnTo>
                  <a:pt x="6802066" y="0"/>
                </a:lnTo>
                <a:lnTo>
                  <a:pt x="6802066" y="1310944"/>
                </a:lnTo>
                <a:lnTo>
                  <a:pt x="0" y="13109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5646784" y="1460804"/>
            <a:ext cx="4914903" cy="701698"/>
          </a:xfrm>
          <a:prstGeom prst="rect">
            <a:avLst/>
          </a:prstGeom>
        </p:spPr>
        <p:txBody>
          <a:bodyPr anchor="t" rtlCol="false" tIns="0" lIns="0" bIns="0" rIns="0">
            <a:spAutoFit/>
          </a:bodyPr>
          <a:lstStyle/>
          <a:p>
            <a:pPr algn="l">
              <a:lnSpc>
                <a:spcPts val="5350"/>
              </a:lnSpc>
            </a:pPr>
            <a:r>
              <a:rPr lang="en-US" sz="5000" b="true">
                <a:solidFill>
                  <a:srgbClr val="FCFEFF"/>
                </a:solidFill>
                <a:latin typeface="Aileron Bold"/>
                <a:ea typeface="Aileron Bold"/>
                <a:cs typeface="Aileron Bold"/>
                <a:sym typeface="Aileron Bold"/>
              </a:rPr>
              <a:t>Implementation</a:t>
            </a:r>
          </a:p>
        </p:txBody>
      </p:sp>
      <p:sp>
        <p:nvSpPr>
          <p:cNvPr name="TextBox 9" id="9"/>
          <p:cNvSpPr txBox="true"/>
          <p:nvPr/>
        </p:nvSpPr>
        <p:spPr>
          <a:xfrm rot="0">
            <a:off x="1018354" y="2683733"/>
            <a:ext cx="16240946" cy="606034"/>
          </a:xfrm>
          <a:prstGeom prst="rect">
            <a:avLst/>
          </a:prstGeom>
        </p:spPr>
        <p:txBody>
          <a:bodyPr anchor="t" rtlCol="false" tIns="0" lIns="0" bIns="0" rIns="0">
            <a:spAutoFit/>
          </a:bodyPr>
          <a:lstStyle/>
          <a:p>
            <a:pPr algn="l">
              <a:lnSpc>
                <a:spcPts val="4708"/>
              </a:lnSpc>
              <a:spcBef>
                <a:spcPct val="0"/>
              </a:spcBef>
            </a:pPr>
            <a:r>
              <a:rPr lang="en-US" b="true" sz="4400">
                <a:solidFill>
                  <a:srgbClr val="000000"/>
                </a:solidFill>
                <a:latin typeface="Montserrat Bold"/>
                <a:ea typeface="Montserrat Bold"/>
                <a:cs typeface="Montserrat Bold"/>
                <a:sym typeface="Montserrat Bold"/>
              </a:rPr>
              <a:t>Module 1: Speech Recognition</a:t>
            </a:r>
          </a:p>
        </p:txBody>
      </p:sp>
      <p:sp>
        <p:nvSpPr>
          <p:cNvPr name="TextBox 10" id="10"/>
          <p:cNvSpPr txBox="true"/>
          <p:nvPr/>
        </p:nvSpPr>
        <p:spPr>
          <a:xfrm rot="0">
            <a:off x="1028700" y="3687067"/>
            <a:ext cx="12967554" cy="5571233"/>
          </a:xfrm>
          <a:prstGeom prst="rect">
            <a:avLst/>
          </a:prstGeom>
        </p:spPr>
        <p:txBody>
          <a:bodyPr anchor="t" rtlCol="false" tIns="0" lIns="0" bIns="0" rIns="0">
            <a:spAutoFit/>
          </a:bodyPr>
          <a:lstStyle/>
          <a:p>
            <a:pPr algn="just">
              <a:lnSpc>
                <a:spcPts val="2995"/>
              </a:lnSpc>
              <a:spcBef>
                <a:spcPct val="0"/>
              </a:spcBef>
            </a:pPr>
            <a:r>
              <a:rPr lang="en-US" sz="2799">
                <a:solidFill>
                  <a:srgbClr val="000000"/>
                </a:solidFill>
                <a:latin typeface="Montserrat"/>
                <a:ea typeface="Montserrat"/>
                <a:cs typeface="Montserrat"/>
                <a:sym typeface="Montserrat"/>
              </a:rPr>
              <a:t>K</a:t>
            </a:r>
            <a:r>
              <a:rPr lang="en-US" sz="2799">
                <a:solidFill>
                  <a:srgbClr val="000000"/>
                </a:solidFill>
                <a:latin typeface="Montserrat"/>
                <a:ea typeface="Montserrat"/>
                <a:cs typeface="Montserrat"/>
                <a:sym typeface="Montserrat"/>
              </a:rPr>
              <a:t>ey Features:</a:t>
            </a:r>
          </a:p>
          <a:p>
            <a:pPr algn="just" marL="604519" indent="-302260" lvl="1">
              <a:lnSpc>
                <a:spcPts val="2995"/>
              </a:lnSpc>
              <a:spcBef>
                <a:spcPct val="0"/>
              </a:spcBef>
              <a:buFont typeface="Arial"/>
              <a:buChar char="•"/>
            </a:pPr>
            <a:r>
              <a:rPr lang="en-US" sz="2799">
                <a:solidFill>
                  <a:srgbClr val="000000"/>
                </a:solidFill>
                <a:latin typeface="Montserrat"/>
                <a:ea typeface="Montserrat"/>
                <a:cs typeface="Montserrat"/>
                <a:sym typeface="Montserrat"/>
              </a:rPr>
              <a:t>Multi-language support (English primary)</a:t>
            </a:r>
          </a:p>
          <a:p>
            <a:pPr algn="just" marL="604519" indent="-302260" lvl="1">
              <a:lnSpc>
                <a:spcPts val="2995"/>
              </a:lnSpc>
              <a:spcBef>
                <a:spcPct val="0"/>
              </a:spcBef>
              <a:buFont typeface="Arial"/>
              <a:buChar char="•"/>
            </a:pPr>
            <a:r>
              <a:rPr lang="en-US" sz="2799">
                <a:solidFill>
                  <a:srgbClr val="000000"/>
                </a:solidFill>
                <a:latin typeface="Montserrat"/>
                <a:ea typeface="Montserrat"/>
                <a:cs typeface="Montserrat"/>
                <a:sym typeface="Montserrat"/>
              </a:rPr>
              <a:t>Optimized for varied audio quality</a:t>
            </a:r>
          </a:p>
          <a:p>
            <a:pPr algn="just" marL="604519" indent="-302260" lvl="1">
              <a:lnSpc>
                <a:spcPts val="2995"/>
              </a:lnSpc>
              <a:spcBef>
                <a:spcPct val="0"/>
              </a:spcBef>
              <a:buFont typeface="Arial"/>
              <a:buChar char="•"/>
            </a:pPr>
            <a:r>
              <a:rPr lang="en-US" sz="2799">
                <a:solidFill>
                  <a:srgbClr val="000000"/>
                </a:solidFill>
                <a:latin typeface="Montserrat"/>
                <a:ea typeface="Montserrat"/>
                <a:cs typeface="Montserrat"/>
                <a:sym typeface="Montserrat"/>
              </a:rPr>
              <a:t>Handles age-specific speech patterns</a:t>
            </a:r>
          </a:p>
          <a:p>
            <a:pPr algn="just">
              <a:lnSpc>
                <a:spcPts val="2995"/>
              </a:lnSpc>
              <a:spcBef>
                <a:spcPct val="0"/>
              </a:spcBef>
            </a:pPr>
          </a:p>
          <a:p>
            <a:pPr algn="just">
              <a:lnSpc>
                <a:spcPts val="2995"/>
              </a:lnSpc>
              <a:spcBef>
                <a:spcPct val="0"/>
              </a:spcBef>
            </a:pPr>
            <a:r>
              <a:rPr lang="en-US" sz="2799">
                <a:solidFill>
                  <a:srgbClr val="000000"/>
                </a:solidFill>
                <a:latin typeface="Montserrat"/>
                <a:ea typeface="Montserrat"/>
                <a:cs typeface="Montserrat"/>
                <a:sym typeface="Montserrat"/>
              </a:rPr>
              <a:t>Performance Metrics:</a:t>
            </a:r>
          </a:p>
          <a:p>
            <a:pPr algn="just" marL="604519" indent="-302260" lvl="1">
              <a:lnSpc>
                <a:spcPts val="2995"/>
              </a:lnSpc>
              <a:spcBef>
                <a:spcPct val="0"/>
              </a:spcBef>
              <a:buFont typeface="Arial"/>
              <a:buChar char="•"/>
            </a:pPr>
            <a:r>
              <a:rPr lang="en-US" sz="2799">
                <a:solidFill>
                  <a:srgbClr val="000000"/>
                </a:solidFill>
                <a:latin typeface="Montserrat"/>
                <a:ea typeface="Montserrat"/>
                <a:cs typeface="Montserrat"/>
                <a:sym typeface="Montserrat"/>
              </a:rPr>
              <a:t>Average accuracy: 88.2% on child speech</a:t>
            </a:r>
          </a:p>
          <a:p>
            <a:pPr algn="just" marL="604519" indent="-302260" lvl="1">
              <a:lnSpc>
                <a:spcPts val="2995"/>
              </a:lnSpc>
              <a:spcBef>
                <a:spcPct val="0"/>
              </a:spcBef>
              <a:buFont typeface="Arial"/>
              <a:buChar char="•"/>
            </a:pPr>
            <a:r>
              <a:rPr lang="en-US" sz="2799">
                <a:solidFill>
                  <a:srgbClr val="000000"/>
                </a:solidFill>
                <a:latin typeface="Montserrat"/>
                <a:ea typeface="Montserrat"/>
                <a:cs typeface="Montserrat"/>
                <a:sym typeface="Montserrat"/>
              </a:rPr>
              <a:t>Processing time: 2-4 seconds per utterance</a:t>
            </a:r>
          </a:p>
          <a:p>
            <a:pPr algn="just" marL="604519" indent="-302260" lvl="1">
              <a:lnSpc>
                <a:spcPts val="2995"/>
              </a:lnSpc>
              <a:spcBef>
                <a:spcPct val="0"/>
              </a:spcBef>
              <a:buFont typeface="Arial"/>
              <a:buChar char="•"/>
            </a:pPr>
            <a:r>
              <a:rPr lang="en-US" sz="2799">
                <a:solidFill>
                  <a:srgbClr val="000000"/>
                </a:solidFill>
                <a:latin typeface="Montserrat"/>
                <a:ea typeface="Montserrat"/>
                <a:cs typeface="Montserrat"/>
                <a:sym typeface="Montserrat"/>
              </a:rPr>
              <a:t>Noise tolerance: Moderate (5-12% accuracy drop with noise)</a:t>
            </a:r>
          </a:p>
          <a:p>
            <a:pPr algn="just">
              <a:lnSpc>
                <a:spcPts val="2995"/>
              </a:lnSpc>
              <a:spcBef>
                <a:spcPct val="0"/>
              </a:spcBef>
            </a:pPr>
          </a:p>
          <a:p>
            <a:pPr algn="just">
              <a:lnSpc>
                <a:spcPts val="2995"/>
              </a:lnSpc>
              <a:spcBef>
                <a:spcPct val="0"/>
              </a:spcBef>
            </a:pPr>
            <a:r>
              <a:rPr lang="en-US" sz="2799">
                <a:solidFill>
                  <a:srgbClr val="000000"/>
                </a:solidFill>
                <a:latin typeface="Montserrat"/>
                <a:ea typeface="Montserrat"/>
                <a:cs typeface="Montserrat"/>
                <a:sym typeface="Montserrat"/>
              </a:rPr>
              <a:t>Challenges Addressed:</a:t>
            </a:r>
          </a:p>
          <a:p>
            <a:pPr algn="just" marL="604519" indent="-302260" lvl="1">
              <a:lnSpc>
                <a:spcPts val="2995"/>
              </a:lnSpc>
              <a:spcBef>
                <a:spcPct val="0"/>
              </a:spcBef>
              <a:buFont typeface="Arial"/>
              <a:buChar char="•"/>
            </a:pPr>
            <a:r>
              <a:rPr lang="en-US" sz="2799">
                <a:solidFill>
                  <a:srgbClr val="000000"/>
                </a:solidFill>
                <a:latin typeface="Montserrat"/>
                <a:ea typeface="Montserrat"/>
                <a:cs typeface="Montserrat"/>
                <a:sym typeface="Montserrat"/>
              </a:rPr>
              <a:t>Soft consonant detection (/r/, /l/, /w/)</a:t>
            </a:r>
          </a:p>
          <a:p>
            <a:pPr algn="just" marL="604519" indent="-302260" lvl="1">
              <a:lnSpc>
                <a:spcPts val="2995"/>
              </a:lnSpc>
              <a:spcBef>
                <a:spcPct val="0"/>
              </a:spcBef>
              <a:buFont typeface="Arial"/>
              <a:buChar char="•"/>
            </a:pPr>
            <a:r>
              <a:rPr lang="en-US" sz="2799">
                <a:solidFill>
                  <a:srgbClr val="000000"/>
                </a:solidFill>
                <a:latin typeface="Montserrat"/>
                <a:ea typeface="Montserrat"/>
                <a:cs typeface="Montserrat"/>
                <a:sym typeface="Montserrat"/>
              </a:rPr>
              <a:t>Background noise filtering</a:t>
            </a:r>
          </a:p>
          <a:p>
            <a:pPr algn="just" marL="604519" indent="-302260" lvl="1">
              <a:lnSpc>
                <a:spcPts val="2995"/>
              </a:lnSpc>
              <a:spcBef>
                <a:spcPct val="0"/>
              </a:spcBef>
              <a:buFont typeface="Arial"/>
              <a:buChar char="•"/>
            </a:pPr>
            <a:r>
              <a:rPr lang="en-US" sz="2799">
                <a:solidFill>
                  <a:srgbClr val="000000"/>
                </a:solidFill>
                <a:latin typeface="Montserrat"/>
                <a:ea typeface="Montserrat"/>
                <a:cs typeface="Montserrat"/>
                <a:sym typeface="Montserrat"/>
              </a:rPr>
              <a:t>Variable speech clarity</a:t>
            </a:r>
          </a:p>
          <a:p>
            <a:pPr algn="just">
              <a:lnSpc>
                <a:spcPts val="2995"/>
              </a:lnSpc>
              <a:spcBef>
                <a:spcPct val="0"/>
              </a:spcBef>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144000" y="1355173"/>
            <a:ext cx="10042068" cy="6664282"/>
          </a:xfrm>
          <a:custGeom>
            <a:avLst/>
            <a:gdLst/>
            <a:ahLst/>
            <a:cxnLst/>
            <a:rect r="r" b="b" t="t" l="l"/>
            <a:pathLst>
              <a:path h="6664282" w="10042068">
                <a:moveTo>
                  <a:pt x="0" y="6664282"/>
                </a:moveTo>
                <a:lnTo>
                  <a:pt x="10042068" y="6664282"/>
                </a:lnTo>
                <a:lnTo>
                  <a:pt x="10042068" y="0"/>
                </a:lnTo>
                <a:lnTo>
                  <a:pt x="0" y="0"/>
                </a:lnTo>
                <a:lnTo>
                  <a:pt x="0" y="6664282"/>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898068" y="2179650"/>
            <a:ext cx="10042068" cy="6664282"/>
          </a:xfrm>
          <a:custGeom>
            <a:avLst/>
            <a:gdLst/>
            <a:ahLst/>
            <a:cxnLst/>
            <a:rect r="r" b="b" t="t" l="l"/>
            <a:pathLst>
              <a:path h="6664282" w="10042068">
                <a:moveTo>
                  <a:pt x="10042068" y="0"/>
                </a:moveTo>
                <a:lnTo>
                  <a:pt x="0" y="0"/>
                </a:lnTo>
                <a:lnTo>
                  <a:pt x="0" y="6664282"/>
                </a:lnTo>
                <a:lnTo>
                  <a:pt x="10042068" y="6664282"/>
                </a:lnTo>
                <a:lnTo>
                  <a:pt x="10042068"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11278" y="4982792"/>
            <a:ext cx="4216232" cy="2798045"/>
          </a:xfrm>
          <a:custGeom>
            <a:avLst/>
            <a:gdLst/>
            <a:ahLst/>
            <a:cxnLst/>
            <a:rect r="r" b="b" t="t" l="l"/>
            <a:pathLst>
              <a:path h="2798045" w="4216232">
                <a:moveTo>
                  <a:pt x="0" y="0"/>
                </a:moveTo>
                <a:lnTo>
                  <a:pt x="4216232" y="0"/>
                </a:lnTo>
                <a:lnTo>
                  <a:pt x="4216232" y="2798045"/>
                </a:lnTo>
                <a:lnTo>
                  <a:pt x="0" y="2798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05789" y="-488243"/>
            <a:ext cx="5381659" cy="4060706"/>
          </a:xfrm>
          <a:custGeom>
            <a:avLst/>
            <a:gdLst/>
            <a:ahLst/>
            <a:cxnLst/>
            <a:rect r="r" b="b" t="t" l="l"/>
            <a:pathLst>
              <a:path h="4060706" w="5381659">
                <a:moveTo>
                  <a:pt x="0" y="0"/>
                </a:moveTo>
                <a:lnTo>
                  <a:pt x="5381659" y="0"/>
                </a:lnTo>
                <a:lnTo>
                  <a:pt x="5381659" y="4060707"/>
                </a:lnTo>
                <a:lnTo>
                  <a:pt x="0" y="4060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3031403" y="6736988"/>
            <a:ext cx="5581585" cy="4211560"/>
          </a:xfrm>
          <a:custGeom>
            <a:avLst/>
            <a:gdLst/>
            <a:ahLst/>
            <a:cxnLst/>
            <a:rect r="r" b="b" t="t" l="l"/>
            <a:pathLst>
              <a:path h="4211560" w="5581585">
                <a:moveTo>
                  <a:pt x="5581585" y="4211560"/>
                </a:moveTo>
                <a:lnTo>
                  <a:pt x="0" y="4211560"/>
                </a:lnTo>
                <a:lnTo>
                  <a:pt x="0" y="0"/>
                </a:lnTo>
                <a:lnTo>
                  <a:pt x="5581585" y="0"/>
                </a:lnTo>
                <a:lnTo>
                  <a:pt x="5581585" y="42115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262283" y="1127595"/>
            <a:ext cx="6802066" cy="1310944"/>
          </a:xfrm>
          <a:custGeom>
            <a:avLst/>
            <a:gdLst/>
            <a:ahLst/>
            <a:cxnLst/>
            <a:rect r="r" b="b" t="t" l="l"/>
            <a:pathLst>
              <a:path h="1310944" w="6802066">
                <a:moveTo>
                  <a:pt x="0" y="0"/>
                </a:moveTo>
                <a:lnTo>
                  <a:pt x="6802066" y="0"/>
                </a:lnTo>
                <a:lnTo>
                  <a:pt x="6802066" y="1310944"/>
                </a:lnTo>
                <a:lnTo>
                  <a:pt x="0" y="13109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3488198" y="3289766"/>
            <a:ext cx="11301259" cy="6356958"/>
          </a:xfrm>
          <a:custGeom>
            <a:avLst/>
            <a:gdLst/>
            <a:ahLst/>
            <a:cxnLst/>
            <a:rect r="r" b="b" t="t" l="l"/>
            <a:pathLst>
              <a:path h="6356958" w="11301259">
                <a:moveTo>
                  <a:pt x="0" y="0"/>
                </a:moveTo>
                <a:lnTo>
                  <a:pt x="11301259" y="0"/>
                </a:lnTo>
                <a:lnTo>
                  <a:pt x="11301259" y="6356958"/>
                </a:lnTo>
                <a:lnTo>
                  <a:pt x="0" y="6356958"/>
                </a:lnTo>
                <a:lnTo>
                  <a:pt x="0" y="0"/>
                </a:lnTo>
                <a:close/>
              </a:path>
            </a:pathLst>
          </a:custGeom>
          <a:blipFill>
            <a:blip r:embed="rId8"/>
            <a:stretch>
              <a:fillRect l="0" t="0" r="0" b="0"/>
            </a:stretch>
          </a:blipFill>
        </p:spPr>
      </p:sp>
      <p:sp>
        <p:nvSpPr>
          <p:cNvPr name="TextBox 9" id="9"/>
          <p:cNvSpPr txBox="true"/>
          <p:nvPr/>
        </p:nvSpPr>
        <p:spPr>
          <a:xfrm rot="0">
            <a:off x="5646784" y="1460804"/>
            <a:ext cx="4914903" cy="701698"/>
          </a:xfrm>
          <a:prstGeom prst="rect">
            <a:avLst/>
          </a:prstGeom>
        </p:spPr>
        <p:txBody>
          <a:bodyPr anchor="t" rtlCol="false" tIns="0" lIns="0" bIns="0" rIns="0">
            <a:spAutoFit/>
          </a:bodyPr>
          <a:lstStyle/>
          <a:p>
            <a:pPr algn="l">
              <a:lnSpc>
                <a:spcPts val="5350"/>
              </a:lnSpc>
            </a:pPr>
            <a:r>
              <a:rPr lang="en-US" sz="5000" b="true">
                <a:solidFill>
                  <a:srgbClr val="FCFEFF"/>
                </a:solidFill>
                <a:latin typeface="Aileron Bold"/>
                <a:ea typeface="Aileron Bold"/>
                <a:cs typeface="Aileron Bold"/>
                <a:sym typeface="Aileron Bold"/>
              </a:rPr>
              <a:t>Implementation</a:t>
            </a:r>
          </a:p>
        </p:txBody>
      </p:sp>
      <p:sp>
        <p:nvSpPr>
          <p:cNvPr name="TextBox 10" id="10"/>
          <p:cNvSpPr txBox="true"/>
          <p:nvPr/>
        </p:nvSpPr>
        <p:spPr>
          <a:xfrm rot="0">
            <a:off x="1018354" y="2683733"/>
            <a:ext cx="16240946" cy="606034"/>
          </a:xfrm>
          <a:prstGeom prst="rect">
            <a:avLst/>
          </a:prstGeom>
        </p:spPr>
        <p:txBody>
          <a:bodyPr anchor="t" rtlCol="false" tIns="0" lIns="0" bIns="0" rIns="0">
            <a:spAutoFit/>
          </a:bodyPr>
          <a:lstStyle/>
          <a:p>
            <a:pPr algn="l">
              <a:lnSpc>
                <a:spcPts val="4708"/>
              </a:lnSpc>
              <a:spcBef>
                <a:spcPct val="0"/>
              </a:spcBef>
            </a:pPr>
            <a:r>
              <a:rPr lang="en-US" b="true" sz="4400">
                <a:solidFill>
                  <a:srgbClr val="000000"/>
                </a:solidFill>
                <a:latin typeface="Montserrat Bold"/>
                <a:ea typeface="Montserrat Bold"/>
                <a:cs typeface="Montserrat Bold"/>
                <a:sym typeface="Montserrat Bold"/>
              </a:rPr>
              <a:t>Module 1: Speech Recognition</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144000" y="1355173"/>
            <a:ext cx="10042068" cy="6664282"/>
          </a:xfrm>
          <a:custGeom>
            <a:avLst/>
            <a:gdLst/>
            <a:ahLst/>
            <a:cxnLst/>
            <a:rect r="r" b="b" t="t" l="l"/>
            <a:pathLst>
              <a:path h="6664282" w="10042068">
                <a:moveTo>
                  <a:pt x="0" y="6664282"/>
                </a:moveTo>
                <a:lnTo>
                  <a:pt x="10042068" y="6664282"/>
                </a:lnTo>
                <a:lnTo>
                  <a:pt x="10042068" y="0"/>
                </a:lnTo>
                <a:lnTo>
                  <a:pt x="0" y="0"/>
                </a:lnTo>
                <a:lnTo>
                  <a:pt x="0" y="6664282"/>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898068" y="2179650"/>
            <a:ext cx="10042068" cy="6664282"/>
          </a:xfrm>
          <a:custGeom>
            <a:avLst/>
            <a:gdLst/>
            <a:ahLst/>
            <a:cxnLst/>
            <a:rect r="r" b="b" t="t" l="l"/>
            <a:pathLst>
              <a:path h="6664282" w="10042068">
                <a:moveTo>
                  <a:pt x="10042068" y="0"/>
                </a:moveTo>
                <a:lnTo>
                  <a:pt x="0" y="0"/>
                </a:lnTo>
                <a:lnTo>
                  <a:pt x="0" y="6664282"/>
                </a:lnTo>
                <a:lnTo>
                  <a:pt x="10042068" y="6664282"/>
                </a:lnTo>
                <a:lnTo>
                  <a:pt x="10042068"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11278" y="4982792"/>
            <a:ext cx="4216232" cy="2798045"/>
          </a:xfrm>
          <a:custGeom>
            <a:avLst/>
            <a:gdLst/>
            <a:ahLst/>
            <a:cxnLst/>
            <a:rect r="r" b="b" t="t" l="l"/>
            <a:pathLst>
              <a:path h="2798045" w="4216232">
                <a:moveTo>
                  <a:pt x="0" y="0"/>
                </a:moveTo>
                <a:lnTo>
                  <a:pt x="4216232" y="0"/>
                </a:lnTo>
                <a:lnTo>
                  <a:pt x="4216232" y="2798045"/>
                </a:lnTo>
                <a:lnTo>
                  <a:pt x="0" y="2798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05789" y="-488243"/>
            <a:ext cx="5381659" cy="4060706"/>
          </a:xfrm>
          <a:custGeom>
            <a:avLst/>
            <a:gdLst/>
            <a:ahLst/>
            <a:cxnLst/>
            <a:rect r="r" b="b" t="t" l="l"/>
            <a:pathLst>
              <a:path h="4060706" w="5381659">
                <a:moveTo>
                  <a:pt x="0" y="0"/>
                </a:moveTo>
                <a:lnTo>
                  <a:pt x="5381659" y="0"/>
                </a:lnTo>
                <a:lnTo>
                  <a:pt x="5381659" y="4060707"/>
                </a:lnTo>
                <a:lnTo>
                  <a:pt x="0" y="4060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3031403" y="6736988"/>
            <a:ext cx="5581585" cy="4211560"/>
          </a:xfrm>
          <a:custGeom>
            <a:avLst/>
            <a:gdLst/>
            <a:ahLst/>
            <a:cxnLst/>
            <a:rect r="r" b="b" t="t" l="l"/>
            <a:pathLst>
              <a:path h="4211560" w="5581585">
                <a:moveTo>
                  <a:pt x="5581585" y="4211560"/>
                </a:moveTo>
                <a:lnTo>
                  <a:pt x="0" y="4211560"/>
                </a:lnTo>
                <a:lnTo>
                  <a:pt x="0" y="0"/>
                </a:lnTo>
                <a:lnTo>
                  <a:pt x="5581585" y="0"/>
                </a:lnTo>
                <a:lnTo>
                  <a:pt x="5581585" y="4211560"/>
                </a:lnTo>
                <a:close/>
              </a:path>
            </a:pathLst>
          </a:custGeom>
          <a:blipFill>
            <a:blip r:embed="rId4">
              <a:alphaModFix amt="18000"/>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8967377" y="2881974"/>
            <a:ext cx="13193992" cy="7034177"/>
          </a:xfrm>
          <a:prstGeom prst="rect">
            <a:avLst/>
          </a:prstGeom>
        </p:spPr>
        <p:txBody>
          <a:bodyPr anchor="t" rtlCol="false" tIns="0" lIns="0" bIns="0" rIns="0">
            <a:spAutoFit/>
          </a:bodyPr>
          <a:lstStyle/>
          <a:p>
            <a:pPr algn="just" marL="0" indent="0" lvl="0">
              <a:lnSpc>
                <a:spcPts val="3503"/>
              </a:lnSpc>
              <a:spcBef>
                <a:spcPct val="0"/>
              </a:spcBef>
            </a:pPr>
            <a:r>
              <a:rPr lang="en-US" sz="2274" strike="noStrike" u="none">
                <a:solidFill>
                  <a:srgbClr val="FF3131"/>
                </a:solidFill>
                <a:latin typeface="Montserrat"/>
                <a:ea typeface="Montserrat"/>
                <a:cs typeface="Montserrat"/>
                <a:sym typeface="Montserrat"/>
              </a:rPr>
              <a:t>import </a:t>
            </a:r>
            <a:r>
              <a:rPr lang="en-US" sz="2274" strike="noStrike" u="none">
                <a:solidFill>
                  <a:srgbClr val="FF3131"/>
                </a:solidFill>
                <a:latin typeface="Montserrat"/>
                <a:ea typeface="Montserrat"/>
                <a:cs typeface="Montserrat"/>
                <a:sym typeface="Montserrat"/>
              </a:rPr>
              <a:t>google.generat</a:t>
            </a:r>
            <a:r>
              <a:rPr lang="en-US" sz="2274" strike="noStrike" u="none">
                <a:solidFill>
                  <a:srgbClr val="FF3131"/>
                </a:solidFill>
                <a:latin typeface="Montserrat"/>
                <a:ea typeface="Montserrat"/>
                <a:cs typeface="Montserrat"/>
                <a:sym typeface="Montserrat"/>
              </a:rPr>
              <a:t>i</a:t>
            </a:r>
            <a:r>
              <a:rPr lang="en-US" sz="2274" strike="noStrike" u="none">
                <a:solidFill>
                  <a:srgbClr val="FF3131"/>
                </a:solidFill>
                <a:latin typeface="Montserrat"/>
                <a:ea typeface="Montserrat"/>
                <a:cs typeface="Montserrat"/>
                <a:sym typeface="Montserrat"/>
              </a:rPr>
              <a:t>veai a</a:t>
            </a:r>
            <a:r>
              <a:rPr lang="en-US" sz="2274" strike="noStrike" u="none">
                <a:solidFill>
                  <a:srgbClr val="FF3131"/>
                </a:solidFill>
                <a:latin typeface="Montserrat"/>
                <a:ea typeface="Montserrat"/>
                <a:cs typeface="Montserrat"/>
                <a:sym typeface="Montserrat"/>
              </a:rPr>
              <a:t>s</a:t>
            </a:r>
            <a:r>
              <a:rPr lang="en-US" sz="2274" strike="noStrike" u="none">
                <a:solidFill>
                  <a:srgbClr val="FF3131"/>
                </a:solidFill>
                <a:latin typeface="Montserrat"/>
                <a:ea typeface="Montserrat"/>
                <a:cs typeface="Montserrat"/>
                <a:sym typeface="Montserrat"/>
              </a:rPr>
              <a:t> g</a:t>
            </a:r>
            <a:r>
              <a:rPr lang="en-US" sz="2274" strike="noStrike" u="none">
                <a:solidFill>
                  <a:srgbClr val="FF3131"/>
                </a:solidFill>
                <a:latin typeface="Montserrat"/>
                <a:ea typeface="Montserrat"/>
                <a:cs typeface="Montserrat"/>
                <a:sym typeface="Montserrat"/>
              </a:rPr>
              <a:t>e</a:t>
            </a:r>
            <a:r>
              <a:rPr lang="en-US" sz="2274" strike="noStrike" u="none">
                <a:solidFill>
                  <a:srgbClr val="FF3131"/>
                </a:solidFill>
                <a:latin typeface="Montserrat"/>
                <a:ea typeface="Montserrat"/>
                <a:cs typeface="Montserrat"/>
                <a:sym typeface="Montserrat"/>
              </a:rPr>
              <a:t>nai</a:t>
            </a:r>
          </a:p>
          <a:p>
            <a:pPr algn="just" marL="0" indent="0" lvl="0">
              <a:lnSpc>
                <a:spcPts val="3503"/>
              </a:lnSpc>
              <a:spcBef>
                <a:spcPct val="0"/>
              </a:spcBef>
            </a:pPr>
          </a:p>
          <a:p>
            <a:pPr algn="just" marL="0" indent="0" lvl="0">
              <a:lnSpc>
                <a:spcPts val="3503"/>
              </a:lnSpc>
              <a:spcBef>
                <a:spcPct val="0"/>
              </a:spcBef>
            </a:pPr>
            <a:r>
              <a:rPr lang="en-US" sz="2274" strike="noStrike" u="none">
                <a:solidFill>
                  <a:srgbClr val="FF3131"/>
                </a:solidFill>
                <a:latin typeface="Montserrat"/>
                <a:ea typeface="Montserrat"/>
                <a:cs typeface="Montserrat"/>
                <a:sym typeface="Montserrat"/>
              </a:rPr>
              <a:t>d</a:t>
            </a:r>
            <a:r>
              <a:rPr lang="en-US" sz="2274" strike="noStrike" u="none">
                <a:solidFill>
                  <a:srgbClr val="FF3131"/>
                </a:solidFill>
                <a:latin typeface="Montserrat"/>
                <a:ea typeface="Montserrat"/>
                <a:cs typeface="Montserrat"/>
                <a:sym typeface="Montserrat"/>
              </a:rPr>
              <a:t>ef</a:t>
            </a:r>
            <a:r>
              <a:rPr lang="en-US" sz="2274" strike="noStrike" u="none">
                <a:solidFill>
                  <a:srgbClr val="FF3131"/>
                </a:solidFill>
                <a:latin typeface="Montserrat"/>
                <a:ea typeface="Montserrat"/>
                <a:cs typeface="Montserrat"/>
                <a:sym typeface="Montserrat"/>
              </a:rPr>
              <a:t> de</a:t>
            </a:r>
            <a:r>
              <a:rPr lang="en-US" sz="2274" strike="noStrike" u="none">
                <a:solidFill>
                  <a:srgbClr val="FF3131"/>
                </a:solidFill>
                <a:latin typeface="Montserrat"/>
                <a:ea typeface="Montserrat"/>
                <a:cs typeface="Montserrat"/>
                <a:sym typeface="Montserrat"/>
              </a:rPr>
              <a:t>te</a:t>
            </a:r>
            <a:r>
              <a:rPr lang="en-US" sz="2274" strike="noStrike" u="none">
                <a:solidFill>
                  <a:srgbClr val="FF3131"/>
                </a:solidFill>
                <a:latin typeface="Montserrat"/>
                <a:ea typeface="Montserrat"/>
                <a:cs typeface="Montserrat"/>
                <a:sym typeface="Montserrat"/>
              </a:rPr>
              <a:t>c</a:t>
            </a:r>
            <a:r>
              <a:rPr lang="en-US" sz="2274" strike="noStrike" u="none">
                <a:solidFill>
                  <a:srgbClr val="FF3131"/>
                </a:solidFill>
                <a:latin typeface="Montserrat"/>
                <a:ea typeface="Montserrat"/>
                <a:cs typeface="Montserrat"/>
                <a:sym typeface="Montserrat"/>
              </a:rPr>
              <a:t>t_</a:t>
            </a:r>
            <a:r>
              <a:rPr lang="en-US" sz="2274" strike="noStrike" u="none">
                <a:solidFill>
                  <a:srgbClr val="FF3131"/>
                </a:solidFill>
                <a:latin typeface="Montserrat"/>
                <a:ea typeface="Montserrat"/>
                <a:cs typeface="Montserrat"/>
                <a:sym typeface="Montserrat"/>
              </a:rPr>
              <a:t>e</a:t>
            </a:r>
            <a:r>
              <a:rPr lang="en-US" sz="2274" strike="noStrike" u="none">
                <a:solidFill>
                  <a:srgbClr val="FF3131"/>
                </a:solidFill>
                <a:latin typeface="Montserrat"/>
                <a:ea typeface="Montserrat"/>
                <a:cs typeface="Montserrat"/>
                <a:sym typeface="Montserrat"/>
              </a:rPr>
              <a:t>rror</a:t>
            </a:r>
            <a:r>
              <a:rPr lang="en-US" sz="2274" strike="noStrike" u="none">
                <a:solidFill>
                  <a:srgbClr val="FF3131"/>
                </a:solidFill>
                <a:latin typeface="Montserrat"/>
                <a:ea typeface="Montserrat"/>
                <a:cs typeface="Montserrat"/>
                <a:sym typeface="Montserrat"/>
              </a:rPr>
              <a:t>s</a:t>
            </a:r>
            <a:r>
              <a:rPr lang="en-US" sz="2274" strike="noStrike" u="none">
                <a:solidFill>
                  <a:srgbClr val="FF3131"/>
                </a:solidFill>
                <a:latin typeface="Montserrat"/>
                <a:ea typeface="Montserrat"/>
                <a:cs typeface="Montserrat"/>
                <a:sym typeface="Montserrat"/>
              </a:rPr>
              <a:t>(</a:t>
            </a:r>
            <a:r>
              <a:rPr lang="en-US" sz="2274" strike="noStrike" u="none">
                <a:solidFill>
                  <a:srgbClr val="FF3131"/>
                </a:solidFill>
                <a:latin typeface="Montserrat"/>
                <a:ea typeface="Montserrat"/>
                <a:cs typeface="Montserrat"/>
                <a:sym typeface="Montserrat"/>
              </a:rPr>
              <a:t>t</a:t>
            </a:r>
            <a:r>
              <a:rPr lang="en-US" sz="2274" strike="noStrike" u="none">
                <a:solidFill>
                  <a:srgbClr val="FF3131"/>
                </a:solidFill>
                <a:latin typeface="Montserrat"/>
                <a:ea typeface="Montserrat"/>
                <a:cs typeface="Montserrat"/>
                <a:sym typeface="Montserrat"/>
              </a:rPr>
              <a:t>r</a:t>
            </a:r>
            <a:r>
              <a:rPr lang="en-US" sz="2274" strike="noStrike" u="none">
                <a:solidFill>
                  <a:srgbClr val="FF3131"/>
                </a:solidFill>
                <a:latin typeface="Montserrat"/>
                <a:ea typeface="Montserrat"/>
                <a:cs typeface="Montserrat"/>
                <a:sym typeface="Montserrat"/>
              </a:rPr>
              <a:t>a</a:t>
            </a:r>
            <a:r>
              <a:rPr lang="en-US" sz="2274" strike="noStrike" u="none">
                <a:solidFill>
                  <a:srgbClr val="FF3131"/>
                </a:solidFill>
                <a:latin typeface="Montserrat"/>
                <a:ea typeface="Montserrat"/>
                <a:cs typeface="Montserrat"/>
                <a:sym typeface="Montserrat"/>
              </a:rPr>
              <a:t>nsc</a:t>
            </a:r>
            <a:r>
              <a:rPr lang="en-US" sz="2274" strike="noStrike" u="none">
                <a:solidFill>
                  <a:srgbClr val="FF3131"/>
                </a:solidFill>
                <a:latin typeface="Montserrat"/>
                <a:ea typeface="Montserrat"/>
                <a:cs typeface="Montserrat"/>
                <a:sym typeface="Montserrat"/>
              </a:rPr>
              <a:t>r</a:t>
            </a:r>
            <a:r>
              <a:rPr lang="en-US" sz="2274" strike="noStrike" u="none">
                <a:solidFill>
                  <a:srgbClr val="FF3131"/>
                </a:solidFill>
                <a:latin typeface="Montserrat"/>
                <a:ea typeface="Montserrat"/>
                <a:cs typeface="Montserrat"/>
                <a:sym typeface="Montserrat"/>
              </a:rPr>
              <a:t>ip</a:t>
            </a:r>
            <a:r>
              <a:rPr lang="en-US" sz="2274" strike="noStrike" u="none">
                <a:solidFill>
                  <a:srgbClr val="FF3131"/>
                </a:solidFill>
                <a:latin typeface="Montserrat"/>
                <a:ea typeface="Montserrat"/>
                <a:cs typeface="Montserrat"/>
                <a:sym typeface="Montserrat"/>
              </a:rPr>
              <a:t>t</a:t>
            </a:r>
            <a:r>
              <a:rPr lang="en-US" sz="2274" strike="noStrike" u="none">
                <a:solidFill>
                  <a:srgbClr val="FF3131"/>
                </a:solidFill>
                <a:latin typeface="Montserrat"/>
                <a:ea typeface="Montserrat"/>
                <a:cs typeface="Montserrat"/>
                <a:sym typeface="Montserrat"/>
              </a:rPr>
              <a:t>):</a:t>
            </a:r>
          </a:p>
          <a:p>
            <a:pPr algn="just" marL="0" indent="0" lvl="0">
              <a:lnSpc>
                <a:spcPts val="3503"/>
              </a:lnSpc>
              <a:spcBef>
                <a:spcPct val="0"/>
              </a:spcBef>
            </a:pPr>
            <a:r>
              <a:rPr lang="en-US" sz="2274" strike="noStrike" u="none">
                <a:solidFill>
                  <a:srgbClr val="FF3131"/>
                </a:solidFill>
                <a:latin typeface="Montserrat"/>
                <a:ea typeface="Montserrat"/>
                <a:cs typeface="Montserrat"/>
                <a:sym typeface="Montserrat"/>
              </a:rPr>
              <a:t>    </a:t>
            </a:r>
            <a:r>
              <a:rPr lang="en-US" sz="2274" strike="noStrike" u="none">
                <a:solidFill>
                  <a:srgbClr val="FF3131"/>
                </a:solidFill>
                <a:latin typeface="Montserrat"/>
                <a:ea typeface="Montserrat"/>
                <a:cs typeface="Montserrat"/>
                <a:sym typeface="Montserrat"/>
              </a:rPr>
              <a:t>pro</a:t>
            </a:r>
            <a:r>
              <a:rPr lang="en-US" sz="2274" strike="noStrike" u="none">
                <a:solidFill>
                  <a:srgbClr val="FF3131"/>
                </a:solidFill>
                <a:latin typeface="Montserrat"/>
                <a:ea typeface="Montserrat"/>
                <a:cs typeface="Montserrat"/>
                <a:sym typeface="Montserrat"/>
              </a:rPr>
              <a:t>mpt</a:t>
            </a:r>
            <a:r>
              <a:rPr lang="en-US" sz="2274" strike="noStrike" u="none">
                <a:solidFill>
                  <a:srgbClr val="FF3131"/>
                </a:solidFill>
                <a:latin typeface="Montserrat"/>
                <a:ea typeface="Montserrat"/>
                <a:cs typeface="Montserrat"/>
                <a:sym typeface="Montserrat"/>
              </a:rPr>
              <a:t> = </a:t>
            </a:r>
            <a:r>
              <a:rPr lang="en-US" sz="2274" strike="noStrike" u="none">
                <a:solidFill>
                  <a:srgbClr val="FF3131"/>
                </a:solidFill>
                <a:latin typeface="Montserrat"/>
                <a:ea typeface="Montserrat"/>
                <a:cs typeface="Montserrat"/>
                <a:sym typeface="Montserrat"/>
              </a:rPr>
              <a:t>f"""</a:t>
            </a:r>
          </a:p>
          <a:p>
            <a:pPr algn="just" marL="0" indent="0" lvl="0">
              <a:lnSpc>
                <a:spcPts val="3503"/>
              </a:lnSpc>
              <a:spcBef>
                <a:spcPct val="0"/>
              </a:spcBef>
            </a:pPr>
            <a:r>
              <a:rPr lang="en-US" sz="2274" strike="noStrike" u="none">
                <a:solidFill>
                  <a:srgbClr val="FF3131"/>
                </a:solidFill>
                <a:latin typeface="Montserrat"/>
                <a:ea typeface="Montserrat"/>
                <a:cs typeface="Montserrat"/>
                <a:sym typeface="Montserrat"/>
              </a:rPr>
              <a:t>    Analyze the follo</a:t>
            </a:r>
            <a:r>
              <a:rPr lang="en-US" sz="2274" strike="noStrike" u="none">
                <a:solidFill>
                  <a:srgbClr val="FF3131"/>
                </a:solidFill>
                <a:latin typeface="Montserrat"/>
                <a:ea typeface="Montserrat"/>
                <a:cs typeface="Montserrat"/>
                <a:sym typeface="Montserrat"/>
              </a:rPr>
              <a:t>w</a:t>
            </a:r>
            <a:r>
              <a:rPr lang="en-US" sz="2274" strike="noStrike" u="none">
                <a:solidFill>
                  <a:srgbClr val="FF3131"/>
                </a:solidFill>
                <a:latin typeface="Montserrat"/>
                <a:ea typeface="Montserrat"/>
                <a:cs typeface="Montserrat"/>
                <a:sym typeface="Montserrat"/>
              </a:rPr>
              <a:t>ing c</a:t>
            </a:r>
            <a:r>
              <a:rPr lang="en-US" sz="2274" strike="noStrike" u="none">
                <a:solidFill>
                  <a:srgbClr val="FF3131"/>
                </a:solidFill>
                <a:latin typeface="Montserrat"/>
                <a:ea typeface="Montserrat"/>
                <a:cs typeface="Montserrat"/>
                <a:sym typeface="Montserrat"/>
              </a:rPr>
              <a:t>hi</a:t>
            </a:r>
            <a:r>
              <a:rPr lang="en-US" sz="2274" strike="noStrike" u="none">
                <a:solidFill>
                  <a:srgbClr val="FF3131"/>
                </a:solidFill>
                <a:latin typeface="Montserrat"/>
                <a:ea typeface="Montserrat"/>
                <a:cs typeface="Montserrat"/>
                <a:sym typeface="Montserrat"/>
              </a:rPr>
              <a:t>ld's </a:t>
            </a:r>
            <a:r>
              <a:rPr lang="en-US" sz="2274" strike="noStrike" u="none">
                <a:solidFill>
                  <a:srgbClr val="FF3131"/>
                </a:solidFill>
                <a:latin typeface="Montserrat"/>
                <a:ea typeface="Montserrat"/>
                <a:cs typeface="Montserrat"/>
                <a:sym typeface="Montserrat"/>
              </a:rPr>
              <a:t>spe</a:t>
            </a:r>
            <a:r>
              <a:rPr lang="en-US" sz="2274" strike="noStrike" u="none">
                <a:solidFill>
                  <a:srgbClr val="FF3131"/>
                </a:solidFill>
                <a:latin typeface="Montserrat"/>
                <a:ea typeface="Montserrat"/>
                <a:cs typeface="Montserrat"/>
                <a:sym typeface="Montserrat"/>
              </a:rPr>
              <a:t>ech fo</a:t>
            </a:r>
            <a:r>
              <a:rPr lang="en-US" sz="2274" strike="noStrike" u="none">
                <a:solidFill>
                  <a:srgbClr val="FF3131"/>
                </a:solidFill>
                <a:latin typeface="Montserrat"/>
                <a:ea typeface="Montserrat"/>
                <a:cs typeface="Montserrat"/>
                <a:sym typeface="Montserrat"/>
              </a:rPr>
              <a:t>r</a:t>
            </a:r>
            <a:r>
              <a:rPr lang="en-US" sz="2274" strike="noStrike" u="none">
                <a:solidFill>
                  <a:srgbClr val="FF3131"/>
                </a:solidFill>
                <a:latin typeface="Montserrat"/>
                <a:ea typeface="Montserrat"/>
                <a:cs typeface="Montserrat"/>
                <a:sym typeface="Montserrat"/>
              </a:rPr>
              <a:t> </a:t>
            </a:r>
            <a:r>
              <a:rPr lang="en-US" sz="2274" strike="noStrike" u="none">
                <a:solidFill>
                  <a:srgbClr val="FF3131"/>
                </a:solidFill>
                <a:latin typeface="Montserrat"/>
                <a:ea typeface="Montserrat"/>
                <a:cs typeface="Montserrat"/>
                <a:sym typeface="Montserrat"/>
              </a:rPr>
              <a:t>e</a:t>
            </a:r>
            <a:r>
              <a:rPr lang="en-US" sz="2274" strike="noStrike" u="none">
                <a:solidFill>
                  <a:srgbClr val="FF3131"/>
                </a:solidFill>
                <a:latin typeface="Montserrat"/>
                <a:ea typeface="Montserrat"/>
                <a:cs typeface="Montserrat"/>
                <a:sym typeface="Montserrat"/>
              </a:rPr>
              <a:t>rror</a:t>
            </a:r>
            <a:r>
              <a:rPr lang="en-US" sz="2274" strike="noStrike" u="none">
                <a:solidFill>
                  <a:srgbClr val="FF3131"/>
                </a:solidFill>
                <a:latin typeface="Montserrat"/>
                <a:ea typeface="Montserrat"/>
                <a:cs typeface="Montserrat"/>
                <a:sym typeface="Montserrat"/>
              </a:rPr>
              <a:t>s</a:t>
            </a:r>
            <a:r>
              <a:rPr lang="en-US" sz="2274" strike="noStrike" u="none">
                <a:solidFill>
                  <a:srgbClr val="FF3131"/>
                </a:solidFill>
                <a:latin typeface="Montserrat"/>
                <a:ea typeface="Montserrat"/>
                <a:cs typeface="Montserrat"/>
                <a:sym typeface="Montserrat"/>
              </a:rPr>
              <a:t>:</a:t>
            </a:r>
          </a:p>
          <a:p>
            <a:pPr algn="just" marL="0" indent="0" lvl="0">
              <a:lnSpc>
                <a:spcPts val="3503"/>
              </a:lnSpc>
              <a:spcBef>
                <a:spcPct val="0"/>
              </a:spcBef>
            </a:pPr>
            <a:r>
              <a:rPr lang="en-US" sz="2274" strike="noStrike" u="none">
                <a:solidFill>
                  <a:srgbClr val="FF3131"/>
                </a:solidFill>
                <a:latin typeface="Montserrat"/>
                <a:ea typeface="Montserrat"/>
                <a:cs typeface="Montserrat"/>
                <a:sym typeface="Montserrat"/>
              </a:rPr>
              <a:t>  </a:t>
            </a:r>
            <a:r>
              <a:rPr lang="en-US" sz="2274" strike="noStrike" u="none">
                <a:solidFill>
                  <a:srgbClr val="FF3131"/>
                </a:solidFill>
                <a:latin typeface="Montserrat"/>
                <a:ea typeface="Montserrat"/>
                <a:cs typeface="Montserrat"/>
                <a:sym typeface="Montserrat"/>
              </a:rPr>
              <a:t> </a:t>
            </a:r>
            <a:r>
              <a:rPr lang="en-US" sz="2274" strike="noStrike" u="none">
                <a:solidFill>
                  <a:srgbClr val="FF3131"/>
                </a:solidFill>
                <a:latin typeface="Montserrat"/>
                <a:ea typeface="Montserrat"/>
                <a:cs typeface="Montserrat"/>
                <a:sym typeface="Montserrat"/>
              </a:rPr>
              <a:t> "{t</a:t>
            </a:r>
            <a:r>
              <a:rPr lang="en-US" sz="2274" strike="noStrike" u="none">
                <a:solidFill>
                  <a:srgbClr val="FF3131"/>
                </a:solidFill>
                <a:latin typeface="Montserrat"/>
                <a:ea typeface="Montserrat"/>
                <a:cs typeface="Montserrat"/>
                <a:sym typeface="Montserrat"/>
              </a:rPr>
              <a:t>ranscri</a:t>
            </a:r>
            <a:r>
              <a:rPr lang="en-US" sz="2274" strike="noStrike" u="none">
                <a:solidFill>
                  <a:srgbClr val="FF3131"/>
                </a:solidFill>
                <a:latin typeface="Montserrat"/>
                <a:ea typeface="Montserrat"/>
                <a:cs typeface="Montserrat"/>
                <a:sym typeface="Montserrat"/>
              </a:rPr>
              <a:t>pt}"</a:t>
            </a:r>
          </a:p>
          <a:p>
            <a:pPr algn="just" marL="0" indent="0" lvl="0">
              <a:lnSpc>
                <a:spcPts val="3503"/>
              </a:lnSpc>
              <a:spcBef>
                <a:spcPct val="0"/>
              </a:spcBef>
            </a:pPr>
            <a:r>
              <a:rPr lang="en-US" sz="2274" strike="noStrike" u="none">
                <a:solidFill>
                  <a:srgbClr val="FF3131"/>
                </a:solidFill>
                <a:latin typeface="Montserrat"/>
                <a:ea typeface="Montserrat"/>
                <a:cs typeface="Montserrat"/>
                <a:sym typeface="Montserrat"/>
              </a:rPr>
              <a:t>    I</a:t>
            </a:r>
            <a:r>
              <a:rPr lang="en-US" sz="2274" strike="noStrike" u="none">
                <a:solidFill>
                  <a:srgbClr val="FF3131"/>
                </a:solidFill>
                <a:latin typeface="Montserrat"/>
                <a:ea typeface="Montserrat"/>
                <a:cs typeface="Montserrat"/>
                <a:sym typeface="Montserrat"/>
              </a:rPr>
              <a:t>de</a:t>
            </a:r>
            <a:r>
              <a:rPr lang="en-US" sz="2274" strike="noStrike" u="none">
                <a:solidFill>
                  <a:srgbClr val="FF3131"/>
                </a:solidFill>
                <a:latin typeface="Montserrat"/>
                <a:ea typeface="Montserrat"/>
                <a:cs typeface="Montserrat"/>
                <a:sym typeface="Montserrat"/>
              </a:rPr>
              <a:t>nti</a:t>
            </a:r>
            <a:r>
              <a:rPr lang="en-US" sz="2274" strike="noStrike" u="none">
                <a:solidFill>
                  <a:srgbClr val="FF3131"/>
                </a:solidFill>
                <a:latin typeface="Montserrat"/>
                <a:ea typeface="Montserrat"/>
                <a:cs typeface="Montserrat"/>
                <a:sym typeface="Montserrat"/>
              </a:rPr>
              <a:t>f</a:t>
            </a:r>
            <a:r>
              <a:rPr lang="en-US" sz="2274" strike="noStrike" u="none">
                <a:solidFill>
                  <a:srgbClr val="FF3131"/>
                </a:solidFill>
                <a:latin typeface="Montserrat"/>
                <a:ea typeface="Montserrat"/>
                <a:cs typeface="Montserrat"/>
                <a:sym typeface="Montserrat"/>
              </a:rPr>
              <a:t>y:</a:t>
            </a:r>
          </a:p>
          <a:p>
            <a:pPr algn="just" marL="0" indent="0" lvl="0">
              <a:lnSpc>
                <a:spcPts val="3503"/>
              </a:lnSpc>
              <a:spcBef>
                <a:spcPct val="0"/>
              </a:spcBef>
            </a:pPr>
            <a:r>
              <a:rPr lang="en-US" sz="2274" strike="noStrike" u="none">
                <a:solidFill>
                  <a:srgbClr val="FF3131"/>
                </a:solidFill>
                <a:latin typeface="Montserrat"/>
                <a:ea typeface="Montserrat"/>
                <a:cs typeface="Montserrat"/>
                <a:sym typeface="Montserrat"/>
              </a:rPr>
              <a:t>  </a:t>
            </a:r>
            <a:r>
              <a:rPr lang="en-US" sz="2274" strike="noStrike" u="none">
                <a:solidFill>
                  <a:srgbClr val="FF3131"/>
                </a:solidFill>
                <a:latin typeface="Montserrat"/>
                <a:ea typeface="Montserrat"/>
                <a:cs typeface="Montserrat"/>
                <a:sym typeface="Montserrat"/>
              </a:rPr>
              <a:t> </a:t>
            </a:r>
            <a:r>
              <a:rPr lang="en-US" sz="2274" strike="noStrike" u="none">
                <a:solidFill>
                  <a:srgbClr val="FF3131"/>
                </a:solidFill>
                <a:latin typeface="Montserrat"/>
                <a:ea typeface="Montserrat"/>
                <a:cs typeface="Montserrat"/>
                <a:sym typeface="Montserrat"/>
              </a:rPr>
              <a:t> 1. G</a:t>
            </a:r>
            <a:r>
              <a:rPr lang="en-US" sz="2274" strike="noStrike" u="none">
                <a:solidFill>
                  <a:srgbClr val="FF3131"/>
                </a:solidFill>
                <a:latin typeface="Montserrat"/>
                <a:ea typeface="Montserrat"/>
                <a:cs typeface="Montserrat"/>
                <a:sym typeface="Montserrat"/>
              </a:rPr>
              <a:t>r</a:t>
            </a:r>
            <a:r>
              <a:rPr lang="en-US" sz="2274" strike="noStrike" u="none">
                <a:solidFill>
                  <a:srgbClr val="FF3131"/>
                </a:solidFill>
                <a:latin typeface="Montserrat"/>
                <a:ea typeface="Montserrat"/>
                <a:cs typeface="Montserrat"/>
                <a:sym typeface="Montserrat"/>
              </a:rPr>
              <a:t>ammar errors </a:t>
            </a:r>
            <a:r>
              <a:rPr lang="en-US" sz="2274" strike="noStrike" u="none">
                <a:solidFill>
                  <a:srgbClr val="FF3131"/>
                </a:solidFill>
                <a:latin typeface="Montserrat"/>
                <a:ea typeface="Montserrat"/>
                <a:cs typeface="Montserrat"/>
                <a:sym typeface="Montserrat"/>
              </a:rPr>
              <a:t>an</a:t>
            </a:r>
            <a:r>
              <a:rPr lang="en-US" sz="2274" strike="noStrike" u="none">
                <a:solidFill>
                  <a:srgbClr val="FF3131"/>
                </a:solidFill>
                <a:latin typeface="Montserrat"/>
                <a:ea typeface="Montserrat"/>
                <a:cs typeface="Montserrat"/>
                <a:sym typeface="Montserrat"/>
              </a:rPr>
              <a:t>d </a:t>
            </a:r>
            <a:r>
              <a:rPr lang="en-US" sz="2274" strike="noStrike" u="none">
                <a:solidFill>
                  <a:srgbClr val="FF3131"/>
                </a:solidFill>
                <a:latin typeface="Montserrat"/>
                <a:ea typeface="Montserrat"/>
                <a:cs typeface="Montserrat"/>
                <a:sym typeface="Montserrat"/>
              </a:rPr>
              <a:t>c</a:t>
            </a:r>
            <a:r>
              <a:rPr lang="en-US" sz="2274" strike="noStrike" u="none">
                <a:solidFill>
                  <a:srgbClr val="FF3131"/>
                </a:solidFill>
                <a:latin typeface="Montserrat"/>
                <a:ea typeface="Montserrat"/>
                <a:cs typeface="Montserrat"/>
                <a:sym typeface="Montserrat"/>
              </a:rPr>
              <a:t>o</a:t>
            </a:r>
            <a:r>
              <a:rPr lang="en-US" sz="2274" strike="noStrike" u="none">
                <a:solidFill>
                  <a:srgbClr val="FF3131"/>
                </a:solidFill>
                <a:latin typeface="Montserrat"/>
                <a:ea typeface="Montserrat"/>
                <a:cs typeface="Montserrat"/>
                <a:sym typeface="Montserrat"/>
              </a:rPr>
              <a:t>r</a:t>
            </a:r>
            <a:r>
              <a:rPr lang="en-US" sz="2274" strike="noStrike" u="none">
                <a:solidFill>
                  <a:srgbClr val="FF3131"/>
                </a:solidFill>
                <a:latin typeface="Montserrat"/>
                <a:ea typeface="Montserrat"/>
                <a:cs typeface="Montserrat"/>
                <a:sym typeface="Montserrat"/>
              </a:rPr>
              <a:t>rect</a:t>
            </a:r>
            <a:r>
              <a:rPr lang="en-US" sz="2274" strike="noStrike" u="none">
                <a:solidFill>
                  <a:srgbClr val="FF3131"/>
                </a:solidFill>
                <a:latin typeface="Montserrat"/>
                <a:ea typeface="Montserrat"/>
                <a:cs typeface="Montserrat"/>
                <a:sym typeface="Montserrat"/>
              </a:rPr>
              <a:t>i</a:t>
            </a:r>
            <a:r>
              <a:rPr lang="en-US" sz="2274" strike="noStrike" u="none">
                <a:solidFill>
                  <a:srgbClr val="FF3131"/>
                </a:solidFill>
                <a:latin typeface="Montserrat"/>
                <a:ea typeface="Montserrat"/>
                <a:cs typeface="Montserrat"/>
                <a:sym typeface="Montserrat"/>
              </a:rPr>
              <a:t>ons</a:t>
            </a:r>
          </a:p>
          <a:p>
            <a:pPr algn="just" marL="0" indent="0" lvl="0">
              <a:lnSpc>
                <a:spcPts val="3503"/>
              </a:lnSpc>
              <a:spcBef>
                <a:spcPct val="0"/>
              </a:spcBef>
            </a:pPr>
            <a:r>
              <a:rPr lang="en-US" sz="2274" strike="noStrike" u="none">
                <a:solidFill>
                  <a:srgbClr val="FF3131"/>
                </a:solidFill>
                <a:latin typeface="Montserrat"/>
                <a:ea typeface="Montserrat"/>
                <a:cs typeface="Montserrat"/>
                <a:sym typeface="Montserrat"/>
              </a:rPr>
              <a:t>    2. Voca</a:t>
            </a:r>
            <a:r>
              <a:rPr lang="en-US" sz="2274" strike="noStrike" u="none">
                <a:solidFill>
                  <a:srgbClr val="FF3131"/>
                </a:solidFill>
                <a:latin typeface="Montserrat"/>
                <a:ea typeface="Montserrat"/>
                <a:cs typeface="Montserrat"/>
                <a:sym typeface="Montserrat"/>
              </a:rPr>
              <a:t>b</a:t>
            </a:r>
            <a:r>
              <a:rPr lang="en-US" sz="2274" strike="noStrike" u="none">
                <a:solidFill>
                  <a:srgbClr val="FF3131"/>
                </a:solidFill>
                <a:latin typeface="Montserrat"/>
                <a:ea typeface="Montserrat"/>
                <a:cs typeface="Montserrat"/>
                <a:sym typeface="Montserrat"/>
              </a:rPr>
              <a:t>ulary </a:t>
            </a:r>
            <a:r>
              <a:rPr lang="en-US" sz="2274" strike="noStrike" u="none">
                <a:solidFill>
                  <a:srgbClr val="FF3131"/>
                </a:solidFill>
                <a:latin typeface="Montserrat"/>
                <a:ea typeface="Montserrat"/>
                <a:cs typeface="Montserrat"/>
                <a:sym typeface="Montserrat"/>
              </a:rPr>
              <a:t>e</a:t>
            </a:r>
            <a:r>
              <a:rPr lang="en-US" sz="2274" strike="noStrike" u="none">
                <a:solidFill>
                  <a:srgbClr val="FF3131"/>
                </a:solidFill>
                <a:latin typeface="Montserrat"/>
                <a:ea typeface="Montserrat"/>
                <a:cs typeface="Montserrat"/>
                <a:sym typeface="Montserrat"/>
              </a:rPr>
              <a:t>rrors </a:t>
            </a:r>
            <a:r>
              <a:rPr lang="en-US" sz="2274" strike="noStrike" u="none">
                <a:solidFill>
                  <a:srgbClr val="FF3131"/>
                </a:solidFill>
                <a:latin typeface="Montserrat"/>
                <a:ea typeface="Montserrat"/>
                <a:cs typeface="Montserrat"/>
                <a:sym typeface="Montserrat"/>
              </a:rPr>
              <a:t>a</a:t>
            </a:r>
            <a:r>
              <a:rPr lang="en-US" sz="2274" strike="noStrike" u="none">
                <a:solidFill>
                  <a:srgbClr val="FF3131"/>
                </a:solidFill>
                <a:latin typeface="Montserrat"/>
                <a:ea typeface="Montserrat"/>
                <a:cs typeface="Montserrat"/>
                <a:sym typeface="Montserrat"/>
              </a:rPr>
              <a:t>n</a:t>
            </a:r>
            <a:r>
              <a:rPr lang="en-US" sz="2274" strike="noStrike" u="none">
                <a:solidFill>
                  <a:srgbClr val="FF3131"/>
                </a:solidFill>
                <a:latin typeface="Montserrat"/>
                <a:ea typeface="Montserrat"/>
                <a:cs typeface="Montserrat"/>
                <a:sym typeface="Montserrat"/>
              </a:rPr>
              <a:t>d</a:t>
            </a:r>
            <a:r>
              <a:rPr lang="en-US" sz="2274" strike="noStrike" u="none">
                <a:solidFill>
                  <a:srgbClr val="FF3131"/>
                </a:solidFill>
                <a:latin typeface="Montserrat"/>
                <a:ea typeface="Montserrat"/>
                <a:cs typeface="Montserrat"/>
                <a:sym typeface="Montserrat"/>
              </a:rPr>
              <a:t> correct</a:t>
            </a:r>
            <a:r>
              <a:rPr lang="en-US" sz="2274" strike="noStrike" u="none">
                <a:solidFill>
                  <a:srgbClr val="FF3131"/>
                </a:solidFill>
                <a:latin typeface="Montserrat"/>
                <a:ea typeface="Montserrat"/>
                <a:cs typeface="Montserrat"/>
                <a:sym typeface="Montserrat"/>
              </a:rPr>
              <a:t>io</a:t>
            </a:r>
            <a:r>
              <a:rPr lang="en-US" sz="2274" strike="noStrike" u="none">
                <a:solidFill>
                  <a:srgbClr val="FF3131"/>
                </a:solidFill>
                <a:latin typeface="Montserrat"/>
                <a:ea typeface="Montserrat"/>
                <a:cs typeface="Montserrat"/>
                <a:sym typeface="Montserrat"/>
              </a:rPr>
              <a:t>ns  </a:t>
            </a:r>
          </a:p>
          <a:p>
            <a:pPr algn="just" marL="0" indent="0" lvl="0">
              <a:lnSpc>
                <a:spcPts val="3503"/>
              </a:lnSpc>
              <a:spcBef>
                <a:spcPct val="0"/>
              </a:spcBef>
            </a:pPr>
            <a:r>
              <a:rPr lang="en-US" sz="2274" strike="noStrike" u="none">
                <a:solidFill>
                  <a:srgbClr val="FF3131"/>
                </a:solidFill>
                <a:latin typeface="Montserrat"/>
                <a:ea typeface="Montserrat"/>
                <a:cs typeface="Montserrat"/>
                <a:sym typeface="Montserrat"/>
              </a:rPr>
              <a:t>    3. Artic</a:t>
            </a:r>
            <a:r>
              <a:rPr lang="en-US" sz="2274" strike="noStrike" u="none">
                <a:solidFill>
                  <a:srgbClr val="FF3131"/>
                </a:solidFill>
                <a:latin typeface="Montserrat"/>
                <a:ea typeface="Montserrat"/>
                <a:cs typeface="Montserrat"/>
                <a:sym typeface="Montserrat"/>
              </a:rPr>
              <a:t>u</a:t>
            </a:r>
            <a:r>
              <a:rPr lang="en-US" sz="2274" strike="noStrike" u="none">
                <a:solidFill>
                  <a:srgbClr val="FF3131"/>
                </a:solidFill>
                <a:latin typeface="Montserrat"/>
                <a:ea typeface="Montserrat"/>
                <a:cs typeface="Montserrat"/>
                <a:sym typeface="Montserrat"/>
              </a:rPr>
              <a:t>lat</a:t>
            </a:r>
            <a:r>
              <a:rPr lang="en-US" sz="2274" strike="noStrike" u="none">
                <a:solidFill>
                  <a:srgbClr val="FF3131"/>
                </a:solidFill>
                <a:latin typeface="Montserrat"/>
                <a:ea typeface="Montserrat"/>
                <a:cs typeface="Montserrat"/>
                <a:sym typeface="Montserrat"/>
              </a:rPr>
              <a:t>io</a:t>
            </a:r>
            <a:r>
              <a:rPr lang="en-US" sz="2274" strike="noStrike" u="none">
                <a:solidFill>
                  <a:srgbClr val="FF3131"/>
                </a:solidFill>
                <a:latin typeface="Montserrat"/>
                <a:ea typeface="Montserrat"/>
                <a:cs typeface="Montserrat"/>
                <a:sym typeface="Montserrat"/>
              </a:rPr>
              <a:t>n errors</a:t>
            </a:r>
          </a:p>
          <a:p>
            <a:pPr algn="just" marL="0" indent="0" lvl="0">
              <a:lnSpc>
                <a:spcPts val="3503"/>
              </a:lnSpc>
              <a:spcBef>
                <a:spcPct val="0"/>
              </a:spcBef>
            </a:pPr>
            <a:r>
              <a:rPr lang="en-US" sz="2274" strike="noStrike" u="none">
                <a:solidFill>
                  <a:srgbClr val="FF3131"/>
                </a:solidFill>
                <a:latin typeface="Montserrat"/>
                <a:ea typeface="Montserrat"/>
                <a:cs typeface="Montserrat"/>
                <a:sym typeface="Montserrat"/>
              </a:rPr>
              <a:t>    Return JSON </a:t>
            </a:r>
            <a:r>
              <a:rPr lang="en-US" sz="2274" strike="noStrike" u="none">
                <a:solidFill>
                  <a:srgbClr val="FF3131"/>
                </a:solidFill>
                <a:latin typeface="Montserrat"/>
                <a:ea typeface="Montserrat"/>
                <a:cs typeface="Montserrat"/>
                <a:sym typeface="Montserrat"/>
              </a:rPr>
              <a:t>a</a:t>
            </a:r>
            <a:r>
              <a:rPr lang="en-US" sz="2274" strike="noStrike" u="none">
                <a:solidFill>
                  <a:srgbClr val="FF3131"/>
                </a:solidFill>
                <a:latin typeface="Montserrat"/>
                <a:ea typeface="Montserrat"/>
                <a:cs typeface="Montserrat"/>
                <a:sym typeface="Montserrat"/>
              </a:rPr>
              <a:t>rray wi</a:t>
            </a:r>
            <a:r>
              <a:rPr lang="en-US" sz="2274" strike="noStrike" u="none">
                <a:solidFill>
                  <a:srgbClr val="FF3131"/>
                </a:solidFill>
                <a:latin typeface="Montserrat"/>
                <a:ea typeface="Montserrat"/>
                <a:cs typeface="Montserrat"/>
                <a:sym typeface="Montserrat"/>
              </a:rPr>
              <a:t>th:</a:t>
            </a:r>
          </a:p>
          <a:p>
            <a:pPr algn="just" marL="0" indent="0" lvl="0">
              <a:lnSpc>
                <a:spcPts val="3503"/>
              </a:lnSpc>
              <a:spcBef>
                <a:spcPct val="0"/>
              </a:spcBef>
            </a:pPr>
            <a:r>
              <a:rPr lang="en-US" sz="2274" strike="noStrike" u="none">
                <a:solidFill>
                  <a:srgbClr val="FF3131"/>
                </a:solidFill>
                <a:latin typeface="Montserrat"/>
                <a:ea typeface="Montserrat"/>
                <a:cs typeface="Montserrat"/>
                <a:sym typeface="Montserrat"/>
              </a:rPr>
              <a:t>    </a:t>
            </a:r>
            <a:r>
              <a:rPr lang="en-US" sz="2274" strike="noStrike" u="none">
                <a:solidFill>
                  <a:srgbClr val="FF3131"/>
                </a:solidFill>
                <a:latin typeface="Montserrat"/>
                <a:ea typeface="Montserrat"/>
                <a:cs typeface="Montserrat"/>
                <a:sym typeface="Montserrat"/>
              </a:rPr>
              <a:t>- type, incorrect, correction, explanation</a:t>
            </a:r>
          </a:p>
          <a:p>
            <a:pPr algn="just" marL="0" indent="0" lvl="0">
              <a:lnSpc>
                <a:spcPts val="3503"/>
              </a:lnSpc>
              <a:spcBef>
                <a:spcPct val="0"/>
              </a:spcBef>
            </a:pPr>
            <a:r>
              <a:rPr lang="en-US" sz="2274" strike="noStrike" u="none">
                <a:solidFill>
                  <a:srgbClr val="FF3131"/>
                </a:solidFill>
                <a:latin typeface="Montserrat"/>
                <a:ea typeface="Montserrat"/>
                <a:cs typeface="Montserrat"/>
                <a:sym typeface="Montserrat"/>
              </a:rPr>
              <a:t>    """</a:t>
            </a:r>
          </a:p>
          <a:p>
            <a:pPr algn="just" marL="0" indent="0" lvl="0">
              <a:lnSpc>
                <a:spcPts val="3503"/>
              </a:lnSpc>
              <a:spcBef>
                <a:spcPct val="0"/>
              </a:spcBef>
            </a:pPr>
            <a:r>
              <a:rPr lang="en-US" sz="2274" strike="noStrike" u="none">
                <a:solidFill>
                  <a:srgbClr val="FF3131"/>
                </a:solidFill>
                <a:latin typeface="Montserrat"/>
                <a:ea typeface="Montserrat"/>
                <a:cs typeface="Montserrat"/>
                <a:sym typeface="Montserrat"/>
              </a:rPr>
              <a:t>    model = genai.GenerativeModel('gemini-2.5-flash')</a:t>
            </a:r>
          </a:p>
          <a:p>
            <a:pPr algn="just" marL="0" indent="0" lvl="0">
              <a:lnSpc>
                <a:spcPts val="3503"/>
              </a:lnSpc>
              <a:spcBef>
                <a:spcPct val="0"/>
              </a:spcBef>
            </a:pPr>
            <a:r>
              <a:rPr lang="en-US" sz="2274" strike="noStrike" u="none">
                <a:solidFill>
                  <a:srgbClr val="FF3131"/>
                </a:solidFill>
                <a:latin typeface="Montserrat"/>
                <a:ea typeface="Montserrat"/>
                <a:cs typeface="Montserrat"/>
                <a:sym typeface="Montserrat"/>
              </a:rPr>
              <a:t>    </a:t>
            </a:r>
            <a:r>
              <a:rPr lang="en-US" sz="2274" strike="noStrike" u="none">
                <a:solidFill>
                  <a:srgbClr val="FF3131"/>
                </a:solidFill>
                <a:latin typeface="Montserrat"/>
                <a:ea typeface="Montserrat"/>
                <a:cs typeface="Montserrat"/>
                <a:sym typeface="Montserrat"/>
              </a:rPr>
              <a:t>response = model.generate_content(prompt)</a:t>
            </a:r>
          </a:p>
          <a:p>
            <a:pPr algn="just" marL="0" indent="0" lvl="0">
              <a:lnSpc>
                <a:spcPts val="3503"/>
              </a:lnSpc>
              <a:spcBef>
                <a:spcPct val="0"/>
              </a:spcBef>
            </a:pPr>
            <a:r>
              <a:rPr lang="en-US" sz="2274" strike="noStrike" u="none">
                <a:solidFill>
                  <a:srgbClr val="FF3131"/>
                </a:solidFill>
                <a:latin typeface="Montserrat"/>
                <a:ea typeface="Montserrat"/>
                <a:cs typeface="Montserrat"/>
                <a:sym typeface="Montserrat"/>
              </a:rPr>
              <a:t>    </a:t>
            </a:r>
            <a:r>
              <a:rPr lang="en-US" sz="2274" strike="noStrike" u="none">
                <a:solidFill>
                  <a:srgbClr val="FF3131"/>
                </a:solidFill>
                <a:latin typeface="Montserrat"/>
                <a:ea typeface="Montserrat"/>
                <a:cs typeface="Montserrat"/>
                <a:sym typeface="Montserrat"/>
              </a:rPr>
              <a:t>return parse_json(response.text)</a:t>
            </a:r>
          </a:p>
        </p:txBody>
      </p:sp>
      <p:sp>
        <p:nvSpPr>
          <p:cNvPr name="Freeform 8" id="8"/>
          <p:cNvSpPr/>
          <p:nvPr/>
        </p:nvSpPr>
        <p:spPr>
          <a:xfrm flipH="false" flipV="false" rot="0">
            <a:off x="4262283" y="1127595"/>
            <a:ext cx="6802066" cy="1310944"/>
          </a:xfrm>
          <a:custGeom>
            <a:avLst/>
            <a:gdLst/>
            <a:ahLst/>
            <a:cxnLst/>
            <a:rect r="r" b="b" t="t" l="l"/>
            <a:pathLst>
              <a:path h="1310944" w="6802066">
                <a:moveTo>
                  <a:pt x="0" y="0"/>
                </a:moveTo>
                <a:lnTo>
                  <a:pt x="6802066" y="0"/>
                </a:lnTo>
                <a:lnTo>
                  <a:pt x="6802066" y="1310944"/>
                </a:lnTo>
                <a:lnTo>
                  <a:pt x="0" y="13109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5646784" y="1460804"/>
            <a:ext cx="4914903" cy="701698"/>
          </a:xfrm>
          <a:prstGeom prst="rect">
            <a:avLst/>
          </a:prstGeom>
        </p:spPr>
        <p:txBody>
          <a:bodyPr anchor="t" rtlCol="false" tIns="0" lIns="0" bIns="0" rIns="0">
            <a:spAutoFit/>
          </a:bodyPr>
          <a:lstStyle/>
          <a:p>
            <a:pPr algn="l">
              <a:lnSpc>
                <a:spcPts val="5350"/>
              </a:lnSpc>
            </a:pPr>
            <a:r>
              <a:rPr lang="en-US" sz="5000" b="true">
                <a:solidFill>
                  <a:srgbClr val="FCFEFF"/>
                </a:solidFill>
                <a:latin typeface="Aileron Bold"/>
                <a:ea typeface="Aileron Bold"/>
                <a:cs typeface="Aileron Bold"/>
                <a:sym typeface="Aileron Bold"/>
              </a:rPr>
              <a:t>Implementation</a:t>
            </a:r>
          </a:p>
        </p:txBody>
      </p:sp>
      <p:sp>
        <p:nvSpPr>
          <p:cNvPr name="TextBox 10" id="10"/>
          <p:cNvSpPr txBox="true"/>
          <p:nvPr/>
        </p:nvSpPr>
        <p:spPr>
          <a:xfrm rot="0">
            <a:off x="1018354" y="2683733"/>
            <a:ext cx="16240946" cy="606034"/>
          </a:xfrm>
          <a:prstGeom prst="rect">
            <a:avLst/>
          </a:prstGeom>
        </p:spPr>
        <p:txBody>
          <a:bodyPr anchor="t" rtlCol="false" tIns="0" lIns="0" bIns="0" rIns="0">
            <a:spAutoFit/>
          </a:bodyPr>
          <a:lstStyle/>
          <a:p>
            <a:pPr algn="l">
              <a:lnSpc>
                <a:spcPts val="4708"/>
              </a:lnSpc>
              <a:spcBef>
                <a:spcPct val="0"/>
              </a:spcBef>
            </a:pPr>
            <a:r>
              <a:rPr lang="en-US" b="true" sz="4400">
                <a:solidFill>
                  <a:srgbClr val="000000"/>
                </a:solidFill>
                <a:latin typeface="Montserrat Bold"/>
                <a:ea typeface="Montserrat Bold"/>
                <a:cs typeface="Montserrat Bold"/>
                <a:sym typeface="Montserrat Bold"/>
              </a:rPr>
              <a:t>Module 2: Error Detection</a:t>
            </a:r>
          </a:p>
        </p:txBody>
      </p:sp>
      <p:sp>
        <p:nvSpPr>
          <p:cNvPr name="TextBox 11" id="11"/>
          <p:cNvSpPr txBox="true"/>
          <p:nvPr/>
        </p:nvSpPr>
        <p:spPr>
          <a:xfrm rot="0">
            <a:off x="1066320" y="3508431"/>
            <a:ext cx="6032931" cy="400326"/>
          </a:xfrm>
          <a:prstGeom prst="rect">
            <a:avLst/>
          </a:prstGeom>
        </p:spPr>
        <p:txBody>
          <a:bodyPr anchor="t" rtlCol="false" tIns="0" lIns="0" bIns="0" rIns="0">
            <a:spAutoFit/>
          </a:bodyPr>
          <a:lstStyle/>
          <a:p>
            <a:pPr algn="ctr">
              <a:lnSpc>
                <a:spcPts val="3102"/>
              </a:lnSpc>
              <a:spcBef>
                <a:spcPct val="0"/>
              </a:spcBef>
            </a:pPr>
            <a:r>
              <a:rPr lang="en-US" b="true" sz="2899">
                <a:solidFill>
                  <a:srgbClr val="000000"/>
                </a:solidFill>
                <a:latin typeface="Montserrat Bold"/>
                <a:ea typeface="Montserrat Bold"/>
                <a:cs typeface="Montserrat Bold"/>
                <a:sym typeface="Montserrat Bold"/>
              </a:rPr>
              <a:t>AI-Powered Error Classification</a:t>
            </a:r>
          </a:p>
        </p:txBody>
      </p:sp>
      <p:sp>
        <p:nvSpPr>
          <p:cNvPr name="TextBox 12" id="12"/>
          <p:cNvSpPr txBox="true"/>
          <p:nvPr/>
        </p:nvSpPr>
        <p:spPr>
          <a:xfrm rot="0">
            <a:off x="1066320" y="4110576"/>
            <a:ext cx="6644024" cy="1113129"/>
          </a:xfrm>
          <a:prstGeom prst="rect">
            <a:avLst/>
          </a:prstGeom>
        </p:spPr>
        <p:txBody>
          <a:bodyPr anchor="t" rtlCol="false" tIns="0" lIns="0" bIns="0" rIns="0">
            <a:spAutoFit/>
          </a:bodyPr>
          <a:lstStyle/>
          <a:p>
            <a:pPr algn="just">
              <a:lnSpc>
                <a:spcPts val="2995"/>
              </a:lnSpc>
              <a:spcBef>
                <a:spcPct val="0"/>
              </a:spcBef>
            </a:pPr>
            <a:r>
              <a:rPr lang="en-US" sz="2799">
                <a:solidFill>
                  <a:srgbClr val="000000"/>
                </a:solidFill>
                <a:latin typeface="Montserrat"/>
                <a:ea typeface="Montserrat"/>
                <a:cs typeface="Montserrat"/>
                <a:sym typeface="Montserrat"/>
              </a:rPr>
              <a:t>Technology: Google Gemini 2.5-Flash </a:t>
            </a:r>
          </a:p>
          <a:p>
            <a:pPr algn="just">
              <a:lnSpc>
                <a:spcPts val="2995"/>
              </a:lnSpc>
              <a:spcBef>
                <a:spcPct val="0"/>
              </a:spcBef>
            </a:pPr>
            <a:r>
              <a:rPr lang="en-US" sz="2799">
                <a:solidFill>
                  <a:srgbClr val="000000"/>
                </a:solidFill>
                <a:latin typeface="Montserrat"/>
                <a:ea typeface="Montserrat"/>
                <a:cs typeface="Montserrat"/>
                <a:sym typeface="Montserrat"/>
              </a:rPr>
              <a:t>Task: Identify articulation, grammar, </a:t>
            </a:r>
          </a:p>
          <a:p>
            <a:pPr algn="just">
              <a:lnSpc>
                <a:spcPts val="2995"/>
              </a:lnSpc>
              <a:spcBef>
                <a:spcPct val="0"/>
              </a:spcBef>
            </a:pPr>
            <a:r>
              <a:rPr lang="en-US" sz="2799">
                <a:solidFill>
                  <a:srgbClr val="000000"/>
                </a:solidFill>
                <a:latin typeface="Montserrat"/>
                <a:ea typeface="Montserrat"/>
                <a:cs typeface="Montserrat"/>
                <a:sym typeface="Montserrat"/>
              </a:rPr>
              <a:t>and vocabulary errors</a:t>
            </a:r>
          </a:p>
        </p:txBody>
      </p:sp>
      <p:sp>
        <p:nvSpPr>
          <p:cNvPr name="TextBox 13" id="13"/>
          <p:cNvSpPr txBox="true"/>
          <p:nvPr/>
        </p:nvSpPr>
        <p:spPr>
          <a:xfrm rot="0">
            <a:off x="8967377" y="2645633"/>
            <a:ext cx="13193992" cy="248737"/>
          </a:xfrm>
          <a:prstGeom prst="rect">
            <a:avLst/>
          </a:prstGeom>
        </p:spPr>
        <p:txBody>
          <a:bodyPr anchor="t" rtlCol="false" tIns="0" lIns="0" bIns="0" rIns="0">
            <a:spAutoFit/>
          </a:bodyPr>
          <a:lstStyle/>
          <a:p>
            <a:pPr algn="l">
              <a:lnSpc>
                <a:spcPts val="1926"/>
              </a:lnSpc>
              <a:spcBef>
                <a:spcPct val="0"/>
              </a:spcBef>
            </a:pPr>
            <a:r>
              <a:rPr lang="en-US" b="true" sz="1800">
                <a:solidFill>
                  <a:srgbClr val="000000"/>
                </a:solidFill>
                <a:latin typeface="Montserrat Bold"/>
                <a:ea typeface="Montserrat Bold"/>
                <a:cs typeface="Montserrat Bold"/>
                <a:sym typeface="Montserrat Bold"/>
              </a:rPr>
              <a:t>Implementation:</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144000" y="1355173"/>
            <a:ext cx="10042068" cy="6664282"/>
          </a:xfrm>
          <a:custGeom>
            <a:avLst/>
            <a:gdLst/>
            <a:ahLst/>
            <a:cxnLst/>
            <a:rect r="r" b="b" t="t" l="l"/>
            <a:pathLst>
              <a:path h="6664282" w="10042068">
                <a:moveTo>
                  <a:pt x="0" y="6664282"/>
                </a:moveTo>
                <a:lnTo>
                  <a:pt x="10042068" y="6664282"/>
                </a:lnTo>
                <a:lnTo>
                  <a:pt x="10042068" y="0"/>
                </a:lnTo>
                <a:lnTo>
                  <a:pt x="0" y="0"/>
                </a:lnTo>
                <a:lnTo>
                  <a:pt x="0" y="6664282"/>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898068" y="2179650"/>
            <a:ext cx="10042068" cy="6664282"/>
          </a:xfrm>
          <a:custGeom>
            <a:avLst/>
            <a:gdLst/>
            <a:ahLst/>
            <a:cxnLst/>
            <a:rect r="r" b="b" t="t" l="l"/>
            <a:pathLst>
              <a:path h="6664282" w="10042068">
                <a:moveTo>
                  <a:pt x="10042068" y="0"/>
                </a:moveTo>
                <a:lnTo>
                  <a:pt x="0" y="0"/>
                </a:lnTo>
                <a:lnTo>
                  <a:pt x="0" y="6664282"/>
                </a:lnTo>
                <a:lnTo>
                  <a:pt x="10042068" y="6664282"/>
                </a:lnTo>
                <a:lnTo>
                  <a:pt x="10042068"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11278" y="4982792"/>
            <a:ext cx="4216232" cy="2798045"/>
          </a:xfrm>
          <a:custGeom>
            <a:avLst/>
            <a:gdLst/>
            <a:ahLst/>
            <a:cxnLst/>
            <a:rect r="r" b="b" t="t" l="l"/>
            <a:pathLst>
              <a:path h="2798045" w="4216232">
                <a:moveTo>
                  <a:pt x="0" y="0"/>
                </a:moveTo>
                <a:lnTo>
                  <a:pt x="4216232" y="0"/>
                </a:lnTo>
                <a:lnTo>
                  <a:pt x="4216232" y="2798045"/>
                </a:lnTo>
                <a:lnTo>
                  <a:pt x="0" y="2798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05789" y="-488243"/>
            <a:ext cx="5381659" cy="4060706"/>
          </a:xfrm>
          <a:custGeom>
            <a:avLst/>
            <a:gdLst/>
            <a:ahLst/>
            <a:cxnLst/>
            <a:rect r="r" b="b" t="t" l="l"/>
            <a:pathLst>
              <a:path h="4060706" w="5381659">
                <a:moveTo>
                  <a:pt x="0" y="0"/>
                </a:moveTo>
                <a:lnTo>
                  <a:pt x="5381659" y="0"/>
                </a:lnTo>
                <a:lnTo>
                  <a:pt x="5381659" y="4060707"/>
                </a:lnTo>
                <a:lnTo>
                  <a:pt x="0" y="4060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3031403" y="6736988"/>
            <a:ext cx="5581585" cy="4211560"/>
          </a:xfrm>
          <a:custGeom>
            <a:avLst/>
            <a:gdLst/>
            <a:ahLst/>
            <a:cxnLst/>
            <a:rect r="r" b="b" t="t" l="l"/>
            <a:pathLst>
              <a:path h="4211560" w="5581585">
                <a:moveTo>
                  <a:pt x="5581585" y="4211560"/>
                </a:moveTo>
                <a:lnTo>
                  <a:pt x="0" y="4211560"/>
                </a:lnTo>
                <a:lnTo>
                  <a:pt x="0" y="0"/>
                </a:lnTo>
                <a:lnTo>
                  <a:pt x="5581585" y="0"/>
                </a:lnTo>
                <a:lnTo>
                  <a:pt x="5581585" y="42115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262283" y="1127595"/>
            <a:ext cx="6802066" cy="1310944"/>
          </a:xfrm>
          <a:custGeom>
            <a:avLst/>
            <a:gdLst/>
            <a:ahLst/>
            <a:cxnLst/>
            <a:rect r="r" b="b" t="t" l="l"/>
            <a:pathLst>
              <a:path h="1310944" w="6802066">
                <a:moveTo>
                  <a:pt x="0" y="0"/>
                </a:moveTo>
                <a:lnTo>
                  <a:pt x="6802066" y="0"/>
                </a:lnTo>
                <a:lnTo>
                  <a:pt x="6802066" y="1310944"/>
                </a:lnTo>
                <a:lnTo>
                  <a:pt x="0" y="13109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5646784" y="1460804"/>
            <a:ext cx="4914903" cy="701698"/>
          </a:xfrm>
          <a:prstGeom prst="rect">
            <a:avLst/>
          </a:prstGeom>
        </p:spPr>
        <p:txBody>
          <a:bodyPr anchor="t" rtlCol="false" tIns="0" lIns="0" bIns="0" rIns="0">
            <a:spAutoFit/>
          </a:bodyPr>
          <a:lstStyle/>
          <a:p>
            <a:pPr algn="l">
              <a:lnSpc>
                <a:spcPts val="5350"/>
              </a:lnSpc>
            </a:pPr>
            <a:r>
              <a:rPr lang="en-US" sz="5000" b="true">
                <a:solidFill>
                  <a:srgbClr val="FCFEFF"/>
                </a:solidFill>
                <a:latin typeface="Aileron Bold"/>
                <a:ea typeface="Aileron Bold"/>
                <a:cs typeface="Aileron Bold"/>
                <a:sym typeface="Aileron Bold"/>
              </a:rPr>
              <a:t>Implementation</a:t>
            </a:r>
          </a:p>
        </p:txBody>
      </p:sp>
      <p:sp>
        <p:nvSpPr>
          <p:cNvPr name="TextBox 9" id="9"/>
          <p:cNvSpPr txBox="true"/>
          <p:nvPr/>
        </p:nvSpPr>
        <p:spPr>
          <a:xfrm rot="0">
            <a:off x="1018354" y="2683733"/>
            <a:ext cx="16240946" cy="606034"/>
          </a:xfrm>
          <a:prstGeom prst="rect">
            <a:avLst/>
          </a:prstGeom>
        </p:spPr>
        <p:txBody>
          <a:bodyPr anchor="t" rtlCol="false" tIns="0" lIns="0" bIns="0" rIns="0">
            <a:spAutoFit/>
          </a:bodyPr>
          <a:lstStyle/>
          <a:p>
            <a:pPr algn="l">
              <a:lnSpc>
                <a:spcPts val="4708"/>
              </a:lnSpc>
              <a:spcBef>
                <a:spcPct val="0"/>
              </a:spcBef>
            </a:pPr>
            <a:r>
              <a:rPr lang="en-US" b="true" sz="4400">
                <a:solidFill>
                  <a:srgbClr val="000000"/>
                </a:solidFill>
                <a:latin typeface="Montserrat Bold"/>
                <a:ea typeface="Montserrat Bold"/>
                <a:cs typeface="Montserrat Bold"/>
                <a:sym typeface="Montserrat Bold"/>
              </a:rPr>
              <a:t>Module 2: Error Detection</a:t>
            </a:r>
          </a:p>
        </p:txBody>
      </p:sp>
      <p:sp>
        <p:nvSpPr>
          <p:cNvPr name="TextBox 10" id="10"/>
          <p:cNvSpPr txBox="true"/>
          <p:nvPr/>
        </p:nvSpPr>
        <p:spPr>
          <a:xfrm rot="0">
            <a:off x="1028700" y="3527891"/>
            <a:ext cx="12967554" cy="3713690"/>
          </a:xfrm>
          <a:prstGeom prst="rect">
            <a:avLst/>
          </a:prstGeom>
        </p:spPr>
        <p:txBody>
          <a:bodyPr anchor="t" rtlCol="false" tIns="0" lIns="0" bIns="0" rIns="0">
            <a:spAutoFit/>
          </a:bodyPr>
          <a:lstStyle/>
          <a:p>
            <a:pPr algn="just">
              <a:lnSpc>
                <a:spcPts val="2995"/>
              </a:lnSpc>
              <a:spcBef>
                <a:spcPct val="0"/>
              </a:spcBef>
            </a:pPr>
            <a:r>
              <a:rPr lang="en-US" sz="2799">
                <a:solidFill>
                  <a:srgbClr val="000000"/>
                </a:solidFill>
                <a:latin typeface="Montserrat"/>
                <a:ea typeface="Montserrat"/>
                <a:cs typeface="Montserrat"/>
                <a:sym typeface="Montserrat"/>
              </a:rPr>
              <a:t>Cl</a:t>
            </a:r>
            <a:r>
              <a:rPr lang="en-US" sz="2799">
                <a:solidFill>
                  <a:srgbClr val="000000"/>
                </a:solidFill>
                <a:latin typeface="Montserrat"/>
                <a:ea typeface="Montserrat"/>
                <a:cs typeface="Montserrat"/>
                <a:sym typeface="Montserrat"/>
              </a:rPr>
              <a:t>assification Algorithm:</a:t>
            </a:r>
          </a:p>
          <a:p>
            <a:pPr algn="just" marL="604519" indent="-302260" lvl="1">
              <a:lnSpc>
                <a:spcPts val="2995"/>
              </a:lnSpc>
              <a:spcBef>
                <a:spcPct val="0"/>
              </a:spcBef>
              <a:buAutoNum type="arabicPeriod" startAt="1"/>
            </a:pPr>
            <a:r>
              <a:rPr lang="en-US" sz="2799">
                <a:solidFill>
                  <a:srgbClr val="000000"/>
                </a:solidFill>
                <a:latin typeface="Montserrat"/>
                <a:ea typeface="Montserrat"/>
                <a:cs typeface="Montserrat"/>
                <a:sym typeface="Montserrat"/>
              </a:rPr>
              <a:t>Ph</a:t>
            </a:r>
            <a:r>
              <a:rPr lang="en-US" sz="2799">
                <a:solidFill>
                  <a:srgbClr val="000000"/>
                </a:solidFill>
                <a:latin typeface="Montserrat"/>
                <a:ea typeface="Montserrat"/>
                <a:cs typeface="Montserrat"/>
                <a:sym typeface="Montserrat"/>
              </a:rPr>
              <a:t>onological Analysis: ASR confidence scores + pattern matching</a:t>
            </a:r>
          </a:p>
          <a:p>
            <a:pPr algn="just" marL="604519" indent="-302260" lvl="1">
              <a:lnSpc>
                <a:spcPts val="2995"/>
              </a:lnSpc>
              <a:spcBef>
                <a:spcPct val="0"/>
              </a:spcBef>
              <a:buAutoNum type="arabicPeriod" startAt="1"/>
            </a:pPr>
            <a:r>
              <a:rPr lang="en-US" sz="2799">
                <a:solidFill>
                  <a:srgbClr val="000000"/>
                </a:solidFill>
                <a:latin typeface="Montserrat"/>
                <a:ea typeface="Montserrat"/>
                <a:cs typeface="Montserrat"/>
                <a:sym typeface="Montserrat"/>
              </a:rPr>
              <a:t>Grammatical Analysis: Syntax tree parsing + rule checking</a:t>
            </a:r>
          </a:p>
          <a:p>
            <a:pPr algn="just" marL="604519" indent="-302260" lvl="1">
              <a:lnSpc>
                <a:spcPts val="2995"/>
              </a:lnSpc>
              <a:spcBef>
                <a:spcPct val="0"/>
              </a:spcBef>
              <a:buAutoNum type="arabicPeriod" startAt="1"/>
            </a:pPr>
            <a:r>
              <a:rPr lang="en-US" sz="2799">
                <a:solidFill>
                  <a:srgbClr val="000000"/>
                </a:solidFill>
                <a:latin typeface="Montserrat"/>
                <a:ea typeface="Montserrat"/>
                <a:cs typeface="Montserrat"/>
                <a:sym typeface="Montserrat"/>
              </a:rPr>
              <a:t>Semantic Analysis: Context appropriateness evaluation</a:t>
            </a:r>
          </a:p>
          <a:p>
            <a:pPr algn="just">
              <a:lnSpc>
                <a:spcPts val="2995"/>
              </a:lnSpc>
              <a:spcBef>
                <a:spcPct val="0"/>
              </a:spcBef>
            </a:pPr>
          </a:p>
          <a:p>
            <a:pPr algn="just">
              <a:lnSpc>
                <a:spcPts val="2995"/>
              </a:lnSpc>
              <a:spcBef>
                <a:spcPct val="0"/>
              </a:spcBef>
            </a:pPr>
            <a:r>
              <a:rPr lang="en-US" sz="2799">
                <a:solidFill>
                  <a:srgbClr val="000000"/>
                </a:solidFill>
                <a:latin typeface="Montserrat"/>
                <a:ea typeface="Montserrat"/>
                <a:cs typeface="Montserrat"/>
                <a:sym typeface="Montserrat"/>
              </a:rPr>
              <a:t>Performance:</a:t>
            </a:r>
          </a:p>
          <a:p>
            <a:pPr algn="just" marL="604519" indent="-302260" lvl="1">
              <a:lnSpc>
                <a:spcPts val="2995"/>
              </a:lnSpc>
              <a:spcBef>
                <a:spcPct val="0"/>
              </a:spcBef>
              <a:buFont typeface="Arial"/>
              <a:buChar char="•"/>
            </a:pPr>
            <a:r>
              <a:rPr lang="en-US" sz="2799">
                <a:solidFill>
                  <a:srgbClr val="000000"/>
                </a:solidFill>
                <a:latin typeface="Montserrat"/>
                <a:ea typeface="Montserrat"/>
                <a:cs typeface="Montserrat"/>
                <a:sym typeface="Montserrat"/>
              </a:rPr>
              <a:t>Articulation errors: 91% accuracy</a:t>
            </a:r>
          </a:p>
          <a:p>
            <a:pPr algn="just" marL="604519" indent="-302260" lvl="1">
              <a:lnSpc>
                <a:spcPts val="2995"/>
              </a:lnSpc>
              <a:spcBef>
                <a:spcPct val="0"/>
              </a:spcBef>
              <a:buFont typeface="Arial"/>
              <a:buChar char="•"/>
            </a:pPr>
            <a:r>
              <a:rPr lang="en-US" sz="2799">
                <a:solidFill>
                  <a:srgbClr val="000000"/>
                </a:solidFill>
                <a:latin typeface="Montserrat"/>
                <a:ea typeface="Montserrat"/>
                <a:cs typeface="Montserrat"/>
                <a:sym typeface="Montserrat"/>
              </a:rPr>
              <a:t>Gramm</a:t>
            </a:r>
            <a:r>
              <a:rPr lang="en-US" sz="2799">
                <a:solidFill>
                  <a:srgbClr val="000000"/>
                </a:solidFill>
                <a:latin typeface="Montserrat"/>
                <a:ea typeface="Montserrat"/>
                <a:cs typeface="Montserrat"/>
                <a:sym typeface="Montserrat"/>
              </a:rPr>
              <a:t>ar errors: 88% accuracy</a:t>
            </a:r>
          </a:p>
          <a:p>
            <a:pPr algn="just" marL="604519" indent="-302260" lvl="1">
              <a:lnSpc>
                <a:spcPts val="2995"/>
              </a:lnSpc>
              <a:spcBef>
                <a:spcPct val="0"/>
              </a:spcBef>
              <a:buFont typeface="Arial"/>
              <a:buChar char="•"/>
            </a:pPr>
            <a:r>
              <a:rPr lang="en-US" sz="2799">
                <a:solidFill>
                  <a:srgbClr val="000000"/>
                </a:solidFill>
                <a:latin typeface="Montserrat"/>
                <a:ea typeface="Montserrat"/>
                <a:cs typeface="Montserrat"/>
                <a:sym typeface="Montserrat"/>
              </a:rPr>
              <a:t>Vocabulary errors: 85% accuracy</a:t>
            </a:r>
          </a:p>
          <a:p>
            <a:pPr algn="just">
              <a:lnSpc>
                <a:spcPts val="2995"/>
              </a:lnSpc>
              <a:spcBef>
                <a:spcPct val="0"/>
              </a:spcBef>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144000" y="1355173"/>
            <a:ext cx="10042068" cy="6664282"/>
          </a:xfrm>
          <a:custGeom>
            <a:avLst/>
            <a:gdLst/>
            <a:ahLst/>
            <a:cxnLst/>
            <a:rect r="r" b="b" t="t" l="l"/>
            <a:pathLst>
              <a:path h="6664282" w="10042068">
                <a:moveTo>
                  <a:pt x="0" y="6664282"/>
                </a:moveTo>
                <a:lnTo>
                  <a:pt x="10042068" y="6664282"/>
                </a:lnTo>
                <a:lnTo>
                  <a:pt x="10042068" y="0"/>
                </a:lnTo>
                <a:lnTo>
                  <a:pt x="0" y="0"/>
                </a:lnTo>
                <a:lnTo>
                  <a:pt x="0" y="6664282"/>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898068" y="2179650"/>
            <a:ext cx="10042068" cy="6664282"/>
          </a:xfrm>
          <a:custGeom>
            <a:avLst/>
            <a:gdLst/>
            <a:ahLst/>
            <a:cxnLst/>
            <a:rect r="r" b="b" t="t" l="l"/>
            <a:pathLst>
              <a:path h="6664282" w="10042068">
                <a:moveTo>
                  <a:pt x="10042068" y="0"/>
                </a:moveTo>
                <a:lnTo>
                  <a:pt x="0" y="0"/>
                </a:lnTo>
                <a:lnTo>
                  <a:pt x="0" y="6664282"/>
                </a:lnTo>
                <a:lnTo>
                  <a:pt x="10042068" y="6664282"/>
                </a:lnTo>
                <a:lnTo>
                  <a:pt x="10042068"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11278" y="4982792"/>
            <a:ext cx="4216232" cy="2798045"/>
          </a:xfrm>
          <a:custGeom>
            <a:avLst/>
            <a:gdLst/>
            <a:ahLst/>
            <a:cxnLst/>
            <a:rect r="r" b="b" t="t" l="l"/>
            <a:pathLst>
              <a:path h="2798045" w="4216232">
                <a:moveTo>
                  <a:pt x="0" y="0"/>
                </a:moveTo>
                <a:lnTo>
                  <a:pt x="4216232" y="0"/>
                </a:lnTo>
                <a:lnTo>
                  <a:pt x="4216232" y="2798045"/>
                </a:lnTo>
                <a:lnTo>
                  <a:pt x="0" y="2798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05789" y="-488243"/>
            <a:ext cx="5381659" cy="4060706"/>
          </a:xfrm>
          <a:custGeom>
            <a:avLst/>
            <a:gdLst/>
            <a:ahLst/>
            <a:cxnLst/>
            <a:rect r="r" b="b" t="t" l="l"/>
            <a:pathLst>
              <a:path h="4060706" w="5381659">
                <a:moveTo>
                  <a:pt x="0" y="0"/>
                </a:moveTo>
                <a:lnTo>
                  <a:pt x="5381659" y="0"/>
                </a:lnTo>
                <a:lnTo>
                  <a:pt x="5381659" y="4060707"/>
                </a:lnTo>
                <a:lnTo>
                  <a:pt x="0" y="4060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3031403" y="6736988"/>
            <a:ext cx="5581585" cy="4211560"/>
          </a:xfrm>
          <a:custGeom>
            <a:avLst/>
            <a:gdLst/>
            <a:ahLst/>
            <a:cxnLst/>
            <a:rect r="r" b="b" t="t" l="l"/>
            <a:pathLst>
              <a:path h="4211560" w="5581585">
                <a:moveTo>
                  <a:pt x="5581585" y="4211560"/>
                </a:moveTo>
                <a:lnTo>
                  <a:pt x="0" y="4211560"/>
                </a:lnTo>
                <a:lnTo>
                  <a:pt x="0" y="0"/>
                </a:lnTo>
                <a:lnTo>
                  <a:pt x="5581585" y="0"/>
                </a:lnTo>
                <a:lnTo>
                  <a:pt x="5581585" y="42115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262283" y="1127595"/>
            <a:ext cx="6802066" cy="1310944"/>
          </a:xfrm>
          <a:custGeom>
            <a:avLst/>
            <a:gdLst/>
            <a:ahLst/>
            <a:cxnLst/>
            <a:rect r="r" b="b" t="t" l="l"/>
            <a:pathLst>
              <a:path h="1310944" w="6802066">
                <a:moveTo>
                  <a:pt x="0" y="0"/>
                </a:moveTo>
                <a:lnTo>
                  <a:pt x="6802066" y="0"/>
                </a:lnTo>
                <a:lnTo>
                  <a:pt x="6802066" y="1310944"/>
                </a:lnTo>
                <a:lnTo>
                  <a:pt x="0" y="13109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3488198" y="3289766"/>
            <a:ext cx="11301259" cy="6356958"/>
          </a:xfrm>
          <a:custGeom>
            <a:avLst/>
            <a:gdLst/>
            <a:ahLst/>
            <a:cxnLst/>
            <a:rect r="r" b="b" t="t" l="l"/>
            <a:pathLst>
              <a:path h="6356958" w="11301259">
                <a:moveTo>
                  <a:pt x="0" y="0"/>
                </a:moveTo>
                <a:lnTo>
                  <a:pt x="11301259" y="0"/>
                </a:lnTo>
                <a:lnTo>
                  <a:pt x="11301259" y="6356958"/>
                </a:lnTo>
                <a:lnTo>
                  <a:pt x="0" y="6356958"/>
                </a:lnTo>
                <a:lnTo>
                  <a:pt x="0" y="0"/>
                </a:lnTo>
                <a:close/>
              </a:path>
            </a:pathLst>
          </a:custGeom>
          <a:blipFill>
            <a:blip r:embed="rId8"/>
            <a:stretch>
              <a:fillRect l="0" t="0" r="0" b="0"/>
            </a:stretch>
          </a:blipFill>
        </p:spPr>
      </p:sp>
      <p:sp>
        <p:nvSpPr>
          <p:cNvPr name="TextBox 9" id="9"/>
          <p:cNvSpPr txBox="true"/>
          <p:nvPr/>
        </p:nvSpPr>
        <p:spPr>
          <a:xfrm rot="0">
            <a:off x="5646784" y="1460804"/>
            <a:ext cx="4914903" cy="701698"/>
          </a:xfrm>
          <a:prstGeom prst="rect">
            <a:avLst/>
          </a:prstGeom>
        </p:spPr>
        <p:txBody>
          <a:bodyPr anchor="t" rtlCol="false" tIns="0" lIns="0" bIns="0" rIns="0">
            <a:spAutoFit/>
          </a:bodyPr>
          <a:lstStyle/>
          <a:p>
            <a:pPr algn="l">
              <a:lnSpc>
                <a:spcPts val="5350"/>
              </a:lnSpc>
            </a:pPr>
            <a:r>
              <a:rPr lang="en-US" sz="5000" b="true">
                <a:solidFill>
                  <a:srgbClr val="FCFEFF"/>
                </a:solidFill>
                <a:latin typeface="Aileron Bold"/>
                <a:ea typeface="Aileron Bold"/>
                <a:cs typeface="Aileron Bold"/>
                <a:sym typeface="Aileron Bold"/>
              </a:rPr>
              <a:t>Implementation</a:t>
            </a:r>
          </a:p>
        </p:txBody>
      </p:sp>
      <p:sp>
        <p:nvSpPr>
          <p:cNvPr name="TextBox 10" id="10"/>
          <p:cNvSpPr txBox="true"/>
          <p:nvPr/>
        </p:nvSpPr>
        <p:spPr>
          <a:xfrm rot="0">
            <a:off x="1018354" y="2683733"/>
            <a:ext cx="16240946" cy="606034"/>
          </a:xfrm>
          <a:prstGeom prst="rect">
            <a:avLst/>
          </a:prstGeom>
        </p:spPr>
        <p:txBody>
          <a:bodyPr anchor="t" rtlCol="false" tIns="0" lIns="0" bIns="0" rIns="0">
            <a:spAutoFit/>
          </a:bodyPr>
          <a:lstStyle/>
          <a:p>
            <a:pPr algn="l">
              <a:lnSpc>
                <a:spcPts val="4708"/>
              </a:lnSpc>
              <a:spcBef>
                <a:spcPct val="0"/>
              </a:spcBef>
            </a:pPr>
            <a:r>
              <a:rPr lang="en-US" b="true" sz="4400">
                <a:solidFill>
                  <a:srgbClr val="000000"/>
                </a:solidFill>
                <a:latin typeface="Montserrat Bold"/>
                <a:ea typeface="Montserrat Bold"/>
                <a:cs typeface="Montserrat Bold"/>
                <a:sym typeface="Montserrat Bold"/>
              </a:rPr>
              <a:t>Module 2: Error Detection</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144000" y="1355173"/>
            <a:ext cx="10042068" cy="6664282"/>
          </a:xfrm>
          <a:custGeom>
            <a:avLst/>
            <a:gdLst/>
            <a:ahLst/>
            <a:cxnLst/>
            <a:rect r="r" b="b" t="t" l="l"/>
            <a:pathLst>
              <a:path h="6664282" w="10042068">
                <a:moveTo>
                  <a:pt x="0" y="6664282"/>
                </a:moveTo>
                <a:lnTo>
                  <a:pt x="10042068" y="6664282"/>
                </a:lnTo>
                <a:lnTo>
                  <a:pt x="10042068" y="0"/>
                </a:lnTo>
                <a:lnTo>
                  <a:pt x="0" y="0"/>
                </a:lnTo>
                <a:lnTo>
                  <a:pt x="0" y="6664282"/>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898068" y="2179650"/>
            <a:ext cx="10042068" cy="6664282"/>
          </a:xfrm>
          <a:custGeom>
            <a:avLst/>
            <a:gdLst/>
            <a:ahLst/>
            <a:cxnLst/>
            <a:rect r="r" b="b" t="t" l="l"/>
            <a:pathLst>
              <a:path h="6664282" w="10042068">
                <a:moveTo>
                  <a:pt x="10042068" y="0"/>
                </a:moveTo>
                <a:lnTo>
                  <a:pt x="0" y="0"/>
                </a:lnTo>
                <a:lnTo>
                  <a:pt x="0" y="6664282"/>
                </a:lnTo>
                <a:lnTo>
                  <a:pt x="10042068" y="6664282"/>
                </a:lnTo>
                <a:lnTo>
                  <a:pt x="10042068"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11278" y="4982792"/>
            <a:ext cx="4216232" cy="2798045"/>
          </a:xfrm>
          <a:custGeom>
            <a:avLst/>
            <a:gdLst/>
            <a:ahLst/>
            <a:cxnLst/>
            <a:rect r="r" b="b" t="t" l="l"/>
            <a:pathLst>
              <a:path h="2798045" w="4216232">
                <a:moveTo>
                  <a:pt x="0" y="0"/>
                </a:moveTo>
                <a:lnTo>
                  <a:pt x="4216232" y="0"/>
                </a:lnTo>
                <a:lnTo>
                  <a:pt x="4216232" y="2798045"/>
                </a:lnTo>
                <a:lnTo>
                  <a:pt x="0" y="2798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05789" y="-488243"/>
            <a:ext cx="5381659" cy="4060706"/>
          </a:xfrm>
          <a:custGeom>
            <a:avLst/>
            <a:gdLst/>
            <a:ahLst/>
            <a:cxnLst/>
            <a:rect r="r" b="b" t="t" l="l"/>
            <a:pathLst>
              <a:path h="4060706" w="5381659">
                <a:moveTo>
                  <a:pt x="0" y="0"/>
                </a:moveTo>
                <a:lnTo>
                  <a:pt x="5381659" y="0"/>
                </a:lnTo>
                <a:lnTo>
                  <a:pt x="5381659" y="4060707"/>
                </a:lnTo>
                <a:lnTo>
                  <a:pt x="0" y="4060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3031403" y="6736988"/>
            <a:ext cx="5581585" cy="4211560"/>
          </a:xfrm>
          <a:custGeom>
            <a:avLst/>
            <a:gdLst/>
            <a:ahLst/>
            <a:cxnLst/>
            <a:rect r="r" b="b" t="t" l="l"/>
            <a:pathLst>
              <a:path h="4211560" w="5581585">
                <a:moveTo>
                  <a:pt x="5581585" y="4211560"/>
                </a:moveTo>
                <a:lnTo>
                  <a:pt x="0" y="4211560"/>
                </a:lnTo>
                <a:lnTo>
                  <a:pt x="0" y="0"/>
                </a:lnTo>
                <a:lnTo>
                  <a:pt x="5581585" y="0"/>
                </a:lnTo>
                <a:lnTo>
                  <a:pt x="5581585" y="4211560"/>
                </a:lnTo>
                <a:close/>
              </a:path>
            </a:pathLst>
          </a:custGeom>
          <a:blipFill>
            <a:blip r:embed="rId4">
              <a:alphaModFix amt="18000"/>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9257208" y="3083802"/>
            <a:ext cx="10908139" cy="6538875"/>
          </a:xfrm>
          <a:prstGeom prst="rect">
            <a:avLst/>
          </a:prstGeom>
        </p:spPr>
        <p:txBody>
          <a:bodyPr anchor="t" rtlCol="false" tIns="0" lIns="0" bIns="0" rIns="0">
            <a:spAutoFit/>
          </a:bodyPr>
          <a:lstStyle/>
          <a:p>
            <a:pPr algn="just" marL="0" indent="0" lvl="0">
              <a:lnSpc>
                <a:spcPts val="2896"/>
              </a:lnSpc>
              <a:spcBef>
                <a:spcPct val="0"/>
              </a:spcBef>
            </a:pPr>
            <a:r>
              <a:rPr lang="en-US" sz="1880">
                <a:solidFill>
                  <a:srgbClr val="FF3131"/>
                </a:solidFill>
                <a:latin typeface="Montserrat"/>
                <a:ea typeface="Montserrat"/>
                <a:cs typeface="Montserrat"/>
                <a:sym typeface="Montserrat"/>
              </a:rPr>
              <a:t>def</a:t>
            </a:r>
            <a:r>
              <a:rPr lang="en-US" sz="1880" strike="noStrike" u="none">
                <a:solidFill>
                  <a:srgbClr val="FF3131"/>
                </a:solidFill>
                <a:latin typeface="Montserrat"/>
                <a:ea typeface="Montserrat"/>
                <a:cs typeface="Montserrat"/>
                <a:sym typeface="Montserrat"/>
              </a:rPr>
              <a:t> generate</a:t>
            </a:r>
            <a:r>
              <a:rPr lang="en-US" sz="1880" strike="noStrike" u="none">
                <a:solidFill>
                  <a:srgbClr val="FF3131"/>
                </a:solidFill>
                <a:latin typeface="Montserrat"/>
                <a:ea typeface="Montserrat"/>
                <a:cs typeface="Montserrat"/>
                <a:sym typeface="Montserrat"/>
              </a:rPr>
              <a:t>_</a:t>
            </a:r>
            <a:r>
              <a:rPr lang="en-US" sz="1880" strike="noStrike" u="none">
                <a:solidFill>
                  <a:srgbClr val="FF3131"/>
                </a:solidFill>
                <a:latin typeface="Montserrat"/>
                <a:ea typeface="Montserrat"/>
                <a:cs typeface="Montserrat"/>
                <a:sym typeface="Montserrat"/>
              </a:rPr>
              <a:t>st</a:t>
            </a:r>
            <a:r>
              <a:rPr lang="en-US" sz="1880" strike="noStrike" u="none">
                <a:solidFill>
                  <a:srgbClr val="FF3131"/>
                </a:solidFill>
                <a:latin typeface="Montserrat"/>
                <a:ea typeface="Montserrat"/>
                <a:cs typeface="Montserrat"/>
                <a:sym typeface="Montserrat"/>
              </a:rPr>
              <a:t>ory(subj</a:t>
            </a:r>
            <a:r>
              <a:rPr lang="en-US" sz="1880" strike="noStrike" u="none">
                <a:solidFill>
                  <a:srgbClr val="FF3131"/>
                </a:solidFill>
                <a:latin typeface="Montserrat"/>
                <a:ea typeface="Montserrat"/>
                <a:cs typeface="Montserrat"/>
                <a:sym typeface="Montserrat"/>
              </a:rPr>
              <a:t>ect</a:t>
            </a:r>
            <a:r>
              <a:rPr lang="en-US" sz="1880" strike="noStrike" u="none">
                <a:solidFill>
                  <a:srgbClr val="FF3131"/>
                </a:solidFill>
                <a:latin typeface="Montserrat"/>
                <a:ea typeface="Montserrat"/>
                <a:cs typeface="Montserrat"/>
                <a:sym typeface="Montserrat"/>
              </a:rPr>
              <a:t>, </a:t>
            </a:r>
            <a:r>
              <a:rPr lang="en-US" sz="1880" strike="noStrike" u="none">
                <a:solidFill>
                  <a:srgbClr val="FF3131"/>
                </a:solidFill>
                <a:latin typeface="Montserrat"/>
                <a:ea typeface="Montserrat"/>
                <a:cs typeface="Montserrat"/>
                <a:sym typeface="Montserrat"/>
              </a:rPr>
              <a:t>errors, transcript):</a:t>
            </a: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    </a:t>
            </a:r>
            <a:r>
              <a:rPr lang="en-US" sz="1880" strike="noStrike" u="none">
                <a:solidFill>
                  <a:srgbClr val="FF3131"/>
                </a:solidFill>
                <a:latin typeface="Montserrat"/>
                <a:ea typeface="Montserrat"/>
                <a:cs typeface="Montserrat"/>
                <a:sym typeface="Montserrat"/>
              </a:rPr>
              <a:t>error_description = format_errors(errors)</a:t>
            </a: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 </a:t>
            </a: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    </a:t>
            </a:r>
            <a:r>
              <a:rPr lang="en-US" sz="1880" strike="noStrike" u="none">
                <a:solidFill>
                  <a:srgbClr val="FF3131"/>
                </a:solidFill>
                <a:latin typeface="Montserrat"/>
                <a:ea typeface="Montserrat"/>
                <a:cs typeface="Montserrat"/>
                <a:sym typeface="Montserrat"/>
              </a:rPr>
              <a:t>pro</a:t>
            </a:r>
            <a:r>
              <a:rPr lang="en-US" sz="1880" strike="noStrike" u="none">
                <a:solidFill>
                  <a:srgbClr val="FF3131"/>
                </a:solidFill>
                <a:latin typeface="Montserrat"/>
                <a:ea typeface="Montserrat"/>
                <a:cs typeface="Montserrat"/>
                <a:sym typeface="Montserrat"/>
              </a:rPr>
              <a:t>mpt</a:t>
            </a:r>
            <a:r>
              <a:rPr lang="en-US" sz="1880" strike="noStrike" u="none">
                <a:solidFill>
                  <a:srgbClr val="FF3131"/>
                </a:solidFill>
                <a:latin typeface="Montserrat"/>
                <a:ea typeface="Montserrat"/>
                <a:cs typeface="Montserrat"/>
                <a:sym typeface="Montserrat"/>
              </a:rPr>
              <a:t> = </a:t>
            </a:r>
            <a:r>
              <a:rPr lang="en-US" sz="1880" strike="noStrike" u="none">
                <a:solidFill>
                  <a:srgbClr val="FF3131"/>
                </a:solidFill>
                <a:latin typeface="Montserrat"/>
                <a:ea typeface="Montserrat"/>
                <a:cs typeface="Montserrat"/>
                <a:sym typeface="Montserrat"/>
              </a:rPr>
              <a:t>f"""</a:t>
            </a: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    </a:t>
            </a:r>
            <a:r>
              <a:rPr lang="en-US" sz="1880" strike="noStrike" u="none">
                <a:solidFill>
                  <a:srgbClr val="FF3131"/>
                </a:solidFill>
                <a:latin typeface="Montserrat"/>
                <a:ea typeface="Montserrat"/>
                <a:cs typeface="Montserrat"/>
                <a:sym typeface="Montserrat"/>
              </a:rPr>
              <a:t>Create a SHORT story (8-12 </a:t>
            </a:r>
            <a:r>
              <a:rPr lang="en-US" sz="1880" strike="noStrike" u="none">
                <a:solidFill>
                  <a:srgbClr val="FF3131"/>
                </a:solidFill>
                <a:latin typeface="Montserrat"/>
                <a:ea typeface="Montserrat"/>
                <a:cs typeface="Montserrat"/>
                <a:sym typeface="Montserrat"/>
              </a:rPr>
              <a:t>sent</a:t>
            </a:r>
            <a:r>
              <a:rPr lang="en-US" sz="1880" strike="noStrike" u="none">
                <a:solidFill>
                  <a:srgbClr val="FF3131"/>
                </a:solidFill>
                <a:latin typeface="Montserrat"/>
                <a:ea typeface="Montserrat"/>
                <a:cs typeface="Montserrat"/>
                <a:sym typeface="Montserrat"/>
              </a:rPr>
              <a:t>ences) fo</a:t>
            </a:r>
            <a:r>
              <a:rPr lang="en-US" sz="1880" strike="noStrike" u="none">
                <a:solidFill>
                  <a:srgbClr val="FF3131"/>
                </a:solidFill>
                <a:latin typeface="Montserrat"/>
                <a:ea typeface="Montserrat"/>
                <a:cs typeface="Montserrat"/>
                <a:sym typeface="Montserrat"/>
              </a:rPr>
              <a:t>r</a:t>
            </a:r>
            <a:r>
              <a:rPr lang="en-US" sz="1880" strike="noStrike" u="none">
                <a:solidFill>
                  <a:srgbClr val="FF3131"/>
                </a:solidFill>
                <a:latin typeface="Montserrat"/>
                <a:ea typeface="Montserrat"/>
                <a:cs typeface="Montserrat"/>
                <a:sym typeface="Montserrat"/>
              </a:rPr>
              <a:t> ag</a:t>
            </a:r>
            <a:r>
              <a:rPr lang="en-US" sz="1880" strike="noStrike" u="none">
                <a:solidFill>
                  <a:srgbClr val="FF3131"/>
                </a:solidFill>
                <a:latin typeface="Montserrat"/>
                <a:ea typeface="Montserrat"/>
                <a:cs typeface="Montserrat"/>
                <a:sym typeface="Montserrat"/>
              </a:rPr>
              <a:t>es </a:t>
            </a:r>
            <a:r>
              <a:rPr lang="en-US" sz="1880" strike="noStrike" u="none">
                <a:solidFill>
                  <a:srgbClr val="FF3131"/>
                </a:solidFill>
                <a:latin typeface="Montserrat"/>
                <a:ea typeface="Montserrat"/>
                <a:cs typeface="Montserrat"/>
                <a:sym typeface="Montserrat"/>
              </a:rPr>
              <a:t>4-6</a:t>
            </a:r>
            <a:r>
              <a:rPr lang="en-US" sz="1880" strike="noStrike" u="none">
                <a:solidFill>
                  <a:srgbClr val="FF3131"/>
                </a:solidFill>
                <a:latin typeface="Montserrat"/>
                <a:ea typeface="Montserrat"/>
                <a:cs typeface="Montserrat"/>
                <a:sym typeface="Montserrat"/>
              </a:rPr>
              <a:t> </a:t>
            </a:r>
            <a:r>
              <a:rPr lang="en-US" sz="1880" strike="noStrike" u="none">
                <a:solidFill>
                  <a:srgbClr val="FF3131"/>
                </a:solidFill>
                <a:latin typeface="Montserrat"/>
                <a:ea typeface="Montserrat"/>
                <a:cs typeface="Montserrat"/>
                <a:sym typeface="Montserrat"/>
              </a:rPr>
              <a:t>about:</a:t>
            </a:r>
            <a:r>
              <a:rPr lang="en-US" sz="1880" strike="noStrike" u="none">
                <a:solidFill>
                  <a:srgbClr val="FF3131"/>
                </a:solidFill>
                <a:latin typeface="Montserrat"/>
                <a:ea typeface="Montserrat"/>
                <a:cs typeface="Montserrat"/>
                <a:sym typeface="Montserrat"/>
              </a:rPr>
              <a:t> </a:t>
            </a:r>
            <a:r>
              <a:rPr lang="en-US" sz="1880" strike="noStrike" u="none">
                <a:solidFill>
                  <a:srgbClr val="FF3131"/>
                </a:solidFill>
                <a:latin typeface="Montserrat"/>
                <a:ea typeface="Montserrat"/>
                <a:cs typeface="Montserrat"/>
                <a:sym typeface="Montserrat"/>
              </a:rPr>
              <a:t>{</a:t>
            </a:r>
            <a:r>
              <a:rPr lang="en-US" sz="1880" strike="noStrike" u="none">
                <a:solidFill>
                  <a:srgbClr val="FF3131"/>
                </a:solidFill>
                <a:latin typeface="Montserrat"/>
                <a:ea typeface="Montserrat"/>
                <a:cs typeface="Montserrat"/>
                <a:sym typeface="Montserrat"/>
              </a:rPr>
              <a:t>subjec</a:t>
            </a:r>
            <a:r>
              <a:rPr lang="en-US" sz="1880" strike="noStrike" u="none">
                <a:solidFill>
                  <a:srgbClr val="FF3131"/>
                </a:solidFill>
                <a:latin typeface="Montserrat"/>
                <a:ea typeface="Montserrat"/>
                <a:cs typeface="Montserrat"/>
                <a:sym typeface="Montserrat"/>
              </a:rPr>
              <a:t>t}</a:t>
            </a: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    </a:t>
            </a: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    </a:t>
            </a:r>
            <a:r>
              <a:rPr lang="en-US" sz="1880" strike="noStrike" u="none">
                <a:solidFill>
                  <a:srgbClr val="FF3131"/>
                </a:solidFill>
                <a:latin typeface="Montserrat"/>
                <a:ea typeface="Montserrat"/>
                <a:cs typeface="Montserrat"/>
                <a:sym typeface="Montserrat"/>
              </a:rPr>
              <a:t>Requirem</a:t>
            </a:r>
            <a:r>
              <a:rPr lang="en-US" sz="1880" strike="noStrike" u="none">
                <a:solidFill>
                  <a:srgbClr val="FF3131"/>
                </a:solidFill>
                <a:latin typeface="Montserrat"/>
                <a:ea typeface="Montserrat"/>
                <a:cs typeface="Montserrat"/>
                <a:sym typeface="Montserrat"/>
              </a:rPr>
              <a:t>e</a:t>
            </a:r>
            <a:r>
              <a:rPr lang="en-US" sz="1880" strike="noStrike" u="none">
                <a:solidFill>
                  <a:srgbClr val="FF3131"/>
                </a:solidFill>
                <a:latin typeface="Montserrat"/>
                <a:ea typeface="Montserrat"/>
                <a:cs typeface="Montserrat"/>
                <a:sym typeface="Montserrat"/>
              </a:rPr>
              <a:t>nts:</a:t>
            </a: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    </a:t>
            </a:r>
            <a:r>
              <a:rPr lang="en-US" sz="1880" strike="noStrike" u="none">
                <a:solidFill>
                  <a:srgbClr val="FF3131"/>
                </a:solidFill>
                <a:latin typeface="Montserrat"/>
                <a:ea typeface="Montserrat"/>
                <a:cs typeface="Montserrat"/>
                <a:sym typeface="Montserrat"/>
              </a:rPr>
              <a:t>- Natu</a:t>
            </a:r>
            <a:r>
              <a:rPr lang="en-US" sz="1880" strike="noStrike" u="none">
                <a:solidFill>
                  <a:srgbClr val="FF3131"/>
                </a:solidFill>
                <a:latin typeface="Montserrat"/>
                <a:ea typeface="Montserrat"/>
                <a:cs typeface="Montserrat"/>
                <a:sym typeface="Montserrat"/>
              </a:rPr>
              <a:t>r</a:t>
            </a:r>
            <a:r>
              <a:rPr lang="en-US" sz="1880" strike="noStrike" u="none">
                <a:solidFill>
                  <a:srgbClr val="FF3131"/>
                </a:solidFill>
                <a:latin typeface="Montserrat"/>
                <a:ea typeface="Montserrat"/>
                <a:cs typeface="Montserrat"/>
                <a:sym typeface="Montserrat"/>
              </a:rPr>
              <a:t>ally incorpor</a:t>
            </a:r>
            <a:r>
              <a:rPr lang="en-US" sz="1880" strike="noStrike" u="none">
                <a:solidFill>
                  <a:srgbClr val="FF3131"/>
                </a:solidFill>
                <a:latin typeface="Montserrat"/>
                <a:ea typeface="Montserrat"/>
                <a:cs typeface="Montserrat"/>
                <a:sym typeface="Montserrat"/>
              </a:rPr>
              <a:t>ate</a:t>
            </a:r>
            <a:r>
              <a:rPr lang="en-US" sz="1880" strike="noStrike" u="none">
                <a:solidFill>
                  <a:srgbClr val="FF3131"/>
                </a:solidFill>
                <a:latin typeface="Montserrat"/>
                <a:ea typeface="Montserrat"/>
                <a:cs typeface="Montserrat"/>
                <a:sym typeface="Montserrat"/>
              </a:rPr>
              <a:t> </a:t>
            </a:r>
            <a:r>
              <a:rPr lang="en-US" sz="1880" strike="noStrike" u="none">
                <a:solidFill>
                  <a:srgbClr val="FF3131"/>
                </a:solidFill>
                <a:latin typeface="Montserrat"/>
                <a:ea typeface="Montserrat"/>
                <a:cs typeface="Montserrat"/>
                <a:sym typeface="Montserrat"/>
              </a:rPr>
              <a:t>c</a:t>
            </a:r>
            <a:r>
              <a:rPr lang="en-US" sz="1880" strike="noStrike" u="none">
                <a:solidFill>
                  <a:srgbClr val="FF3131"/>
                </a:solidFill>
                <a:latin typeface="Montserrat"/>
                <a:ea typeface="Montserrat"/>
                <a:cs typeface="Montserrat"/>
                <a:sym typeface="Montserrat"/>
              </a:rPr>
              <a:t>o</a:t>
            </a:r>
            <a:r>
              <a:rPr lang="en-US" sz="1880" strike="noStrike" u="none">
                <a:solidFill>
                  <a:srgbClr val="FF3131"/>
                </a:solidFill>
                <a:latin typeface="Montserrat"/>
                <a:ea typeface="Montserrat"/>
                <a:cs typeface="Montserrat"/>
                <a:sym typeface="Montserrat"/>
              </a:rPr>
              <a:t>r</a:t>
            </a:r>
            <a:r>
              <a:rPr lang="en-US" sz="1880" strike="noStrike" u="none">
                <a:solidFill>
                  <a:srgbClr val="FF3131"/>
                </a:solidFill>
                <a:latin typeface="Montserrat"/>
                <a:ea typeface="Montserrat"/>
                <a:cs typeface="Montserrat"/>
                <a:sym typeface="Montserrat"/>
              </a:rPr>
              <a:t>rect</a:t>
            </a:r>
            <a:r>
              <a:rPr lang="en-US" sz="1880" strike="noStrike" u="none">
                <a:solidFill>
                  <a:srgbClr val="FF3131"/>
                </a:solidFill>
                <a:latin typeface="Montserrat"/>
                <a:ea typeface="Montserrat"/>
                <a:cs typeface="Montserrat"/>
                <a:sym typeface="Montserrat"/>
              </a:rPr>
              <a:t>i</a:t>
            </a:r>
            <a:r>
              <a:rPr lang="en-US" sz="1880" strike="noStrike" u="none">
                <a:solidFill>
                  <a:srgbClr val="FF3131"/>
                </a:solidFill>
                <a:latin typeface="Montserrat"/>
                <a:ea typeface="Montserrat"/>
                <a:cs typeface="Montserrat"/>
                <a:sym typeface="Montserrat"/>
              </a:rPr>
              <a:t>on</a:t>
            </a:r>
            <a:r>
              <a:rPr lang="en-US" sz="1880" strike="noStrike" u="none">
                <a:solidFill>
                  <a:srgbClr val="FF3131"/>
                </a:solidFill>
                <a:latin typeface="Montserrat"/>
                <a:ea typeface="Montserrat"/>
                <a:cs typeface="Montserrat"/>
                <a:sym typeface="Montserrat"/>
              </a:rPr>
              <a:t> </a:t>
            </a:r>
            <a:r>
              <a:rPr lang="en-US" sz="1880" strike="noStrike" u="none">
                <a:solidFill>
                  <a:srgbClr val="FF3131"/>
                </a:solidFill>
                <a:latin typeface="Montserrat"/>
                <a:ea typeface="Montserrat"/>
                <a:cs typeface="Montserrat"/>
                <a:sym typeface="Montserrat"/>
              </a:rPr>
              <a:t>words: {</a:t>
            </a:r>
            <a:r>
              <a:rPr lang="en-US" sz="1880" strike="noStrike" u="none">
                <a:solidFill>
                  <a:srgbClr val="FF3131"/>
                </a:solidFill>
                <a:latin typeface="Montserrat"/>
                <a:ea typeface="Montserrat"/>
                <a:cs typeface="Montserrat"/>
                <a:sym typeface="Montserrat"/>
              </a:rPr>
              <a:t>e</a:t>
            </a:r>
            <a:r>
              <a:rPr lang="en-US" sz="1880" strike="noStrike" u="none">
                <a:solidFill>
                  <a:srgbClr val="FF3131"/>
                </a:solidFill>
                <a:latin typeface="Montserrat"/>
                <a:ea typeface="Montserrat"/>
                <a:cs typeface="Montserrat"/>
                <a:sym typeface="Montserrat"/>
              </a:rPr>
              <a:t>rror_descript</a:t>
            </a:r>
            <a:r>
              <a:rPr lang="en-US" sz="1880" strike="noStrike" u="none">
                <a:solidFill>
                  <a:srgbClr val="FF3131"/>
                </a:solidFill>
                <a:latin typeface="Montserrat"/>
                <a:ea typeface="Montserrat"/>
                <a:cs typeface="Montserrat"/>
                <a:sym typeface="Montserrat"/>
              </a:rPr>
              <a:t>io</a:t>
            </a:r>
            <a:r>
              <a:rPr lang="en-US" sz="1880" strike="noStrike" u="none">
                <a:solidFill>
                  <a:srgbClr val="FF3131"/>
                </a:solidFill>
                <a:latin typeface="Montserrat"/>
                <a:ea typeface="Montserrat"/>
                <a:cs typeface="Montserrat"/>
                <a:sym typeface="Montserrat"/>
              </a:rPr>
              <a:t>n}</a:t>
            </a: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    </a:t>
            </a:r>
            <a:r>
              <a:rPr lang="en-US" sz="1880" strike="noStrike" u="none">
                <a:solidFill>
                  <a:srgbClr val="FF3131"/>
                </a:solidFill>
                <a:latin typeface="Montserrat"/>
                <a:ea typeface="Montserrat"/>
                <a:cs typeface="Montserrat"/>
                <a:sym typeface="Montserrat"/>
              </a:rPr>
              <a:t>- Age-appropriate vocab</a:t>
            </a:r>
            <a:r>
              <a:rPr lang="en-US" sz="1880" strike="noStrike" u="none">
                <a:solidFill>
                  <a:srgbClr val="FF3131"/>
                </a:solidFill>
                <a:latin typeface="Montserrat"/>
                <a:ea typeface="Montserrat"/>
                <a:cs typeface="Montserrat"/>
                <a:sym typeface="Montserrat"/>
              </a:rPr>
              <a:t>u</a:t>
            </a:r>
            <a:r>
              <a:rPr lang="en-US" sz="1880" strike="noStrike" u="none">
                <a:solidFill>
                  <a:srgbClr val="FF3131"/>
                </a:solidFill>
                <a:latin typeface="Montserrat"/>
                <a:ea typeface="Montserrat"/>
                <a:cs typeface="Montserrat"/>
                <a:sym typeface="Montserrat"/>
              </a:rPr>
              <a:t>lary</a:t>
            </a: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    </a:t>
            </a:r>
            <a:r>
              <a:rPr lang="en-US" sz="1880" strike="noStrike" u="none">
                <a:solidFill>
                  <a:srgbClr val="FF3131"/>
                </a:solidFill>
                <a:latin typeface="Montserrat"/>
                <a:ea typeface="Montserrat"/>
                <a:cs typeface="Montserrat"/>
                <a:sym typeface="Montserrat"/>
              </a:rPr>
              <a:t>- Engaging n</a:t>
            </a:r>
            <a:r>
              <a:rPr lang="en-US" sz="1880" strike="noStrike" u="none">
                <a:solidFill>
                  <a:srgbClr val="FF3131"/>
                </a:solidFill>
                <a:latin typeface="Montserrat"/>
                <a:ea typeface="Montserrat"/>
                <a:cs typeface="Montserrat"/>
                <a:sym typeface="Montserrat"/>
              </a:rPr>
              <a:t>a</a:t>
            </a:r>
            <a:r>
              <a:rPr lang="en-US" sz="1880" strike="noStrike" u="none">
                <a:solidFill>
                  <a:srgbClr val="FF3131"/>
                </a:solidFill>
                <a:latin typeface="Montserrat"/>
                <a:ea typeface="Montserrat"/>
                <a:cs typeface="Montserrat"/>
                <a:sym typeface="Montserrat"/>
              </a:rPr>
              <a:t>rrative</a:t>
            </a: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    </a:t>
            </a:r>
            <a:r>
              <a:rPr lang="en-US" sz="1880" strike="noStrike" u="none">
                <a:solidFill>
                  <a:srgbClr val="FF3131"/>
                </a:solidFill>
                <a:latin typeface="Montserrat"/>
                <a:ea typeface="Montserrat"/>
                <a:cs typeface="Montserrat"/>
                <a:sym typeface="Montserrat"/>
              </a:rPr>
              <a:t>- Break into 1-2 sentence sections with | separator</a:t>
            </a: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    </a:t>
            </a: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    Child said: "{transcript}"</a:t>
            </a: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    </a:t>
            </a:r>
            <a:r>
              <a:rPr lang="en-US" sz="1880" strike="noStrike" u="none">
                <a:solidFill>
                  <a:srgbClr val="FF3131"/>
                </a:solidFill>
                <a:latin typeface="Montserrat"/>
                <a:ea typeface="Montserrat"/>
                <a:cs typeface="Montserrat"/>
                <a:sym typeface="Montserrat"/>
              </a:rPr>
              <a:t>"""</a:t>
            </a: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    </a:t>
            </a: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    </a:t>
            </a:r>
            <a:r>
              <a:rPr lang="en-US" sz="1880" strike="noStrike" u="none">
                <a:solidFill>
                  <a:srgbClr val="FF3131"/>
                </a:solidFill>
                <a:latin typeface="Montserrat"/>
                <a:ea typeface="Montserrat"/>
                <a:cs typeface="Montserrat"/>
                <a:sym typeface="Montserrat"/>
              </a:rPr>
              <a:t>model = genai.GenerativeModel('gemini-2.5-flash')</a:t>
            </a: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    </a:t>
            </a:r>
            <a:r>
              <a:rPr lang="en-US" sz="1880" strike="noStrike" u="none">
                <a:solidFill>
                  <a:srgbClr val="FF3131"/>
                </a:solidFill>
                <a:latin typeface="Montserrat"/>
                <a:ea typeface="Montserrat"/>
                <a:cs typeface="Montserrat"/>
                <a:sym typeface="Montserrat"/>
              </a:rPr>
              <a:t>response = model.generate_content(prompt)</a:t>
            </a: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    </a:t>
            </a:r>
            <a:r>
              <a:rPr lang="en-US" sz="1880" strike="noStrike" u="none">
                <a:solidFill>
                  <a:srgbClr val="FF3131"/>
                </a:solidFill>
                <a:latin typeface="Montserrat"/>
                <a:ea typeface="Montserrat"/>
                <a:cs typeface="Montserrat"/>
                <a:sym typeface="Montserrat"/>
              </a:rPr>
              <a:t>return response.text</a:t>
            </a:r>
          </a:p>
        </p:txBody>
      </p:sp>
      <p:sp>
        <p:nvSpPr>
          <p:cNvPr name="Freeform 8" id="8"/>
          <p:cNvSpPr/>
          <p:nvPr/>
        </p:nvSpPr>
        <p:spPr>
          <a:xfrm flipH="false" flipV="false" rot="0">
            <a:off x="4262283" y="1127595"/>
            <a:ext cx="6802066" cy="1310944"/>
          </a:xfrm>
          <a:custGeom>
            <a:avLst/>
            <a:gdLst/>
            <a:ahLst/>
            <a:cxnLst/>
            <a:rect r="r" b="b" t="t" l="l"/>
            <a:pathLst>
              <a:path h="1310944" w="6802066">
                <a:moveTo>
                  <a:pt x="0" y="0"/>
                </a:moveTo>
                <a:lnTo>
                  <a:pt x="6802066" y="0"/>
                </a:lnTo>
                <a:lnTo>
                  <a:pt x="6802066" y="1310944"/>
                </a:lnTo>
                <a:lnTo>
                  <a:pt x="0" y="13109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5646784" y="1460804"/>
            <a:ext cx="4914903" cy="701698"/>
          </a:xfrm>
          <a:prstGeom prst="rect">
            <a:avLst/>
          </a:prstGeom>
        </p:spPr>
        <p:txBody>
          <a:bodyPr anchor="t" rtlCol="false" tIns="0" lIns="0" bIns="0" rIns="0">
            <a:spAutoFit/>
          </a:bodyPr>
          <a:lstStyle/>
          <a:p>
            <a:pPr algn="l">
              <a:lnSpc>
                <a:spcPts val="5350"/>
              </a:lnSpc>
            </a:pPr>
            <a:r>
              <a:rPr lang="en-US" sz="5000" b="true">
                <a:solidFill>
                  <a:srgbClr val="FCFEFF"/>
                </a:solidFill>
                <a:latin typeface="Aileron Bold"/>
                <a:ea typeface="Aileron Bold"/>
                <a:cs typeface="Aileron Bold"/>
                <a:sym typeface="Aileron Bold"/>
              </a:rPr>
              <a:t>Implementation</a:t>
            </a:r>
          </a:p>
        </p:txBody>
      </p:sp>
      <p:sp>
        <p:nvSpPr>
          <p:cNvPr name="TextBox 10" id="10"/>
          <p:cNvSpPr txBox="true"/>
          <p:nvPr/>
        </p:nvSpPr>
        <p:spPr>
          <a:xfrm rot="0">
            <a:off x="1018354" y="2683733"/>
            <a:ext cx="16240946" cy="606034"/>
          </a:xfrm>
          <a:prstGeom prst="rect">
            <a:avLst/>
          </a:prstGeom>
        </p:spPr>
        <p:txBody>
          <a:bodyPr anchor="t" rtlCol="false" tIns="0" lIns="0" bIns="0" rIns="0">
            <a:spAutoFit/>
          </a:bodyPr>
          <a:lstStyle/>
          <a:p>
            <a:pPr algn="l">
              <a:lnSpc>
                <a:spcPts val="4708"/>
              </a:lnSpc>
              <a:spcBef>
                <a:spcPct val="0"/>
              </a:spcBef>
            </a:pPr>
            <a:r>
              <a:rPr lang="en-US" b="true" sz="4400">
                <a:solidFill>
                  <a:srgbClr val="000000"/>
                </a:solidFill>
                <a:latin typeface="Montserrat Bold"/>
                <a:ea typeface="Montserrat Bold"/>
                <a:cs typeface="Montserrat Bold"/>
                <a:sym typeface="Montserrat Bold"/>
              </a:rPr>
              <a:t>Module 3: Story Generation</a:t>
            </a:r>
          </a:p>
        </p:txBody>
      </p:sp>
      <p:sp>
        <p:nvSpPr>
          <p:cNvPr name="TextBox 11" id="11"/>
          <p:cNvSpPr txBox="true"/>
          <p:nvPr/>
        </p:nvSpPr>
        <p:spPr>
          <a:xfrm rot="0">
            <a:off x="1028700" y="3495245"/>
            <a:ext cx="5747517" cy="400326"/>
          </a:xfrm>
          <a:prstGeom prst="rect">
            <a:avLst/>
          </a:prstGeom>
        </p:spPr>
        <p:txBody>
          <a:bodyPr anchor="t" rtlCol="false" tIns="0" lIns="0" bIns="0" rIns="0">
            <a:spAutoFit/>
          </a:bodyPr>
          <a:lstStyle/>
          <a:p>
            <a:pPr algn="l">
              <a:lnSpc>
                <a:spcPts val="3102"/>
              </a:lnSpc>
              <a:spcBef>
                <a:spcPct val="0"/>
              </a:spcBef>
            </a:pPr>
            <a:r>
              <a:rPr lang="en-US" b="true" sz="2899">
                <a:solidFill>
                  <a:srgbClr val="000000"/>
                </a:solidFill>
                <a:latin typeface="Montserrat Bold"/>
                <a:ea typeface="Montserrat Bold"/>
                <a:cs typeface="Montserrat Bold"/>
                <a:sym typeface="Montserrat Bold"/>
              </a:rPr>
              <a:t>C</a:t>
            </a:r>
            <a:r>
              <a:rPr lang="en-US" b="true" sz="2899">
                <a:solidFill>
                  <a:srgbClr val="000000"/>
                </a:solidFill>
                <a:latin typeface="Montserrat Bold"/>
                <a:ea typeface="Montserrat Bold"/>
                <a:cs typeface="Montserrat Bold"/>
                <a:sym typeface="Montserrat Bold"/>
              </a:rPr>
              <a:t>ontextual Narrative Creation</a:t>
            </a:r>
          </a:p>
        </p:txBody>
      </p:sp>
      <p:sp>
        <p:nvSpPr>
          <p:cNvPr name="TextBox 12" id="12"/>
          <p:cNvSpPr txBox="true"/>
          <p:nvPr/>
        </p:nvSpPr>
        <p:spPr>
          <a:xfrm rot="0">
            <a:off x="1066320" y="4110576"/>
            <a:ext cx="6944095" cy="1113129"/>
          </a:xfrm>
          <a:prstGeom prst="rect">
            <a:avLst/>
          </a:prstGeom>
        </p:spPr>
        <p:txBody>
          <a:bodyPr anchor="t" rtlCol="false" tIns="0" lIns="0" bIns="0" rIns="0">
            <a:spAutoFit/>
          </a:bodyPr>
          <a:lstStyle/>
          <a:p>
            <a:pPr algn="just">
              <a:lnSpc>
                <a:spcPts val="2995"/>
              </a:lnSpc>
              <a:spcBef>
                <a:spcPct val="0"/>
              </a:spcBef>
            </a:pPr>
            <a:r>
              <a:rPr lang="en-US" sz="2799">
                <a:solidFill>
                  <a:srgbClr val="000000"/>
                </a:solidFill>
                <a:latin typeface="Montserrat"/>
                <a:ea typeface="Montserrat"/>
                <a:cs typeface="Montserrat"/>
                <a:sym typeface="Montserrat"/>
              </a:rPr>
              <a:t>Technology: Google Gemini 2.5-Flash </a:t>
            </a:r>
          </a:p>
          <a:p>
            <a:pPr algn="just">
              <a:lnSpc>
                <a:spcPts val="2995"/>
              </a:lnSpc>
              <a:spcBef>
                <a:spcPct val="0"/>
              </a:spcBef>
            </a:pPr>
            <a:r>
              <a:rPr lang="en-US" sz="2799">
                <a:solidFill>
                  <a:srgbClr val="000000"/>
                </a:solidFill>
                <a:latin typeface="Montserrat"/>
                <a:ea typeface="Montserrat"/>
                <a:cs typeface="Montserrat"/>
                <a:sym typeface="Montserrat"/>
              </a:rPr>
              <a:t>Task: Generate age-appropriate stories </a:t>
            </a:r>
          </a:p>
          <a:p>
            <a:pPr algn="just">
              <a:lnSpc>
                <a:spcPts val="2995"/>
              </a:lnSpc>
              <a:spcBef>
                <a:spcPct val="0"/>
              </a:spcBef>
            </a:pPr>
            <a:r>
              <a:rPr lang="en-US" sz="2799">
                <a:solidFill>
                  <a:srgbClr val="000000"/>
                </a:solidFill>
                <a:latin typeface="Montserrat"/>
                <a:ea typeface="Montserrat"/>
                <a:cs typeface="Montserrat"/>
                <a:sym typeface="Montserrat"/>
              </a:rPr>
              <a:t>embedding correction targets</a:t>
            </a:r>
          </a:p>
        </p:txBody>
      </p:sp>
      <p:sp>
        <p:nvSpPr>
          <p:cNvPr name="TextBox 13" id="13"/>
          <p:cNvSpPr txBox="true"/>
          <p:nvPr/>
        </p:nvSpPr>
        <p:spPr>
          <a:xfrm rot="0">
            <a:off x="9257208" y="2709438"/>
            <a:ext cx="13193992" cy="248737"/>
          </a:xfrm>
          <a:prstGeom prst="rect">
            <a:avLst/>
          </a:prstGeom>
        </p:spPr>
        <p:txBody>
          <a:bodyPr anchor="t" rtlCol="false" tIns="0" lIns="0" bIns="0" rIns="0">
            <a:spAutoFit/>
          </a:bodyPr>
          <a:lstStyle/>
          <a:p>
            <a:pPr algn="l">
              <a:lnSpc>
                <a:spcPts val="1926"/>
              </a:lnSpc>
              <a:spcBef>
                <a:spcPct val="0"/>
              </a:spcBef>
            </a:pPr>
            <a:r>
              <a:rPr lang="en-US" b="true" sz="1800">
                <a:solidFill>
                  <a:srgbClr val="000000"/>
                </a:solidFill>
                <a:latin typeface="Montserrat Bold"/>
                <a:ea typeface="Montserrat Bold"/>
                <a:cs typeface="Montserrat Bold"/>
                <a:sym typeface="Montserrat Bold"/>
              </a:rPr>
              <a:t>Implementation:</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144000" y="1355173"/>
            <a:ext cx="10042068" cy="6664282"/>
          </a:xfrm>
          <a:custGeom>
            <a:avLst/>
            <a:gdLst/>
            <a:ahLst/>
            <a:cxnLst/>
            <a:rect r="r" b="b" t="t" l="l"/>
            <a:pathLst>
              <a:path h="6664282" w="10042068">
                <a:moveTo>
                  <a:pt x="0" y="6664282"/>
                </a:moveTo>
                <a:lnTo>
                  <a:pt x="10042068" y="6664282"/>
                </a:lnTo>
                <a:lnTo>
                  <a:pt x="10042068" y="0"/>
                </a:lnTo>
                <a:lnTo>
                  <a:pt x="0" y="0"/>
                </a:lnTo>
                <a:lnTo>
                  <a:pt x="0" y="6664282"/>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898068" y="2179650"/>
            <a:ext cx="10042068" cy="6664282"/>
          </a:xfrm>
          <a:custGeom>
            <a:avLst/>
            <a:gdLst/>
            <a:ahLst/>
            <a:cxnLst/>
            <a:rect r="r" b="b" t="t" l="l"/>
            <a:pathLst>
              <a:path h="6664282" w="10042068">
                <a:moveTo>
                  <a:pt x="10042068" y="0"/>
                </a:moveTo>
                <a:lnTo>
                  <a:pt x="0" y="0"/>
                </a:lnTo>
                <a:lnTo>
                  <a:pt x="0" y="6664282"/>
                </a:lnTo>
                <a:lnTo>
                  <a:pt x="10042068" y="6664282"/>
                </a:lnTo>
                <a:lnTo>
                  <a:pt x="10042068"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11278" y="4982792"/>
            <a:ext cx="4216232" cy="2798045"/>
          </a:xfrm>
          <a:custGeom>
            <a:avLst/>
            <a:gdLst/>
            <a:ahLst/>
            <a:cxnLst/>
            <a:rect r="r" b="b" t="t" l="l"/>
            <a:pathLst>
              <a:path h="2798045" w="4216232">
                <a:moveTo>
                  <a:pt x="0" y="0"/>
                </a:moveTo>
                <a:lnTo>
                  <a:pt x="4216232" y="0"/>
                </a:lnTo>
                <a:lnTo>
                  <a:pt x="4216232" y="2798045"/>
                </a:lnTo>
                <a:lnTo>
                  <a:pt x="0" y="2798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05789" y="-488243"/>
            <a:ext cx="5381659" cy="4060706"/>
          </a:xfrm>
          <a:custGeom>
            <a:avLst/>
            <a:gdLst/>
            <a:ahLst/>
            <a:cxnLst/>
            <a:rect r="r" b="b" t="t" l="l"/>
            <a:pathLst>
              <a:path h="4060706" w="5381659">
                <a:moveTo>
                  <a:pt x="0" y="0"/>
                </a:moveTo>
                <a:lnTo>
                  <a:pt x="5381659" y="0"/>
                </a:lnTo>
                <a:lnTo>
                  <a:pt x="5381659" y="4060707"/>
                </a:lnTo>
                <a:lnTo>
                  <a:pt x="0" y="4060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3031403" y="6736988"/>
            <a:ext cx="5581585" cy="4211560"/>
          </a:xfrm>
          <a:custGeom>
            <a:avLst/>
            <a:gdLst/>
            <a:ahLst/>
            <a:cxnLst/>
            <a:rect r="r" b="b" t="t" l="l"/>
            <a:pathLst>
              <a:path h="4211560" w="5581585">
                <a:moveTo>
                  <a:pt x="5581585" y="4211560"/>
                </a:moveTo>
                <a:lnTo>
                  <a:pt x="0" y="4211560"/>
                </a:lnTo>
                <a:lnTo>
                  <a:pt x="0" y="0"/>
                </a:lnTo>
                <a:lnTo>
                  <a:pt x="5581585" y="0"/>
                </a:lnTo>
                <a:lnTo>
                  <a:pt x="5581585" y="42115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262283" y="1127595"/>
            <a:ext cx="6802066" cy="1310944"/>
          </a:xfrm>
          <a:custGeom>
            <a:avLst/>
            <a:gdLst/>
            <a:ahLst/>
            <a:cxnLst/>
            <a:rect r="r" b="b" t="t" l="l"/>
            <a:pathLst>
              <a:path h="1310944" w="6802066">
                <a:moveTo>
                  <a:pt x="0" y="0"/>
                </a:moveTo>
                <a:lnTo>
                  <a:pt x="6802066" y="0"/>
                </a:lnTo>
                <a:lnTo>
                  <a:pt x="6802066" y="1310944"/>
                </a:lnTo>
                <a:lnTo>
                  <a:pt x="0" y="13109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5646784" y="1460804"/>
            <a:ext cx="4914903" cy="701698"/>
          </a:xfrm>
          <a:prstGeom prst="rect">
            <a:avLst/>
          </a:prstGeom>
        </p:spPr>
        <p:txBody>
          <a:bodyPr anchor="t" rtlCol="false" tIns="0" lIns="0" bIns="0" rIns="0">
            <a:spAutoFit/>
          </a:bodyPr>
          <a:lstStyle/>
          <a:p>
            <a:pPr algn="l">
              <a:lnSpc>
                <a:spcPts val="5350"/>
              </a:lnSpc>
            </a:pPr>
            <a:r>
              <a:rPr lang="en-US" sz="5000" b="true">
                <a:solidFill>
                  <a:srgbClr val="FCFEFF"/>
                </a:solidFill>
                <a:latin typeface="Aileron Bold"/>
                <a:ea typeface="Aileron Bold"/>
                <a:cs typeface="Aileron Bold"/>
                <a:sym typeface="Aileron Bold"/>
              </a:rPr>
              <a:t>Implementation</a:t>
            </a:r>
          </a:p>
        </p:txBody>
      </p:sp>
      <p:sp>
        <p:nvSpPr>
          <p:cNvPr name="TextBox 9" id="9"/>
          <p:cNvSpPr txBox="true"/>
          <p:nvPr/>
        </p:nvSpPr>
        <p:spPr>
          <a:xfrm rot="0">
            <a:off x="1018354" y="2683733"/>
            <a:ext cx="16240946" cy="606034"/>
          </a:xfrm>
          <a:prstGeom prst="rect">
            <a:avLst/>
          </a:prstGeom>
        </p:spPr>
        <p:txBody>
          <a:bodyPr anchor="t" rtlCol="false" tIns="0" lIns="0" bIns="0" rIns="0">
            <a:spAutoFit/>
          </a:bodyPr>
          <a:lstStyle/>
          <a:p>
            <a:pPr algn="l">
              <a:lnSpc>
                <a:spcPts val="4708"/>
              </a:lnSpc>
              <a:spcBef>
                <a:spcPct val="0"/>
              </a:spcBef>
            </a:pPr>
            <a:r>
              <a:rPr lang="en-US" b="true" sz="4400">
                <a:solidFill>
                  <a:srgbClr val="000000"/>
                </a:solidFill>
                <a:latin typeface="Montserrat Bold"/>
                <a:ea typeface="Montserrat Bold"/>
                <a:cs typeface="Montserrat Bold"/>
                <a:sym typeface="Montserrat Bold"/>
              </a:rPr>
              <a:t>Module 3: Story Generation</a:t>
            </a:r>
          </a:p>
        </p:txBody>
      </p:sp>
      <p:sp>
        <p:nvSpPr>
          <p:cNvPr name="TextBox 10" id="10"/>
          <p:cNvSpPr txBox="true"/>
          <p:nvPr/>
        </p:nvSpPr>
        <p:spPr>
          <a:xfrm rot="0">
            <a:off x="1028700" y="3527891"/>
            <a:ext cx="12967554" cy="4084828"/>
          </a:xfrm>
          <a:prstGeom prst="rect">
            <a:avLst/>
          </a:prstGeom>
        </p:spPr>
        <p:txBody>
          <a:bodyPr anchor="t" rtlCol="false" tIns="0" lIns="0" bIns="0" rIns="0">
            <a:spAutoFit/>
          </a:bodyPr>
          <a:lstStyle/>
          <a:p>
            <a:pPr algn="just">
              <a:lnSpc>
                <a:spcPts val="2995"/>
              </a:lnSpc>
              <a:spcBef>
                <a:spcPct val="0"/>
              </a:spcBef>
            </a:pPr>
            <a:r>
              <a:rPr lang="en-US" sz="2799">
                <a:solidFill>
                  <a:srgbClr val="000000"/>
                </a:solidFill>
                <a:latin typeface="Montserrat"/>
                <a:ea typeface="Montserrat"/>
                <a:cs typeface="Montserrat"/>
                <a:sym typeface="Montserrat"/>
              </a:rPr>
              <a:t>Story Qu</a:t>
            </a:r>
            <a:r>
              <a:rPr lang="en-US" sz="2799">
                <a:solidFill>
                  <a:srgbClr val="000000"/>
                </a:solidFill>
                <a:latin typeface="Montserrat"/>
                <a:ea typeface="Montserrat"/>
                <a:cs typeface="Montserrat"/>
                <a:sym typeface="Montserrat"/>
              </a:rPr>
              <a:t>ality Metrics:</a:t>
            </a:r>
          </a:p>
          <a:p>
            <a:pPr algn="just" marL="604519" indent="-302260" lvl="1">
              <a:lnSpc>
                <a:spcPts val="2995"/>
              </a:lnSpc>
              <a:spcBef>
                <a:spcPct val="0"/>
              </a:spcBef>
              <a:buFont typeface="Arial"/>
              <a:buChar char="•"/>
            </a:pPr>
            <a:r>
              <a:rPr lang="en-US" sz="2799">
                <a:solidFill>
                  <a:srgbClr val="000000"/>
                </a:solidFill>
                <a:latin typeface="Montserrat"/>
                <a:ea typeface="Montserrat"/>
                <a:cs typeface="Montserrat"/>
                <a:sym typeface="Montserrat"/>
              </a:rPr>
              <a:t>Reading level: Kindergarten to 1st grade (Flesch-Kincaid: 1.2-2.1)</a:t>
            </a:r>
          </a:p>
          <a:p>
            <a:pPr algn="just" marL="604519" indent="-302260" lvl="1">
              <a:lnSpc>
                <a:spcPts val="2995"/>
              </a:lnSpc>
              <a:spcBef>
                <a:spcPct val="0"/>
              </a:spcBef>
              <a:buFont typeface="Arial"/>
              <a:buChar char="•"/>
            </a:pPr>
            <a:r>
              <a:rPr lang="en-US" sz="2799">
                <a:solidFill>
                  <a:srgbClr val="000000"/>
                </a:solidFill>
                <a:latin typeface="Montserrat"/>
                <a:ea typeface="Montserrat"/>
                <a:cs typeface="Montserrat"/>
                <a:sym typeface="Montserrat"/>
              </a:rPr>
              <a:t>Correction word repetition: 3.5x per target</a:t>
            </a:r>
          </a:p>
          <a:p>
            <a:pPr algn="just" marL="604519" indent="-302260" lvl="1">
              <a:lnSpc>
                <a:spcPts val="2995"/>
              </a:lnSpc>
              <a:spcBef>
                <a:spcPct val="0"/>
              </a:spcBef>
              <a:buFont typeface="Arial"/>
              <a:buChar char="•"/>
            </a:pPr>
            <a:r>
              <a:rPr lang="en-US" sz="2799">
                <a:solidFill>
                  <a:srgbClr val="000000"/>
                </a:solidFill>
                <a:latin typeface="Montserrat"/>
                <a:ea typeface="Montserrat"/>
                <a:cs typeface="Montserrat"/>
                <a:sym typeface="Montserrat"/>
              </a:rPr>
              <a:t>Narrative coherence: 8.7/10</a:t>
            </a:r>
          </a:p>
          <a:p>
            <a:pPr algn="just" marL="604519" indent="-302260" lvl="1">
              <a:lnSpc>
                <a:spcPts val="2995"/>
              </a:lnSpc>
              <a:spcBef>
                <a:spcPct val="0"/>
              </a:spcBef>
              <a:buFont typeface="Arial"/>
              <a:buChar char="•"/>
            </a:pPr>
            <a:r>
              <a:rPr lang="en-US" sz="2799">
                <a:solidFill>
                  <a:srgbClr val="000000"/>
                </a:solidFill>
                <a:latin typeface="Montserrat"/>
                <a:ea typeface="Montserrat"/>
                <a:cs typeface="Montserrat"/>
                <a:sym typeface="Montserrat"/>
              </a:rPr>
              <a:t>Child engagement: High (replay requests)</a:t>
            </a:r>
          </a:p>
          <a:p>
            <a:pPr algn="just">
              <a:lnSpc>
                <a:spcPts val="2995"/>
              </a:lnSpc>
              <a:spcBef>
                <a:spcPct val="0"/>
              </a:spcBef>
            </a:pPr>
          </a:p>
          <a:p>
            <a:pPr algn="just">
              <a:lnSpc>
                <a:spcPts val="2995"/>
              </a:lnSpc>
              <a:spcBef>
                <a:spcPct val="0"/>
              </a:spcBef>
            </a:pPr>
            <a:r>
              <a:rPr lang="en-US" sz="2799">
                <a:solidFill>
                  <a:srgbClr val="000000"/>
                </a:solidFill>
                <a:latin typeface="Montserrat"/>
                <a:ea typeface="Montserrat"/>
                <a:cs typeface="Montserrat"/>
                <a:sym typeface="Montserrat"/>
              </a:rPr>
              <a:t>Adaptive Features:</a:t>
            </a:r>
          </a:p>
          <a:p>
            <a:pPr algn="just" marL="604519" indent="-302260" lvl="1">
              <a:lnSpc>
                <a:spcPts val="2995"/>
              </a:lnSpc>
              <a:spcBef>
                <a:spcPct val="0"/>
              </a:spcBef>
              <a:buFont typeface="Arial"/>
              <a:buChar char="•"/>
            </a:pPr>
            <a:r>
              <a:rPr lang="en-US" sz="2799">
                <a:solidFill>
                  <a:srgbClr val="000000"/>
                </a:solidFill>
                <a:latin typeface="Montserrat"/>
                <a:ea typeface="Montserrat"/>
                <a:cs typeface="Montserrat"/>
                <a:sym typeface="Montserrat"/>
              </a:rPr>
              <a:t>Subject-based theming (animal, vehicle, nature)</a:t>
            </a:r>
          </a:p>
          <a:p>
            <a:pPr algn="just" marL="604519" indent="-302260" lvl="1">
              <a:lnSpc>
                <a:spcPts val="2995"/>
              </a:lnSpc>
              <a:spcBef>
                <a:spcPct val="0"/>
              </a:spcBef>
              <a:buFont typeface="Arial"/>
              <a:buChar char="•"/>
            </a:pPr>
            <a:r>
              <a:rPr lang="en-US" sz="2799">
                <a:solidFill>
                  <a:srgbClr val="000000"/>
                </a:solidFill>
                <a:latin typeface="Montserrat"/>
                <a:ea typeface="Montserrat"/>
                <a:cs typeface="Montserrat"/>
                <a:sym typeface="Montserrat"/>
              </a:rPr>
              <a:t>E</a:t>
            </a:r>
            <a:r>
              <a:rPr lang="en-US" sz="2799">
                <a:solidFill>
                  <a:srgbClr val="000000"/>
                </a:solidFill>
                <a:latin typeface="Montserrat"/>
                <a:ea typeface="Montserrat"/>
                <a:cs typeface="Montserrat"/>
                <a:sym typeface="Montserrat"/>
              </a:rPr>
              <a:t>rror-specific vocabulary integration</a:t>
            </a:r>
          </a:p>
          <a:p>
            <a:pPr algn="just" marL="604519" indent="-302260" lvl="1">
              <a:lnSpc>
                <a:spcPts val="2995"/>
              </a:lnSpc>
              <a:spcBef>
                <a:spcPct val="0"/>
              </a:spcBef>
              <a:buFont typeface="Arial"/>
              <a:buChar char="•"/>
            </a:pPr>
            <a:r>
              <a:rPr lang="en-US" sz="2799">
                <a:solidFill>
                  <a:srgbClr val="000000"/>
                </a:solidFill>
                <a:latin typeface="Montserrat"/>
                <a:ea typeface="Montserrat"/>
                <a:cs typeface="Montserrat"/>
                <a:sym typeface="Montserrat"/>
              </a:rPr>
              <a:t>Age-appropriate complexity</a:t>
            </a:r>
          </a:p>
          <a:p>
            <a:pPr algn="just">
              <a:lnSpc>
                <a:spcPts val="2995"/>
              </a:lnSpc>
              <a:spcBef>
                <a:spcPct val="0"/>
              </a:spcBef>
            </a:pP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144000" y="1355173"/>
            <a:ext cx="10042068" cy="6664282"/>
          </a:xfrm>
          <a:custGeom>
            <a:avLst/>
            <a:gdLst/>
            <a:ahLst/>
            <a:cxnLst/>
            <a:rect r="r" b="b" t="t" l="l"/>
            <a:pathLst>
              <a:path h="6664282" w="10042068">
                <a:moveTo>
                  <a:pt x="0" y="6664282"/>
                </a:moveTo>
                <a:lnTo>
                  <a:pt x="10042068" y="6664282"/>
                </a:lnTo>
                <a:lnTo>
                  <a:pt x="10042068" y="0"/>
                </a:lnTo>
                <a:lnTo>
                  <a:pt x="0" y="0"/>
                </a:lnTo>
                <a:lnTo>
                  <a:pt x="0" y="6664282"/>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898068" y="2179650"/>
            <a:ext cx="10042068" cy="6664282"/>
          </a:xfrm>
          <a:custGeom>
            <a:avLst/>
            <a:gdLst/>
            <a:ahLst/>
            <a:cxnLst/>
            <a:rect r="r" b="b" t="t" l="l"/>
            <a:pathLst>
              <a:path h="6664282" w="10042068">
                <a:moveTo>
                  <a:pt x="10042068" y="0"/>
                </a:moveTo>
                <a:lnTo>
                  <a:pt x="0" y="0"/>
                </a:lnTo>
                <a:lnTo>
                  <a:pt x="0" y="6664282"/>
                </a:lnTo>
                <a:lnTo>
                  <a:pt x="10042068" y="6664282"/>
                </a:lnTo>
                <a:lnTo>
                  <a:pt x="10042068"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11278" y="4982792"/>
            <a:ext cx="4216232" cy="2798045"/>
          </a:xfrm>
          <a:custGeom>
            <a:avLst/>
            <a:gdLst/>
            <a:ahLst/>
            <a:cxnLst/>
            <a:rect r="r" b="b" t="t" l="l"/>
            <a:pathLst>
              <a:path h="2798045" w="4216232">
                <a:moveTo>
                  <a:pt x="0" y="0"/>
                </a:moveTo>
                <a:lnTo>
                  <a:pt x="4216232" y="0"/>
                </a:lnTo>
                <a:lnTo>
                  <a:pt x="4216232" y="2798045"/>
                </a:lnTo>
                <a:lnTo>
                  <a:pt x="0" y="2798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05789" y="-488243"/>
            <a:ext cx="5381659" cy="4060706"/>
          </a:xfrm>
          <a:custGeom>
            <a:avLst/>
            <a:gdLst/>
            <a:ahLst/>
            <a:cxnLst/>
            <a:rect r="r" b="b" t="t" l="l"/>
            <a:pathLst>
              <a:path h="4060706" w="5381659">
                <a:moveTo>
                  <a:pt x="0" y="0"/>
                </a:moveTo>
                <a:lnTo>
                  <a:pt x="5381659" y="0"/>
                </a:lnTo>
                <a:lnTo>
                  <a:pt x="5381659" y="4060707"/>
                </a:lnTo>
                <a:lnTo>
                  <a:pt x="0" y="4060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3031403" y="6736988"/>
            <a:ext cx="5581585" cy="4211560"/>
          </a:xfrm>
          <a:custGeom>
            <a:avLst/>
            <a:gdLst/>
            <a:ahLst/>
            <a:cxnLst/>
            <a:rect r="r" b="b" t="t" l="l"/>
            <a:pathLst>
              <a:path h="4211560" w="5581585">
                <a:moveTo>
                  <a:pt x="5581585" y="4211560"/>
                </a:moveTo>
                <a:lnTo>
                  <a:pt x="0" y="4211560"/>
                </a:lnTo>
                <a:lnTo>
                  <a:pt x="0" y="0"/>
                </a:lnTo>
                <a:lnTo>
                  <a:pt x="5581585" y="0"/>
                </a:lnTo>
                <a:lnTo>
                  <a:pt x="5581585" y="42115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262283" y="1127595"/>
            <a:ext cx="6802066" cy="1310944"/>
          </a:xfrm>
          <a:custGeom>
            <a:avLst/>
            <a:gdLst/>
            <a:ahLst/>
            <a:cxnLst/>
            <a:rect r="r" b="b" t="t" l="l"/>
            <a:pathLst>
              <a:path h="1310944" w="6802066">
                <a:moveTo>
                  <a:pt x="0" y="0"/>
                </a:moveTo>
                <a:lnTo>
                  <a:pt x="6802066" y="0"/>
                </a:lnTo>
                <a:lnTo>
                  <a:pt x="6802066" y="1310944"/>
                </a:lnTo>
                <a:lnTo>
                  <a:pt x="0" y="13109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2863775" y="3480266"/>
            <a:ext cx="11301259" cy="6356958"/>
          </a:xfrm>
          <a:custGeom>
            <a:avLst/>
            <a:gdLst/>
            <a:ahLst/>
            <a:cxnLst/>
            <a:rect r="r" b="b" t="t" l="l"/>
            <a:pathLst>
              <a:path h="6356958" w="11301259">
                <a:moveTo>
                  <a:pt x="0" y="0"/>
                </a:moveTo>
                <a:lnTo>
                  <a:pt x="11301259" y="0"/>
                </a:lnTo>
                <a:lnTo>
                  <a:pt x="11301259" y="6356958"/>
                </a:lnTo>
                <a:lnTo>
                  <a:pt x="0" y="6356958"/>
                </a:lnTo>
                <a:lnTo>
                  <a:pt x="0" y="0"/>
                </a:lnTo>
                <a:close/>
              </a:path>
            </a:pathLst>
          </a:custGeom>
          <a:blipFill>
            <a:blip r:embed="rId8"/>
            <a:stretch>
              <a:fillRect l="0" t="0" r="0" b="0"/>
            </a:stretch>
          </a:blipFill>
        </p:spPr>
      </p:sp>
      <p:sp>
        <p:nvSpPr>
          <p:cNvPr name="TextBox 9" id="9"/>
          <p:cNvSpPr txBox="true"/>
          <p:nvPr/>
        </p:nvSpPr>
        <p:spPr>
          <a:xfrm rot="0">
            <a:off x="5646784" y="1460804"/>
            <a:ext cx="4914903" cy="701698"/>
          </a:xfrm>
          <a:prstGeom prst="rect">
            <a:avLst/>
          </a:prstGeom>
        </p:spPr>
        <p:txBody>
          <a:bodyPr anchor="t" rtlCol="false" tIns="0" lIns="0" bIns="0" rIns="0">
            <a:spAutoFit/>
          </a:bodyPr>
          <a:lstStyle/>
          <a:p>
            <a:pPr algn="l">
              <a:lnSpc>
                <a:spcPts val="5350"/>
              </a:lnSpc>
            </a:pPr>
            <a:r>
              <a:rPr lang="en-US" sz="5000" b="true">
                <a:solidFill>
                  <a:srgbClr val="FCFEFF"/>
                </a:solidFill>
                <a:latin typeface="Aileron Bold"/>
                <a:ea typeface="Aileron Bold"/>
                <a:cs typeface="Aileron Bold"/>
                <a:sym typeface="Aileron Bold"/>
              </a:rPr>
              <a:t>Implementation</a:t>
            </a:r>
          </a:p>
        </p:txBody>
      </p:sp>
      <p:sp>
        <p:nvSpPr>
          <p:cNvPr name="TextBox 10" id="10"/>
          <p:cNvSpPr txBox="true"/>
          <p:nvPr/>
        </p:nvSpPr>
        <p:spPr>
          <a:xfrm rot="0">
            <a:off x="1018354" y="2683733"/>
            <a:ext cx="16240946" cy="606034"/>
          </a:xfrm>
          <a:prstGeom prst="rect">
            <a:avLst/>
          </a:prstGeom>
        </p:spPr>
        <p:txBody>
          <a:bodyPr anchor="t" rtlCol="false" tIns="0" lIns="0" bIns="0" rIns="0">
            <a:spAutoFit/>
          </a:bodyPr>
          <a:lstStyle/>
          <a:p>
            <a:pPr algn="l">
              <a:lnSpc>
                <a:spcPts val="4708"/>
              </a:lnSpc>
              <a:spcBef>
                <a:spcPct val="0"/>
              </a:spcBef>
            </a:pPr>
            <a:r>
              <a:rPr lang="en-US" b="true" sz="4400">
                <a:solidFill>
                  <a:srgbClr val="000000"/>
                </a:solidFill>
                <a:latin typeface="Montserrat Bold"/>
                <a:ea typeface="Montserrat Bold"/>
                <a:cs typeface="Montserrat Bold"/>
                <a:sym typeface="Montserrat Bold"/>
              </a:rPr>
              <a:t>Module 3: Story Generation</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144000" y="1355173"/>
            <a:ext cx="10042068" cy="6664282"/>
          </a:xfrm>
          <a:custGeom>
            <a:avLst/>
            <a:gdLst/>
            <a:ahLst/>
            <a:cxnLst/>
            <a:rect r="r" b="b" t="t" l="l"/>
            <a:pathLst>
              <a:path h="6664282" w="10042068">
                <a:moveTo>
                  <a:pt x="0" y="6664282"/>
                </a:moveTo>
                <a:lnTo>
                  <a:pt x="10042068" y="6664282"/>
                </a:lnTo>
                <a:lnTo>
                  <a:pt x="10042068" y="0"/>
                </a:lnTo>
                <a:lnTo>
                  <a:pt x="0" y="0"/>
                </a:lnTo>
                <a:lnTo>
                  <a:pt x="0" y="6664282"/>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898068" y="2179650"/>
            <a:ext cx="10042068" cy="6664282"/>
          </a:xfrm>
          <a:custGeom>
            <a:avLst/>
            <a:gdLst/>
            <a:ahLst/>
            <a:cxnLst/>
            <a:rect r="r" b="b" t="t" l="l"/>
            <a:pathLst>
              <a:path h="6664282" w="10042068">
                <a:moveTo>
                  <a:pt x="10042068" y="0"/>
                </a:moveTo>
                <a:lnTo>
                  <a:pt x="0" y="0"/>
                </a:lnTo>
                <a:lnTo>
                  <a:pt x="0" y="6664282"/>
                </a:lnTo>
                <a:lnTo>
                  <a:pt x="10042068" y="6664282"/>
                </a:lnTo>
                <a:lnTo>
                  <a:pt x="10042068"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11278" y="4982792"/>
            <a:ext cx="4216232" cy="2798045"/>
          </a:xfrm>
          <a:custGeom>
            <a:avLst/>
            <a:gdLst/>
            <a:ahLst/>
            <a:cxnLst/>
            <a:rect r="r" b="b" t="t" l="l"/>
            <a:pathLst>
              <a:path h="2798045" w="4216232">
                <a:moveTo>
                  <a:pt x="0" y="0"/>
                </a:moveTo>
                <a:lnTo>
                  <a:pt x="4216232" y="0"/>
                </a:lnTo>
                <a:lnTo>
                  <a:pt x="4216232" y="2798045"/>
                </a:lnTo>
                <a:lnTo>
                  <a:pt x="0" y="2798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05789" y="-488243"/>
            <a:ext cx="5381659" cy="4060706"/>
          </a:xfrm>
          <a:custGeom>
            <a:avLst/>
            <a:gdLst/>
            <a:ahLst/>
            <a:cxnLst/>
            <a:rect r="r" b="b" t="t" l="l"/>
            <a:pathLst>
              <a:path h="4060706" w="5381659">
                <a:moveTo>
                  <a:pt x="0" y="0"/>
                </a:moveTo>
                <a:lnTo>
                  <a:pt x="5381659" y="0"/>
                </a:lnTo>
                <a:lnTo>
                  <a:pt x="5381659" y="4060707"/>
                </a:lnTo>
                <a:lnTo>
                  <a:pt x="0" y="4060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3031403" y="6736988"/>
            <a:ext cx="5581585" cy="4211560"/>
          </a:xfrm>
          <a:custGeom>
            <a:avLst/>
            <a:gdLst/>
            <a:ahLst/>
            <a:cxnLst/>
            <a:rect r="r" b="b" t="t" l="l"/>
            <a:pathLst>
              <a:path h="4211560" w="5581585">
                <a:moveTo>
                  <a:pt x="5581585" y="4211560"/>
                </a:moveTo>
                <a:lnTo>
                  <a:pt x="0" y="4211560"/>
                </a:lnTo>
                <a:lnTo>
                  <a:pt x="0" y="0"/>
                </a:lnTo>
                <a:lnTo>
                  <a:pt x="5581585" y="0"/>
                </a:lnTo>
                <a:lnTo>
                  <a:pt x="5581585" y="4211560"/>
                </a:lnTo>
                <a:close/>
              </a:path>
            </a:pathLst>
          </a:custGeom>
          <a:blipFill>
            <a:blip r:embed="rId4">
              <a:alphaModFix amt="18000"/>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28700" y="4974002"/>
            <a:ext cx="10908139" cy="3986624"/>
          </a:xfrm>
          <a:prstGeom prst="rect">
            <a:avLst/>
          </a:prstGeom>
        </p:spPr>
        <p:txBody>
          <a:bodyPr anchor="t" rtlCol="false" tIns="0" lIns="0" bIns="0" rIns="0">
            <a:spAutoFit/>
          </a:bodyPr>
          <a:lstStyle/>
          <a:p>
            <a:pPr algn="just" marL="0" indent="0" lvl="0">
              <a:lnSpc>
                <a:spcPts val="2896"/>
              </a:lnSpc>
              <a:spcBef>
                <a:spcPct val="0"/>
              </a:spcBef>
            </a:pPr>
            <a:r>
              <a:rPr lang="en-US" sz="1880">
                <a:solidFill>
                  <a:srgbClr val="FF3131"/>
                </a:solidFill>
                <a:latin typeface="Montserrat"/>
                <a:ea typeface="Montserrat"/>
                <a:cs typeface="Montserrat"/>
                <a:sym typeface="Montserrat"/>
              </a:rPr>
              <a:t>from difflib import</a:t>
            </a:r>
            <a:r>
              <a:rPr lang="en-US" sz="1880" strike="noStrike" u="none">
                <a:solidFill>
                  <a:srgbClr val="FF3131"/>
                </a:solidFill>
                <a:latin typeface="Montserrat"/>
                <a:ea typeface="Montserrat"/>
                <a:cs typeface="Montserrat"/>
                <a:sym typeface="Montserrat"/>
              </a:rPr>
              <a:t> SequenceMatcher</a:t>
            </a:r>
          </a:p>
          <a:p>
            <a:pPr algn="just" marL="0" indent="0" lvl="0">
              <a:lnSpc>
                <a:spcPts val="2896"/>
              </a:lnSpc>
              <a:spcBef>
                <a:spcPct val="0"/>
              </a:spcBef>
            </a:pP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d</a:t>
            </a:r>
            <a:r>
              <a:rPr lang="en-US" sz="1880" strike="noStrike" u="none">
                <a:solidFill>
                  <a:srgbClr val="FF3131"/>
                </a:solidFill>
                <a:latin typeface="Montserrat"/>
                <a:ea typeface="Montserrat"/>
                <a:cs typeface="Montserrat"/>
                <a:sym typeface="Montserrat"/>
              </a:rPr>
              <a:t>ef calculate_accuracy(original, spoken):</a:t>
            </a: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    </a:t>
            </a:r>
            <a:r>
              <a:rPr lang="en-US" sz="1880" strike="noStrike" u="none">
                <a:solidFill>
                  <a:srgbClr val="FF3131"/>
                </a:solidFill>
                <a:latin typeface="Montserrat"/>
                <a:ea typeface="Montserrat"/>
                <a:cs typeface="Montserrat"/>
                <a:sym typeface="Montserrat"/>
              </a:rPr>
              <a:t>original = original.lower().strip()</a:t>
            </a: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    </a:t>
            </a:r>
            <a:r>
              <a:rPr lang="en-US" sz="1880" strike="noStrike" u="none">
                <a:solidFill>
                  <a:srgbClr val="FF3131"/>
                </a:solidFill>
                <a:latin typeface="Montserrat"/>
                <a:ea typeface="Montserrat"/>
                <a:cs typeface="Montserrat"/>
                <a:sym typeface="Montserrat"/>
              </a:rPr>
              <a:t>s</a:t>
            </a:r>
            <a:r>
              <a:rPr lang="en-US" sz="1880" strike="noStrike" u="none">
                <a:solidFill>
                  <a:srgbClr val="FF3131"/>
                </a:solidFill>
                <a:latin typeface="Montserrat"/>
                <a:ea typeface="Montserrat"/>
                <a:cs typeface="Montserrat"/>
                <a:sym typeface="Montserrat"/>
              </a:rPr>
              <a:t>pok</a:t>
            </a:r>
            <a:r>
              <a:rPr lang="en-US" sz="1880" strike="noStrike" u="none">
                <a:solidFill>
                  <a:srgbClr val="FF3131"/>
                </a:solidFill>
                <a:latin typeface="Montserrat"/>
                <a:ea typeface="Montserrat"/>
                <a:cs typeface="Montserrat"/>
                <a:sym typeface="Montserrat"/>
              </a:rPr>
              <a:t>en = spoken.low</a:t>
            </a:r>
            <a:r>
              <a:rPr lang="en-US" sz="1880" strike="noStrike" u="none">
                <a:solidFill>
                  <a:srgbClr val="FF3131"/>
                </a:solidFill>
                <a:latin typeface="Montserrat"/>
                <a:ea typeface="Montserrat"/>
                <a:cs typeface="Montserrat"/>
                <a:sym typeface="Montserrat"/>
              </a:rPr>
              <a:t>er().s</a:t>
            </a:r>
            <a:r>
              <a:rPr lang="en-US" sz="1880" strike="noStrike" u="none">
                <a:solidFill>
                  <a:srgbClr val="FF3131"/>
                </a:solidFill>
                <a:latin typeface="Montserrat"/>
                <a:ea typeface="Montserrat"/>
                <a:cs typeface="Montserrat"/>
                <a:sym typeface="Montserrat"/>
              </a:rPr>
              <a:t>trip()</a:t>
            </a: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    </a:t>
            </a: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    # S</a:t>
            </a:r>
            <a:r>
              <a:rPr lang="en-US" sz="1880" strike="noStrike" u="none">
                <a:solidFill>
                  <a:srgbClr val="FF3131"/>
                </a:solidFill>
                <a:latin typeface="Montserrat"/>
                <a:ea typeface="Montserrat"/>
                <a:cs typeface="Montserrat"/>
                <a:sym typeface="Montserrat"/>
              </a:rPr>
              <a:t>equenc</a:t>
            </a:r>
            <a:r>
              <a:rPr lang="en-US" sz="1880" strike="noStrike" u="none">
                <a:solidFill>
                  <a:srgbClr val="FF3131"/>
                </a:solidFill>
                <a:latin typeface="Montserrat"/>
                <a:ea typeface="Montserrat"/>
                <a:cs typeface="Montserrat"/>
                <a:sym typeface="Montserrat"/>
              </a:rPr>
              <a:t>e m</a:t>
            </a:r>
            <a:r>
              <a:rPr lang="en-US" sz="1880" strike="noStrike" u="none">
                <a:solidFill>
                  <a:srgbClr val="FF3131"/>
                </a:solidFill>
                <a:latin typeface="Montserrat"/>
                <a:ea typeface="Montserrat"/>
                <a:cs typeface="Montserrat"/>
                <a:sym typeface="Montserrat"/>
              </a:rPr>
              <a:t>atch</a:t>
            </a:r>
            <a:r>
              <a:rPr lang="en-US" sz="1880" strike="noStrike" u="none">
                <a:solidFill>
                  <a:srgbClr val="FF3131"/>
                </a:solidFill>
                <a:latin typeface="Montserrat"/>
                <a:ea typeface="Montserrat"/>
                <a:cs typeface="Montserrat"/>
                <a:sym typeface="Montserrat"/>
              </a:rPr>
              <a:t>i</a:t>
            </a:r>
            <a:r>
              <a:rPr lang="en-US" sz="1880" strike="noStrike" u="none">
                <a:solidFill>
                  <a:srgbClr val="FF3131"/>
                </a:solidFill>
                <a:latin typeface="Montserrat"/>
                <a:ea typeface="Montserrat"/>
                <a:cs typeface="Montserrat"/>
                <a:sym typeface="Montserrat"/>
              </a:rPr>
              <a:t>ng</a:t>
            </a:r>
            <a:r>
              <a:rPr lang="en-US" sz="1880" strike="noStrike" u="none">
                <a:solidFill>
                  <a:srgbClr val="FF3131"/>
                </a:solidFill>
                <a:latin typeface="Montserrat"/>
                <a:ea typeface="Montserrat"/>
                <a:cs typeface="Montserrat"/>
                <a:sym typeface="Montserrat"/>
              </a:rPr>
              <a:t> </a:t>
            </a:r>
            <a:r>
              <a:rPr lang="en-US" sz="1880" strike="noStrike" u="none">
                <a:solidFill>
                  <a:srgbClr val="FF3131"/>
                </a:solidFill>
                <a:latin typeface="Montserrat"/>
                <a:ea typeface="Montserrat"/>
                <a:cs typeface="Montserrat"/>
                <a:sym typeface="Montserrat"/>
              </a:rPr>
              <a:t>sim</a:t>
            </a:r>
            <a:r>
              <a:rPr lang="en-US" sz="1880" strike="noStrike" u="none">
                <a:solidFill>
                  <a:srgbClr val="FF3131"/>
                </a:solidFill>
                <a:latin typeface="Montserrat"/>
                <a:ea typeface="Montserrat"/>
                <a:cs typeface="Montserrat"/>
                <a:sym typeface="Montserrat"/>
              </a:rPr>
              <a:t>il</a:t>
            </a:r>
            <a:r>
              <a:rPr lang="en-US" sz="1880" strike="noStrike" u="none">
                <a:solidFill>
                  <a:srgbClr val="FF3131"/>
                </a:solidFill>
                <a:latin typeface="Montserrat"/>
                <a:ea typeface="Montserrat"/>
                <a:cs typeface="Montserrat"/>
                <a:sym typeface="Montserrat"/>
              </a:rPr>
              <a:t>arity</a:t>
            </a: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    </a:t>
            </a:r>
            <a:r>
              <a:rPr lang="en-US" sz="1880" strike="noStrike" u="none">
                <a:solidFill>
                  <a:srgbClr val="FF3131"/>
                </a:solidFill>
                <a:latin typeface="Montserrat"/>
                <a:ea typeface="Montserrat"/>
                <a:cs typeface="Montserrat"/>
                <a:sym typeface="Montserrat"/>
              </a:rPr>
              <a:t>ratio = SequenceMatcher(None, original, spoken).ratio()</a:t>
            </a: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    </a:t>
            </a:r>
            <a:r>
              <a:rPr lang="en-US" sz="1880" strike="noStrike" u="none">
                <a:solidFill>
                  <a:srgbClr val="FF3131"/>
                </a:solidFill>
                <a:latin typeface="Montserrat"/>
                <a:ea typeface="Montserrat"/>
                <a:cs typeface="Montserrat"/>
                <a:sym typeface="Montserrat"/>
              </a:rPr>
              <a:t>accuracy = ratio</a:t>
            </a:r>
            <a:r>
              <a:rPr lang="en-US" sz="1880" strike="noStrike" u="none">
                <a:solidFill>
                  <a:srgbClr val="FF3131"/>
                </a:solidFill>
                <a:latin typeface="Montserrat"/>
                <a:ea typeface="Montserrat"/>
                <a:cs typeface="Montserrat"/>
                <a:sym typeface="Montserrat"/>
              </a:rPr>
              <a:t> * 100</a:t>
            </a: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  </a:t>
            </a:r>
            <a:r>
              <a:rPr lang="en-US" sz="1880" strike="noStrike" u="none">
                <a:solidFill>
                  <a:srgbClr val="FF3131"/>
                </a:solidFill>
                <a:latin typeface="Montserrat"/>
                <a:ea typeface="Montserrat"/>
                <a:cs typeface="Montserrat"/>
                <a:sym typeface="Montserrat"/>
              </a:rPr>
              <a:t>  </a:t>
            </a: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    </a:t>
            </a:r>
            <a:r>
              <a:rPr lang="en-US" sz="1880" strike="noStrike" u="none">
                <a:solidFill>
                  <a:srgbClr val="FF3131"/>
                </a:solidFill>
                <a:latin typeface="Montserrat"/>
                <a:ea typeface="Montserrat"/>
                <a:cs typeface="Montserrat"/>
                <a:sym typeface="Montserrat"/>
              </a:rPr>
              <a:t>return accuracy</a:t>
            </a:r>
          </a:p>
        </p:txBody>
      </p:sp>
      <p:sp>
        <p:nvSpPr>
          <p:cNvPr name="Freeform 8" id="8"/>
          <p:cNvSpPr/>
          <p:nvPr/>
        </p:nvSpPr>
        <p:spPr>
          <a:xfrm flipH="false" flipV="false" rot="0">
            <a:off x="4262283" y="1127595"/>
            <a:ext cx="6802066" cy="1310944"/>
          </a:xfrm>
          <a:custGeom>
            <a:avLst/>
            <a:gdLst/>
            <a:ahLst/>
            <a:cxnLst/>
            <a:rect r="r" b="b" t="t" l="l"/>
            <a:pathLst>
              <a:path h="1310944" w="6802066">
                <a:moveTo>
                  <a:pt x="0" y="0"/>
                </a:moveTo>
                <a:lnTo>
                  <a:pt x="6802066" y="0"/>
                </a:lnTo>
                <a:lnTo>
                  <a:pt x="6802066" y="1310944"/>
                </a:lnTo>
                <a:lnTo>
                  <a:pt x="0" y="13109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5646784" y="1460804"/>
            <a:ext cx="4914903" cy="701698"/>
          </a:xfrm>
          <a:prstGeom prst="rect">
            <a:avLst/>
          </a:prstGeom>
        </p:spPr>
        <p:txBody>
          <a:bodyPr anchor="t" rtlCol="false" tIns="0" lIns="0" bIns="0" rIns="0">
            <a:spAutoFit/>
          </a:bodyPr>
          <a:lstStyle/>
          <a:p>
            <a:pPr algn="l">
              <a:lnSpc>
                <a:spcPts val="5350"/>
              </a:lnSpc>
            </a:pPr>
            <a:r>
              <a:rPr lang="en-US" sz="5000" b="true">
                <a:solidFill>
                  <a:srgbClr val="FCFEFF"/>
                </a:solidFill>
                <a:latin typeface="Aileron Bold"/>
                <a:ea typeface="Aileron Bold"/>
                <a:cs typeface="Aileron Bold"/>
                <a:sym typeface="Aileron Bold"/>
              </a:rPr>
              <a:t>Implementation</a:t>
            </a:r>
          </a:p>
        </p:txBody>
      </p:sp>
      <p:sp>
        <p:nvSpPr>
          <p:cNvPr name="TextBox 10" id="10"/>
          <p:cNvSpPr txBox="true"/>
          <p:nvPr/>
        </p:nvSpPr>
        <p:spPr>
          <a:xfrm rot="0">
            <a:off x="1018354" y="2683733"/>
            <a:ext cx="16240946" cy="606034"/>
          </a:xfrm>
          <a:prstGeom prst="rect">
            <a:avLst/>
          </a:prstGeom>
        </p:spPr>
        <p:txBody>
          <a:bodyPr anchor="t" rtlCol="false" tIns="0" lIns="0" bIns="0" rIns="0">
            <a:spAutoFit/>
          </a:bodyPr>
          <a:lstStyle/>
          <a:p>
            <a:pPr algn="l">
              <a:lnSpc>
                <a:spcPts val="4708"/>
              </a:lnSpc>
              <a:spcBef>
                <a:spcPct val="0"/>
              </a:spcBef>
            </a:pPr>
            <a:r>
              <a:rPr lang="en-US" b="true" sz="4400">
                <a:solidFill>
                  <a:srgbClr val="000000"/>
                </a:solidFill>
                <a:latin typeface="Montserrat Bold"/>
                <a:ea typeface="Montserrat Bold"/>
                <a:cs typeface="Montserrat Bold"/>
                <a:sym typeface="Montserrat Bold"/>
              </a:rPr>
              <a:t>Module 4: Practice &amp; Accuracy</a:t>
            </a:r>
          </a:p>
        </p:txBody>
      </p:sp>
      <p:sp>
        <p:nvSpPr>
          <p:cNvPr name="TextBox 11" id="11"/>
          <p:cNvSpPr txBox="true"/>
          <p:nvPr/>
        </p:nvSpPr>
        <p:spPr>
          <a:xfrm rot="0">
            <a:off x="1028700" y="3495245"/>
            <a:ext cx="5610876" cy="400326"/>
          </a:xfrm>
          <a:prstGeom prst="rect">
            <a:avLst/>
          </a:prstGeom>
        </p:spPr>
        <p:txBody>
          <a:bodyPr anchor="t" rtlCol="false" tIns="0" lIns="0" bIns="0" rIns="0">
            <a:spAutoFit/>
          </a:bodyPr>
          <a:lstStyle/>
          <a:p>
            <a:pPr algn="l">
              <a:lnSpc>
                <a:spcPts val="3102"/>
              </a:lnSpc>
              <a:spcBef>
                <a:spcPct val="0"/>
              </a:spcBef>
            </a:pPr>
            <a:r>
              <a:rPr lang="en-US" b="true" sz="2899">
                <a:solidFill>
                  <a:srgbClr val="000000"/>
                </a:solidFill>
                <a:latin typeface="Montserrat Bold"/>
                <a:ea typeface="Montserrat Bold"/>
                <a:cs typeface="Montserrat Bold"/>
                <a:sym typeface="Montserrat Bold"/>
              </a:rPr>
              <a:t>Line-by-Li</a:t>
            </a:r>
            <a:r>
              <a:rPr lang="en-US" b="true" sz="2899">
                <a:solidFill>
                  <a:srgbClr val="000000"/>
                </a:solidFill>
                <a:latin typeface="Montserrat Bold"/>
                <a:ea typeface="Montserrat Bold"/>
                <a:cs typeface="Montserrat Bold"/>
                <a:sym typeface="Montserrat Bold"/>
              </a:rPr>
              <a:t>ne Practice System</a:t>
            </a:r>
          </a:p>
        </p:txBody>
      </p:sp>
      <p:sp>
        <p:nvSpPr>
          <p:cNvPr name="TextBox 12" id="12"/>
          <p:cNvSpPr txBox="true"/>
          <p:nvPr/>
        </p:nvSpPr>
        <p:spPr>
          <a:xfrm rot="0">
            <a:off x="1066320" y="4706364"/>
            <a:ext cx="13193992" cy="248737"/>
          </a:xfrm>
          <a:prstGeom prst="rect">
            <a:avLst/>
          </a:prstGeom>
        </p:spPr>
        <p:txBody>
          <a:bodyPr anchor="t" rtlCol="false" tIns="0" lIns="0" bIns="0" rIns="0">
            <a:spAutoFit/>
          </a:bodyPr>
          <a:lstStyle/>
          <a:p>
            <a:pPr algn="l">
              <a:lnSpc>
                <a:spcPts val="1926"/>
              </a:lnSpc>
              <a:spcBef>
                <a:spcPct val="0"/>
              </a:spcBef>
            </a:pPr>
            <a:r>
              <a:rPr lang="en-US" b="true" sz="1800">
                <a:solidFill>
                  <a:srgbClr val="000000"/>
                </a:solidFill>
                <a:latin typeface="Montserrat Bold"/>
                <a:ea typeface="Montserrat Bold"/>
                <a:cs typeface="Montserrat Bold"/>
                <a:sym typeface="Montserrat Bold"/>
              </a:rPr>
              <a:t>Implementation:</a:t>
            </a:r>
          </a:p>
        </p:txBody>
      </p:sp>
      <p:sp>
        <p:nvSpPr>
          <p:cNvPr name="TextBox 13" id="13"/>
          <p:cNvSpPr txBox="true"/>
          <p:nvPr/>
        </p:nvSpPr>
        <p:spPr>
          <a:xfrm rot="0">
            <a:off x="1028700" y="4110330"/>
            <a:ext cx="6234101" cy="400326"/>
          </a:xfrm>
          <a:prstGeom prst="rect">
            <a:avLst/>
          </a:prstGeom>
        </p:spPr>
        <p:txBody>
          <a:bodyPr anchor="t" rtlCol="false" tIns="0" lIns="0" bIns="0" rIns="0">
            <a:spAutoFit/>
          </a:bodyPr>
          <a:lstStyle/>
          <a:p>
            <a:pPr algn="l">
              <a:lnSpc>
                <a:spcPts val="3102"/>
              </a:lnSpc>
              <a:spcBef>
                <a:spcPct val="0"/>
              </a:spcBef>
            </a:pPr>
            <a:r>
              <a:rPr lang="en-US" b="true" sz="2899">
                <a:solidFill>
                  <a:srgbClr val="000000"/>
                </a:solidFill>
                <a:latin typeface="Montserrat Bold"/>
                <a:ea typeface="Montserrat Bold"/>
                <a:cs typeface="Montserrat Bold"/>
                <a:sym typeface="Montserrat Bold"/>
              </a:rPr>
              <a:t>Accuracy</a:t>
            </a:r>
            <a:r>
              <a:rPr lang="en-US" b="true" sz="2899">
                <a:solidFill>
                  <a:srgbClr val="000000"/>
                </a:solidFill>
                <a:latin typeface="Montserrat Bold"/>
                <a:ea typeface="Montserrat Bold"/>
                <a:cs typeface="Montserrat Bold"/>
                <a:sym typeface="Montserrat Bold"/>
              </a:rPr>
              <a:t> Calculation Algorithm:</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144000" y="1355173"/>
            <a:ext cx="10042068" cy="6664282"/>
          </a:xfrm>
          <a:custGeom>
            <a:avLst/>
            <a:gdLst/>
            <a:ahLst/>
            <a:cxnLst/>
            <a:rect r="r" b="b" t="t" l="l"/>
            <a:pathLst>
              <a:path h="6664282" w="10042068">
                <a:moveTo>
                  <a:pt x="0" y="6664282"/>
                </a:moveTo>
                <a:lnTo>
                  <a:pt x="10042068" y="6664282"/>
                </a:lnTo>
                <a:lnTo>
                  <a:pt x="10042068" y="0"/>
                </a:lnTo>
                <a:lnTo>
                  <a:pt x="0" y="0"/>
                </a:lnTo>
                <a:lnTo>
                  <a:pt x="0" y="6664282"/>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898068" y="2179650"/>
            <a:ext cx="10042068" cy="6664282"/>
          </a:xfrm>
          <a:custGeom>
            <a:avLst/>
            <a:gdLst/>
            <a:ahLst/>
            <a:cxnLst/>
            <a:rect r="r" b="b" t="t" l="l"/>
            <a:pathLst>
              <a:path h="6664282" w="10042068">
                <a:moveTo>
                  <a:pt x="10042068" y="0"/>
                </a:moveTo>
                <a:lnTo>
                  <a:pt x="0" y="0"/>
                </a:lnTo>
                <a:lnTo>
                  <a:pt x="0" y="6664282"/>
                </a:lnTo>
                <a:lnTo>
                  <a:pt x="10042068" y="6664282"/>
                </a:lnTo>
                <a:lnTo>
                  <a:pt x="10042068"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11278" y="4982792"/>
            <a:ext cx="4216232" cy="2798045"/>
          </a:xfrm>
          <a:custGeom>
            <a:avLst/>
            <a:gdLst/>
            <a:ahLst/>
            <a:cxnLst/>
            <a:rect r="r" b="b" t="t" l="l"/>
            <a:pathLst>
              <a:path h="2798045" w="4216232">
                <a:moveTo>
                  <a:pt x="0" y="0"/>
                </a:moveTo>
                <a:lnTo>
                  <a:pt x="4216232" y="0"/>
                </a:lnTo>
                <a:lnTo>
                  <a:pt x="4216232" y="2798045"/>
                </a:lnTo>
                <a:lnTo>
                  <a:pt x="0" y="2798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05789" y="-488243"/>
            <a:ext cx="5381659" cy="4060706"/>
          </a:xfrm>
          <a:custGeom>
            <a:avLst/>
            <a:gdLst/>
            <a:ahLst/>
            <a:cxnLst/>
            <a:rect r="r" b="b" t="t" l="l"/>
            <a:pathLst>
              <a:path h="4060706" w="5381659">
                <a:moveTo>
                  <a:pt x="0" y="0"/>
                </a:moveTo>
                <a:lnTo>
                  <a:pt x="5381659" y="0"/>
                </a:lnTo>
                <a:lnTo>
                  <a:pt x="5381659" y="4060707"/>
                </a:lnTo>
                <a:lnTo>
                  <a:pt x="0" y="4060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3031403" y="6736988"/>
            <a:ext cx="5581585" cy="4211560"/>
          </a:xfrm>
          <a:custGeom>
            <a:avLst/>
            <a:gdLst/>
            <a:ahLst/>
            <a:cxnLst/>
            <a:rect r="r" b="b" t="t" l="l"/>
            <a:pathLst>
              <a:path h="4211560" w="5581585">
                <a:moveTo>
                  <a:pt x="5581585" y="4211560"/>
                </a:moveTo>
                <a:lnTo>
                  <a:pt x="0" y="4211560"/>
                </a:lnTo>
                <a:lnTo>
                  <a:pt x="0" y="0"/>
                </a:lnTo>
                <a:lnTo>
                  <a:pt x="5581585" y="0"/>
                </a:lnTo>
                <a:lnTo>
                  <a:pt x="5581585" y="42115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262283" y="1127595"/>
            <a:ext cx="6802066" cy="1310944"/>
          </a:xfrm>
          <a:custGeom>
            <a:avLst/>
            <a:gdLst/>
            <a:ahLst/>
            <a:cxnLst/>
            <a:rect r="r" b="b" t="t" l="l"/>
            <a:pathLst>
              <a:path h="1310944" w="6802066">
                <a:moveTo>
                  <a:pt x="0" y="0"/>
                </a:moveTo>
                <a:lnTo>
                  <a:pt x="6802066" y="0"/>
                </a:lnTo>
                <a:lnTo>
                  <a:pt x="6802066" y="1310944"/>
                </a:lnTo>
                <a:lnTo>
                  <a:pt x="0" y="13109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5646784" y="1460804"/>
            <a:ext cx="4914903" cy="701698"/>
          </a:xfrm>
          <a:prstGeom prst="rect">
            <a:avLst/>
          </a:prstGeom>
        </p:spPr>
        <p:txBody>
          <a:bodyPr anchor="t" rtlCol="false" tIns="0" lIns="0" bIns="0" rIns="0">
            <a:spAutoFit/>
          </a:bodyPr>
          <a:lstStyle/>
          <a:p>
            <a:pPr algn="l">
              <a:lnSpc>
                <a:spcPts val="5350"/>
              </a:lnSpc>
            </a:pPr>
            <a:r>
              <a:rPr lang="en-US" sz="5000" b="true">
                <a:solidFill>
                  <a:srgbClr val="FCFEFF"/>
                </a:solidFill>
                <a:latin typeface="Aileron Bold"/>
                <a:ea typeface="Aileron Bold"/>
                <a:cs typeface="Aileron Bold"/>
                <a:sym typeface="Aileron Bold"/>
              </a:rPr>
              <a:t>Implementation</a:t>
            </a:r>
          </a:p>
        </p:txBody>
      </p:sp>
      <p:sp>
        <p:nvSpPr>
          <p:cNvPr name="TextBox 9" id="9"/>
          <p:cNvSpPr txBox="true"/>
          <p:nvPr/>
        </p:nvSpPr>
        <p:spPr>
          <a:xfrm rot="0">
            <a:off x="1018354" y="2683733"/>
            <a:ext cx="16240946" cy="606034"/>
          </a:xfrm>
          <a:prstGeom prst="rect">
            <a:avLst/>
          </a:prstGeom>
        </p:spPr>
        <p:txBody>
          <a:bodyPr anchor="t" rtlCol="false" tIns="0" lIns="0" bIns="0" rIns="0">
            <a:spAutoFit/>
          </a:bodyPr>
          <a:lstStyle/>
          <a:p>
            <a:pPr algn="l">
              <a:lnSpc>
                <a:spcPts val="4708"/>
              </a:lnSpc>
              <a:spcBef>
                <a:spcPct val="0"/>
              </a:spcBef>
            </a:pPr>
            <a:r>
              <a:rPr lang="en-US" b="true" sz="4400">
                <a:solidFill>
                  <a:srgbClr val="000000"/>
                </a:solidFill>
                <a:latin typeface="Montserrat Bold"/>
                <a:ea typeface="Montserrat Bold"/>
                <a:cs typeface="Montserrat Bold"/>
                <a:sym typeface="Montserrat Bold"/>
              </a:rPr>
              <a:t>Module 4: Practice &amp; Accuracy</a:t>
            </a:r>
          </a:p>
        </p:txBody>
      </p:sp>
      <p:sp>
        <p:nvSpPr>
          <p:cNvPr name="TextBox 10" id="10"/>
          <p:cNvSpPr txBox="true"/>
          <p:nvPr/>
        </p:nvSpPr>
        <p:spPr>
          <a:xfrm rot="0">
            <a:off x="1028700" y="3527891"/>
            <a:ext cx="12967554" cy="4085199"/>
          </a:xfrm>
          <a:prstGeom prst="rect">
            <a:avLst/>
          </a:prstGeom>
        </p:spPr>
        <p:txBody>
          <a:bodyPr anchor="t" rtlCol="false" tIns="0" lIns="0" bIns="0" rIns="0">
            <a:spAutoFit/>
          </a:bodyPr>
          <a:lstStyle/>
          <a:p>
            <a:pPr algn="just">
              <a:lnSpc>
                <a:spcPts val="2995"/>
              </a:lnSpc>
              <a:spcBef>
                <a:spcPct val="0"/>
              </a:spcBef>
            </a:pPr>
            <a:r>
              <a:rPr lang="en-US" sz="2799">
                <a:solidFill>
                  <a:srgbClr val="000000"/>
                </a:solidFill>
                <a:latin typeface="Montserrat"/>
                <a:ea typeface="Montserrat"/>
                <a:cs typeface="Montserrat"/>
                <a:sym typeface="Montserrat"/>
              </a:rPr>
              <a:t>Practice Workf</a:t>
            </a:r>
            <a:r>
              <a:rPr lang="en-US" sz="2799">
                <a:solidFill>
                  <a:srgbClr val="000000"/>
                </a:solidFill>
                <a:latin typeface="Montserrat"/>
                <a:ea typeface="Montserrat"/>
                <a:cs typeface="Montserrat"/>
                <a:sym typeface="Montserrat"/>
              </a:rPr>
              <a:t>low:</a:t>
            </a:r>
          </a:p>
          <a:p>
            <a:pPr algn="just" marL="604519" indent="-302260" lvl="1">
              <a:lnSpc>
                <a:spcPts val="2995"/>
              </a:lnSpc>
              <a:spcBef>
                <a:spcPct val="0"/>
              </a:spcBef>
              <a:buAutoNum type="arabicPeriod" startAt="1"/>
            </a:pPr>
            <a:r>
              <a:rPr lang="en-US" sz="2799">
                <a:solidFill>
                  <a:srgbClr val="000000"/>
                </a:solidFill>
                <a:latin typeface="Montserrat"/>
                <a:ea typeface="Montserrat"/>
                <a:cs typeface="Montserrat"/>
                <a:sym typeface="Montserrat"/>
              </a:rPr>
              <a:t>Display story section with highlighted error words</a:t>
            </a:r>
          </a:p>
          <a:p>
            <a:pPr algn="just" marL="604519" indent="-302260" lvl="1">
              <a:lnSpc>
                <a:spcPts val="2995"/>
              </a:lnSpc>
              <a:spcBef>
                <a:spcPct val="0"/>
              </a:spcBef>
              <a:buAutoNum type="arabicPeriod" startAt="1"/>
            </a:pPr>
            <a:r>
              <a:rPr lang="en-US" sz="2799">
                <a:solidFill>
                  <a:srgbClr val="000000"/>
                </a:solidFill>
                <a:latin typeface="Montserrat"/>
                <a:ea typeface="Montserrat"/>
                <a:cs typeface="Montserrat"/>
                <a:sym typeface="Montserrat"/>
              </a:rPr>
              <a:t>System reads section aloud (gTTS)</a:t>
            </a:r>
          </a:p>
          <a:p>
            <a:pPr algn="just" marL="604519" indent="-302260" lvl="1">
              <a:lnSpc>
                <a:spcPts val="2995"/>
              </a:lnSpc>
              <a:spcBef>
                <a:spcPct val="0"/>
              </a:spcBef>
              <a:buAutoNum type="arabicPeriod" startAt="1"/>
            </a:pPr>
            <a:r>
              <a:rPr lang="en-US" sz="2799">
                <a:solidFill>
                  <a:srgbClr val="000000"/>
                </a:solidFill>
                <a:latin typeface="Montserrat"/>
                <a:ea typeface="Montserrat"/>
                <a:cs typeface="Montserrat"/>
                <a:sym typeface="Montserrat"/>
              </a:rPr>
              <a:t>Child records their reading</a:t>
            </a:r>
          </a:p>
          <a:p>
            <a:pPr algn="just" marL="604519" indent="-302260" lvl="1">
              <a:lnSpc>
                <a:spcPts val="2995"/>
              </a:lnSpc>
              <a:spcBef>
                <a:spcPct val="0"/>
              </a:spcBef>
              <a:buAutoNum type="arabicPeriod" startAt="1"/>
            </a:pPr>
            <a:r>
              <a:rPr lang="en-US" sz="2799">
                <a:solidFill>
                  <a:srgbClr val="000000"/>
                </a:solidFill>
                <a:latin typeface="Montserrat"/>
                <a:ea typeface="Montserrat"/>
                <a:cs typeface="Montserrat"/>
                <a:sym typeface="Montserrat"/>
              </a:rPr>
              <a:t>Whisper transcribes child's audio</a:t>
            </a:r>
          </a:p>
          <a:p>
            <a:pPr algn="just" marL="604519" indent="-302260" lvl="1">
              <a:lnSpc>
                <a:spcPts val="2995"/>
              </a:lnSpc>
              <a:spcBef>
                <a:spcPct val="0"/>
              </a:spcBef>
              <a:buAutoNum type="arabicPeriod" startAt="1"/>
            </a:pPr>
            <a:r>
              <a:rPr lang="en-US" sz="2799">
                <a:solidFill>
                  <a:srgbClr val="000000"/>
                </a:solidFill>
                <a:latin typeface="Montserrat"/>
                <a:ea typeface="Montserrat"/>
                <a:cs typeface="Montserrat"/>
                <a:sym typeface="Montserrat"/>
              </a:rPr>
              <a:t>Calculate accuracy score</a:t>
            </a:r>
          </a:p>
          <a:p>
            <a:pPr algn="just" marL="604519" indent="-302260" lvl="1">
              <a:lnSpc>
                <a:spcPts val="2995"/>
              </a:lnSpc>
              <a:spcBef>
                <a:spcPct val="0"/>
              </a:spcBef>
              <a:buAutoNum type="arabicPeriod" startAt="1"/>
            </a:pPr>
            <a:r>
              <a:rPr lang="en-US" sz="2799">
                <a:solidFill>
                  <a:srgbClr val="000000"/>
                </a:solidFill>
                <a:latin typeface="Montserrat"/>
                <a:ea typeface="Montserrat"/>
                <a:cs typeface="Montserrat"/>
                <a:sym typeface="Montserrat"/>
              </a:rPr>
              <a:t>Prov</a:t>
            </a:r>
            <a:r>
              <a:rPr lang="en-US" sz="2799">
                <a:solidFill>
                  <a:srgbClr val="000000"/>
                </a:solidFill>
                <a:latin typeface="Montserrat"/>
                <a:ea typeface="Montserrat"/>
                <a:cs typeface="Montserrat"/>
                <a:sym typeface="Montserrat"/>
              </a:rPr>
              <a:t>ide feedback based on threshold:</a:t>
            </a:r>
          </a:p>
          <a:p>
            <a:pPr algn="just" marL="1209039" indent="-403013" lvl="2">
              <a:lnSpc>
                <a:spcPts val="2995"/>
              </a:lnSpc>
              <a:spcBef>
                <a:spcPct val="0"/>
              </a:spcBef>
              <a:buFont typeface="Arial"/>
              <a:buChar char="⚬"/>
            </a:pPr>
            <a:r>
              <a:rPr lang="en-US" sz="2799">
                <a:solidFill>
                  <a:srgbClr val="000000"/>
                </a:solidFill>
                <a:latin typeface="Montserrat"/>
                <a:ea typeface="Montserrat"/>
                <a:cs typeface="Montserrat"/>
                <a:sym typeface="Montserrat"/>
              </a:rPr>
              <a:t>≥80%: Excellent, advance</a:t>
            </a:r>
          </a:p>
          <a:p>
            <a:pPr algn="just" marL="1209039" indent="-403013" lvl="2">
              <a:lnSpc>
                <a:spcPts val="2995"/>
              </a:lnSpc>
              <a:spcBef>
                <a:spcPct val="0"/>
              </a:spcBef>
              <a:buFont typeface="Arial"/>
              <a:buChar char="⚬"/>
            </a:pPr>
            <a:r>
              <a:rPr lang="en-US" sz="2799">
                <a:solidFill>
                  <a:srgbClr val="000000"/>
                </a:solidFill>
                <a:latin typeface="Montserrat"/>
                <a:ea typeface="Montserrat"/>
                <a:cs typeface="Montserrat"/>
                <a:sym typeface="Montserrat"/>
              </a:rPr>
              <a:t>60</a:t>
            </a:r>
            <a:r>
              <a:rPr lang="en-US" sz="2799">
                <a:solidFill>
                  <a:srgbClr val="000000"/>
                </a:solidFill>
                <a:latin typeface="Montserrat"/>
                <a:ea typeface="Montserrat"/>
                <a:cs typeface="Montserrat"/>
                <a:sym typeface="Montserrat"/>
              </a:rPr>
              <a:t>-79%: Good, option to retry/advance</a:t>
            </a:r>
          </a:p>
          <a:p>
            <a:pPr algn="just" marL="1209039" indent="-403013" lvl="2">
              <a:lnSpc>
                <a:spcPts val="2995"/>
              </a:lnSpc>
              <a:spcBef>
                <a:spcPct val="0"/>
              </a:spcBef>
              <a:buFont typeface="Arial"/>
              <a:buChar char="⚬"/>
            </a:pPr>
            <a:r>
              <a:rPr lang="en-US" sz="2799">
                <a:solidFill>
                  <a:srgbClr val="000000"/>
                </a:solidFill>
                <a:latin typeface="Montserrat"/>
                <a:ea typeface="Montserrat"/>
                <a:cs typeface="Montserrat"/>
                <a:sym typeface="Montserrat"/>
              </a:rPr>
              <a:t>&lt;60%: K</a:t>
            </a:r>
            <a:r>
              <a:rPr lang="en-US" sz="2799">
                <a:solidFill>
                  <a:srgbClr val="000000"/>
                </a:solidFill>
                <a:latin typeface="Montserrat"/>
                <a:ea typeface="Montserrat"/>
                <a:cs typeface="Montserrat"/>
                <a:sym typeface="Montserrat"/>
              </a:rPr>
              <a:t>eep practicing, must retry</a:t>
            </a:r>
          </a:p>
          <a:p>
            <a:pPr algn="just">
              <a:lnSpc>
                <a:spcPts val="2995"/>
              </a:lnSpc>
              <a:spcBef>
                <a:spcPct val="0"/>
              </a:spcBef>
            </a:pP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144000" y="1355173"/>
            <a:ext cx="10042068" cy="6664282"/>
          </a:xfrm>
          <a:custGeom>
            <a:avLst/>
            <a:gdLst/>
            <a:ahLst/>
            <a:cxnLst/>
            <a:rect r="r" b="b" t="t" l="l"/>
            <a:pathLst>
              <a:path h="6664282" w="10042068">
                <a:moveTo>
                  <a:pt x="0" y="6664282"/>
                </a:moveTo>
                <a:lnTo>
                  <a:pt x="10042068" y="6664282"/>
                </a:lnTo>
                <a:lnTo>
                  <a:pt x="10042068" y="0"/>
                </a:lnTo>
                <a:lnTo>
                  <a:pt x="0" y="0"/>
                </a:lnTo>
                <a:lnTo>
                  <a:pt x="0" y="6664282"/>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898068" y="2179650"/>
            <a:ext cx="10042068" cy="6664282"/>
          </a:xfrm>
          <a:custGeom>
            <a:avLst/>
            <a:gdLst/>
            <a:ahLst/>
            <a:cxnLst/>
            <a:rect r="r" b="b" t="t" l="l"/>
            <a:pathLst>
              <a:path h="6664282" w="10042068">
                <a:moveTo>
                  <a:pt x="10042068" y="0"/>
                </a:moveTo>
                <a:lnTo>
                  <a:pt x="0" y="0"/>
                </a:lnTo>
                <a:lnTo>
                  <a:pt x="0" y="6664282"/>
                </a:lnTo>
                <a:lnTo>
                  <a:pt x="10042068" y="6664282"/>
                </a:lnTo>
                <a:lnTo>
                  <a:pt x="10042068"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11278" y="4982792"/>
            <a:ext cx="4216232" cy="2798045"/>
          </a:xfrm>
          <a:custGeom>
            <a:avLst/>
            <a:gdLst/>
            <a:ahLst/>
            <a:cxnLst/>
            <a:rect r="r" b="b" t="t" l="l"/>
            <a:pathLst>
              <a:path h="2798045" w="4216232">
                <a:moveTo>
                  <a:pt x="0" y="0"/>
                </a:moveTo>
                <a:lnTo>
                  <a:pt x="4216232" y="0"/>
                </a:lnTo>
                <a:lnTo>
                  <a:pt x="4216232" y="2798045"/>
                </a:lnTo>
                <a:lnTo>
                  <a:pt x="0" y="2798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05789" y="-488243"/>
            <a:ext cx="5381659" cy="4060706"/>
          </a:xfrm>
          <a:custGeom>
            <a:avLst/>
            <a:gdLst/>
            <a:ahLst/>
            <a:cxnLst/>
            <a:rect r="r" b="b" t="t" l="l"/>
            <a:pathLst>
              <a:path h="4060706" w="5381659">
                <a:moveTo>
                  <a:pt x="0" y="0"/>
                </a:moveTo>
                <a:lnTo>
                  <a:pt x="5381659" y="0"/>
                </a:lnTo>
                <a:lnTo>
                  <a:pt x="5381659" y="4060707"/>
                </a:lnTo>
                <a:lnTo>
                  <a:pt x="0" y="4060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3031403" y="6736988"/>
            <a:ext cx="5581585" cy="4211560"/>
          </a:xfrm>
          <a:custGeom>
            <a:avLst/>
            <a:gdLst/>
            <a:ahLst/>
            <a:cxnLst/>
            <a:rect r="r" b="b" t="t" l="l"/>
            <a:pathLst>
              <a:path h="4211560" w="5581585">
                <a:moveTo>
                  <a:pt x="5581585" y="4211560"/>
                </a:moveTo>
                <a:lnTo>
                  <a:pt x="0" y="4211560"/>
                </a:lnTo>
                <a:lnTo>
                  <a:pt x="0" y="0"/>
                </a:lnTo>
                <a:lnTo>
                  <a:pt x="5581585" y="0"/>
                </a:lnTo>
                <a:lnTo>
                  <a:pt x="5581585" y="4211560"/>
                </a:lnTo>
                <a:close/>
              </a:path>
            </a:pathLst>
          </a:custGeom>
          <a:blipFill>
            <a:blip r:embed="rId4">
              <a:alphaModFix amt="18000"/>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28700" y="4106797"/>
            <a:ext cx="10908139" cy="2163588"/>
          </a:xfrm>
          <a:prstGeom prst="rect">
            <a:avLst/>
          </a:prstGeom>
        </p:spPr>
        <p:txBody>
          <a:bodyPr anchor="t" rtlCol="false" tIns="0" lIns="0" bIns="0" rIns="0">
            <a:spAutoFit/>
          </a:bodyPr>
          <a:lstStyle/>
          <a:p>
            <a:pPr algn="just" marL="0" indent="0" lvl="0">
              <a:lnSpc>
                <a:spcPts val="2896"/>
              </a:lnSpc>
              <a:spcBef>
                <a:spcPct val="0"/>
              </a:spcBef>
            </a:pPr>
            <a:r>
              <a:rPr lang="en-US" sz="1880">
                <a:solidFill>
                  <a:srgbClr val="FF3131"/>
                </a:solidFill>
                <a:latin typeface="Montserrat"/>
                <a:ea typeface="Montserrat"/>
                <a:cs typeface="Montserrat"/>
                <a:sym typeface="Montserrat"/>
              </a:rPr>
              <a:t>from gtts import</a:t>
            </a:r>
            <a:r>
              <a:rPr lang="en-US" sz="1880" strike="noStrike" u="none">
                <a:solidFill>
                  <a:srgbClr val="FF3131"/>
                </a:solidFill>
                <a:latin typeface="Montserrat"/>
                <a:ea typeface="Montserrat"/>
                <a:cs typeface="Montserrat"/>
                <a:sym typeface="Montserrat"/>
              </a:rPr>
              <a:t> gTTS</a:t>
            </a:r>
          </a:p>
          <a:p>
            <a:pPr algn="just" marL="0" indent="0" lvl="0">
              <a:lnSpc>
                <a:spcPts val="2896"/>
              </a:lnSpc>
              <a:spcBef>
                <a:spcPct val="0"/>
              </a:spcBef>
            </a:pP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def text_to_speech(text, f</a:t>
            </a:r>
            <a:r>
              <a:rPr lang="en-US" sz="1880" strike="noStrike" u="none">
                <a:solidFill>
                  <a:srgbClr val="FF3131"/>
                </a:solidFill>
                <a:latin typeface="Montserrat"/>
                <a:ea typeface="Montserrat"/>
                <a:cs typeface="Montserrat"/>
                <a:sym typeface="Montserrat"/>
              </a:rPr>
              <a:t>ilename):</a:t>
            </a: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    tt</a:t>
            </a:r>
            <a:r>
              <a:rPr lang="en-US" sz="1880" strike="noStrike" u="none">
                <a:solidFill>
                  <a:srgbClr val="FF3131"/>
                </a:solidFill>
                <a:latin typeface="Montserrat"/>
                <a:ea typeface="Montserrat"/>
                <a:cs typeface="Montserrat"/>
                <a:sym typeface="Montserrat"/>
              </a:rPr>
              <a:t>s = gTTS</a:t>
            </a:r>
            <a:r>
              <a:rPr lang="en-US" sz="1880" strike="noStrike" u="none">
                <a:solidFill>
                  <a:srgbClr val="FF3131"/>
                </a:solidFill>
                <a:latin typeface="Montserrat"/>
                <a:ea typeface="Montserrat"/>
                <a:cs typeface="Montserrat"/>
                <a:sym typeface="Montserrat"/>
              </a:rPr>
              <a:t>(</a:t>
            </a:r>
            <a:r>
              <a:rPr lang="en-US" sz="1880" strike="noStrike" u="none">
                <a:solidFill>
                  <a:srgbClr val="FF3131"/>
                </a:solidFill>
                <a:latin typeface="Montserrat"/>
                <a:ea typeface="Montserrat"/>
                <a:cs typeface="Montserrat"/>
                <a:sym typeface="Montserrat"/>
              </a:rPr>
              <a:t>text=text,</a:t>
            </a:r>
            <a:r>
              <a:rPr lang="en-US" sz="1880" strike="noStrike" u="none">
                <a:solidFill>
                  <a:srgbClr val="FF3131"/>
                </a:solidFill>
                <a:latin typeface="Montserrat"/>
                <a:ea typeface="Montserrat"/>
                <a:cs typeface="Montserrat"/>
                <a:sym typeface="Montserrat"/>
              </a:rPr>
              <a:t> l</a:t>
            </a:r>
            <a:r>
              <a:rPr lang="en-US" sz="1880" strike="noStrike" u="none">
                <a:solidFill>
                  <a:srgbClr val="FF3131"/>
                </a:solidFill>
                <a:latin typeface="Montserrat"/>
                <a:ea typeface="Montserrat"/>
                <a:cs typeface="Montserrat"/>
                <a:sym typeface="Montserrat"/>
              </a:rPr>
              <a:t>ang='en',</a:t>
            </a:r>
            <a:r>
              <a:rPr lang="en-US" sz="1880" strike="noStrike" u="none">
                <a:solidFill>
                  <a:srgbClr val="FF3131"/>
                </a:solidFill>
                <a:latin typeface="Montserrat"/>
                <a:ea typeface="Montserrat"/>
                <a:cs typeface="Montserrat"/>
                <a:sym typeface="Montserrat"/>
              </a:rPr>
              <a:t> </a:t>
            </a:r>
            <a:r>
              <a:rPr lang="en-US" sz="1880" strike="noStrike" u="none">
                <a:solidFill>
                  <a:srgbClr val="FF3131"/>
                </a:solidFill>
                <a:latin typeface="Montserrat"/>
                <a:ea typeface="Montserrat"/>
                <a:cs typeface="Montserrat"/>
                <a:sym typeface="Montserrat"/>
              </a:rPr>
              <a:t>s</a:t>
            </a:r>
            <a:r>
              <a:rPr lang="en-US" sz="1880" strike="noStrike" u="none">
                <a:solidFill>
                  <a:srgbClr val="FF3131"/>
                </a:solidFill>
                <a:latin typeface="Montserrat"/>
                <a:ea typeface="Montserrat"/>
                <a:cs typeface="Montserrat"/>
                <a:sym typeface="Montserrat"/>
              </a:rPr>
              <a:t>low=F</a:t>
            </a:r>
            <a:r>
              <a:rPr lang="en-US" sz="1880" strike="noStrike" u="none">
                <a:solidFill>
                  <a:srgbClr val="FF3131"/>
                </a:solidFill>
                <a:latin typeface="Montserrat"/>
                <a:ea typeface="Montserrat"/>
                <a:cs typeface="Montserrat"/>
                <a:sym typeface="Montserrat"/>
              </a:rPr>
              <a:t>alse)</a:t>
            </a: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    </a:t>
            </a:r>
            <a:r>
              <a:rPr lang="en-US" sz="1880" strike="noStrike" u="none">
                <a:solidFill>
                  <a:srgbClr val="FF3131"/>
                </a:solidFill>
                <a:latin typeface="Montserrat"/>
                <a:ea typeface="Montserrat"/>
                <a:cs typeface="Montserrat"/>
                <a:sym typeface="Montserrat"/>
              </a:rPr>
              <a:t>tts.save(filename)</a:t>
            </a: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    </a:t>
            </a:r>
            <a:r>
              <a:rPr lang="en-US" sz="1880" strike="noStrike" u="none">
                <a:solidFill>
                  <a:srgbClr val="FF3131"/>
                </a:solidFill>
                <a:latin typeface="Montserrat"/>
                <a:ea typeface="Montserrat"/>
                <a:cs typeface="Montserrat"/>
                <a:sym typeface="Montserrat"/>
              </a:rPr>
              <a:t>return filename</a:t>
            </a:r>
          </a:p>
        </p:txBody>
      </p:sp>
      <p:sp>
        <p:nvSpPr>
          <p:cNvPr name="Freeform 8" id="8"/>
          <p:cNvSpPr/>
          <p:nvPr/>
        </p:nvSpPr>
        <p:spPr>
          <a:xfrm flipH="false" flipV="false" rot="0">
            <a:off x="4262283" y="1127595"/>
            <a:ext cx="6802066" cy="1310944"/>
          </a:xfrm>
          <a:custGeom>
            <a:avLst/>
            <a:gdLst/>
            <a:ahLst/>
            <a:cxnLst/>
            <a:rect r="r" b="b" t="t" l="l"/>
            <a:pathLst>
              <a:path h="1310944" w="6802066">
                <a:moveTo>
                  <a:pt x="0" y="0"/>
                </a:moveTo>
                <a:lnTo>
                  <a:pt x="6802066" y="0"/>
                </a:lnTo>
                <a:lnTo>
                  <a:pt x="6802066" y="1310944"/>
                </a:lnTo>
                <a:lnTo>
                  <a:pt x="0" y="13109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5646784" y="1460804"/>
            <a:ext cx="4914903" cy="701698"/>
          </a:xfrm>
          <a:prstGeom prst="rect">
            <a:avLst/>
          </a:prstGeom>
        </p:spPr>
        <p:txBody>
          <a:bodyPr anchor="t" rtlCol="false" tIns="0" lIns="0" bIns="0" rIns="0">
            <a:spAutoFit/>
          </a:bodyPr>
          <a:lstStyle/>
          <a:p>
            <a:pPr algn="l">
              <a:lnSpc>
                <a:spcPts val="5350"/>
              </a:lnSpc>
            </a:pPr>
            <a:r>
              <a:rPr lang="en-US" sz="5000" b="true">
                <a:solidFill>
                  <a:srgbClr val="FCFEFF"/>
                </a:solidFill>
                <a:latin typeface="Aileron Bold"/>
                <a:ea typeface="Aileron Bold"/>
                <a:cs typeface="Aileron Bold"/>
                <a:sym typeface="Aileron Bold"/>
              </a:rPr>
              <a:t>Implementation</a:t>
            </a:r>
          </a:p>
        </p:txBody>
      </p:sp>
      <p:sp>
        <p:nvSpPr>
          <p:cNvPr name="TextBox 10" id="10"/>
          <p:cNvSpPr txBox="true"/>
          <p:nvPr/>
        </p:nvSpPr>
        <p:spPr>
          <a:xfrm rot="0">
            <a:off x="1018354" y="2683733"/>
            <a:ext cx="16240946" cy="606034"/>
          </a:xfrm>
          <a:prstGeom prst="rect">
            <a:avLst/>
          </a:prstGeom>
        </p:spPr>
        <p:txBody>
          <a:bodyPr anchor="t" rtlCol="false" tIns="0" lIns="0" bIns="0" rIns="0">
            <a:spAutoFit/>
          </a:bodyPr>
          <a:lstStyle/>
          <a:p>
            <a:pPr algn="l">
              <a:lnSpc>
                <a:spcPts val="4708"/>
              </a:lnSpc>
              <a:spcBef>
                <a:spcPct val="0"/>
              </a:spcBef>
            </a:pPr>
            <a:r>
              <a:rPr lang="en-US" b="true" sz="4400">
                <a:solidFill>
                  <a:srgbClr val="000000"/>
                </a:solidFill>
                <a:latin typeface="Montserrat Bold"/>
                <a:ea typeface="Montserrat Bold"/>
                <a:cs typeface="Montserrat Bold"/>
                <a:sym typeface="Montserrat Bold"/>
              </a:rPr>
              <a:t>Module 4: Practice &amp; Accuracy</a:t>
            </a:r>
          </a:p>
        </p:txBody>
      </p:sp>
      <p:sp>
        <p:nvSpPr>
          <p:cNvPr name="TextBox 11" id="11"/>
          <p:cNvSpPr txBox="true"/>
          <p:nvPr/>
        </p:nvSpPr>
        <p:spPr>
          <a:xfrm rot="0">
            <a:off x="1028700" y="3495245"/>
            <a:ext cx="6250275" cy="400326"/>
          </a:xfrm>
          <a:prstGeom prst="rect">
            <a:avLst/>
          </a:prstGeom>
        </p:spPr>
        <p:txBody>
          <a:bodyPr anchor="t" rtlCol="false" tIns="0" lIns="0" bIns="0" rIns="0">
            <a:spAutoFit/>
          </a:bodyPr>
          <a:lstStyle/>
          <a:p>
            <a:pPr algn="l">
              <a:lnSpc>
                <a:spcPts val="3102"/>
              </a:lnSpc>
              <a:spcBef>
                <a:spcPct val="0"/>
              </a:spcBef>
            </a:pPr>
            <a:r>
              <a:rPr lang="en-US" b="true" sz="2899">
                <a:solidFill>
                  <a:srgbClr val="000000"/>
                </a:solidFill>
                <a:latin typeface="Montserrat Bold"/>
                <a:ea typeface="Montserrat Bold"/>
                <a:cs typeface="Montserrat Bold"/>
                <a:sym typeface="Montserrat Bold"/>
              </a:rPr>
              <a:t>Text-to-Sp</a:t>
            </a:r>
            <a:r>
              <a:rPr lang="en-US" b="true" sz="2899">
                <a:solidFill>
                  <a:srgbClr val="000000"/>
                </a:solidFill>
                <a:latin typeface="Montserrat Bold"/>
                <a:ea typeface="Montserrat Bold"/>
                <a:cs typeface="Montserrat Bold"/>
                <a:sym typeface="Montserrat Bold"/>
              </a:rPr>
              <a:t>eech Implementation:</a:t>
            </a:r>
          </a:p>
        </p:txBody>
      </p:sp>
      <p:sp>
        <p:nvSpPr>
          <p:cNvPr name="TextBox 12" id="12"/>
          <p:cNvSpPr txBox="true"/>
          <p:nvPr/>
        </p:nvSpPr>
        <p:spPr>
          <a:xfrm rot="0">
            <a:off x="1028700" y="6616277"/>
            <a:ext cx="12967554" cy="2227655"/>
          </a:xfrm>
          <a:prstGeom prst="rect">
            <a:avLst/>
          </a:prstGeom>
        </p:spPr>
        <p:txBody>
          <a:bodyPr anchor="t" rtlCol="false" tIns="0" lIns="0" bIns="0" rIns="0">
            <a:spAutoFit/>
          </a:bodyPr>
          <a:lstStyle/>
          <a:p>
            <a:pPr algn="just">
              <a:lnSpc>
                <a:spcPts val="2995"/>
              </a:lnSpc>
              <a:spcBef>
                <a:spcPct val="0"/>
              </a:spcBef>
            </a:pPr>
            <a:r>
              <a:rPr lang="en-US" sz="2799">
                <a:solidFill>
                  <a:srgbClr val="000000"/>
                </a:solidFill>
                <a:latin typeface="Montserrat"/>
                <a:ea typeface="Montserrat"/>
                <a:cs typeface="Montserrat"/>
                <a:sym typeface="Montserrat"/>
              </a:rPr>
              <a:t>Fe</a:t>
            </a:r>
            <a:r>
              <a:rPr lang="en-US" sz="2799">
                <a:solidFill>
                  <a:srgbClr val="000000"/>
                </a:solidFill>
                <a:latin typeface="Montserrat"/>
                <a:ea typeface="Montserrat"/>
                <a:cs typeface="Montserrat"/>
                <a:sym typeface="Montserrat"/>
              </a:rPr>
              <a:t>atures:</a:t>
            </a:r>
          </a:p>
          <a:p>
            <a:pPr algn="just" marL="604519" indent="-302260" lvl="1">
              <a:lnSpc>
                <a:spcPts val="2995"/>
              </a:lnSpc>
              <a:spcBef>
                <a:spcPct val="0"/>
              </a:spcBef>
              <a:buFont typeface="Arial"/>
              <a:buChar char="•"/>
            </a:pPr>
            <a:r>
              <a:rPr lang="en-US" sz="2799">
                <a:solidFill>
                  <a:srgbClr val="000000"/>
                </a:solidFill>
                <a:latin typeface="Montserrat"/>
                <a:ea typeface="Montserrat"/>
                <a:cs typeface="Montserrat"/>
                <a:sym typeface="Montserrat"/>
              </a:rPr>
              <a:t>R</a:t>
            </a:r>
            <a:r>
              <a:rPr lang="en-US" sz="2799">
                <a:solidFill>
                  <a:srgbClr val="000000"/>
                </a:solidFill>
                <a:latin typeface="Montserrat"/>
                <a:ea typeface="Montserrat"/>
                <a:cs typeface="Montserrat"/>
                <a:sym typeface="Montserrat"/>
              </a:rPr>
              <a:t>eal-time accuracy feedback</a:t>
            </a:r>
          </a:p>
          <a:p>
            <a:pPr algn="just" marL="604519" indent="-302260" lvl="1">
              <a:lnSpc>
                <a:spcPts val="2995"/>
              </a:lnSpc>
              <a:spcBef>
                <a:spcPct val="0"/>
              </a:spcBef>
              <a:buFont typeface="Arial"/>
              <a:buChar char="•"/>
            </a:pPr>
            <a:r>
              <a:rPr lang="en-US" sz="2799">
                <a:solidFill>
                  <a:srgbClr val="000000"/>
                </a:solidFill>
                <a:latin typeface="Montserrat"/>
                <a:ea typeface="Montserrat"/>
                <a:cs typeface="Montserrat"/>
                <a:sym typeface="Montserrat"/>
              </a:rPr>
              <a:t>R</a:t>
            </a:r>
            <a:r>
              <a:rPr lang="en-US" sz="2799">
                <a:solidFill>
                  <a:srgbClr val="000000"/>
                </a:solidFill>
                <a:latin typeface="Montserrat"/>
                <a:ea typeface="Montserrat"/>
                <a:cs typeface="Montserrat"/>
                <a:sym typeface="Montserrat"/>
              </a:rPr>
              <a:t>etry mechanism</a:t>
            </a:r>
          </a:p>
          <a:p>
            <a:pPr algn="just" marL="604519" indent="-302260" lvl="1">
              <a:lnSpc>
                <a:spcPts val="2995"/>
              </a:lnSpc>
              <a:spcBef>
                <a:spcPct val="0"/>
              </a:spcBef>
              <a:buFont typeface="Arial"/>
              <a:buChar char="•"/>
            </a:pPr>
            <a:r>
              <a:rPr lang="en-US" sz="2799">
                <a:solidFill>
                  <a:srgbClr val="000000"/>
                </a:solidFill>
                <a:latin typeface="Montserrat"/>
                <a:ea typeface="Montserrat"/>
                <a:cs typeface="Montserrat"/>
                <a:sym typeface="Montserrat"/>
              </a:rPr>
              <a:t>Progr</a:t>
            </a:r>
            <a:r>
              <a:rPr lang="en-US" sz="2799">
                <a:solidFill>
                  <a:srgbClr val="000000"/>
                </a:solidFill>
                <a:latin typeface="Montserrat"/>
                <a:ea typeface="Montserrat"/>
                <a:cs typeface="Montserrat"/>
                <a:sym typeface="Montserrat"/>
              </a:rPr>
              <a:t>ess tracking per section</a:t>
            </a:r>
          </a:p>
          <a:p>
            <a:pPr algn="just" marL="604519" indent="-302260" lvl="1">
              <a:lnSpc>
                <a:spcPts val="2995"/>
              </a:lnSpc>
              <a:spcBef>
                <a:spcPct val="0"/>
              </a:spcBef>
              <a:buFont typeface="Arial"/>
              <a:buChar char="•"/>
            </a:pPr>
            <a:r>
              <a:rPr lang="en-US" sz="2799">
                <a:solidFill>
                  <a:srgbClr val="000000"/>
                </a:solidFill>
                <a:latin typeface="Montserrat"/>
                <a:ea typeface="Montserrat"/>
                <a:cs typeface="Montserrat"/>
                <a:sym typeface="Montserrat"/>
              </a:rPr>
              <a:t>S</a:t>
            </a:r>
            <a:r>
              <a:rPr lang="en-US" sz="2799">
                <a:solidFill>
                  <a:srgbClr val="000000"/>
                </a:solidFill>
                <a:latin typeface="Montserrat"/>
                <a:ea typeface="Montserrat"/>
                <a:cs typeface="Montserrat"/>
                <a:sym typeface="Montserrat"/>
              </a:rPr>
              <a:t>elf-paced advancement</a:t>
            </a:r>
          </a:p>
          <a:p>
            <a:pPr algn="just">
              <a:lnSpc>
                <a:spcPts val="2995"/>
              </a:lnSpc>
              <a:spcBef>
                <a:spcPct val="0"/>
              </a:spcBef>
            </a:pP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144000" y="1355173"/>
            <a:ext cx="10042068" cy="6664282"/>
          </a:xfrm>
          <a:custGeom>
            <a:avLst/>
            <a:gdLst/>
            <a:ahLst/>
            <a:cxnLst/>
            <a:rect r="r" b="b" t="t" l="l"/>
            <a:pathLst>
              <a:path h="6664282" w="10042068">
                <a:moveTo>
                  <a:pt x="0" y="6664282"/>
                </a:moveTo>
                <a:lnTo>
                  <a:pt x="10042068" y="6664282"/>
                </a:lnTo>
                <a:lnTo>
                  <a:pt x="10042068" y="0"/>
                </a:lnTo>
                <a:lnTo>
                  <a:pt x="0" y="0"/>
                </a:lnTo>
                <a:lnTo>
                  <a:pt x="0" y="6664282"/>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898068" y="2179650"/>
            <a:ext cx="10042068" cy="6664282"/>
          </a:xfrm>
          <a:custGeom>
            <a:avLst/>
            <a:gdLst/>
            <a:ahLst/>
            <a:cxnLst/>
            <a:rect r="r" b="b" t="t" l="l"/>
            <a:pathLst>
              <a:path h="6664282" w="10042068">
                <a:moveTo>
                  <a:pt x="10042068" y="0"/>
                </a:moveTo>
                <a:lnTo>
                  <a:pt x="0" y="0"/>
                </a:lnTo>
                <a:lnTo>
                  <a:pt x="0" y="6664282"/>
                </a:lnTo>
                <a:lnTo>
                  <a:pt x="10042068" y="6664282"/>
                </a:lnTo>
                <a:lnTo>
                  <a:pt x="10042068"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11278" y="4982792"/>
            <a:ext cx="4216232" cy="2798045"/>
          </a:xfrm>
          <a:custGeom>
            <a:avLst/>
            <a:gdLst/>
            <a:ahLst/>
            <a:cxnLst/>
            <a:rect r="r" b="b" t="t" l="l"/>
            <a:pathLst>
              <a:path h="2798045" w="4216232">
                <a:moveTo>
                  <a:pt x="0" y="0"/>
                </a:moveTo>
                <a:lnTo>
                  <a:pt x="4216232" y="0"/>
                </a:lnTo>
                <a:lnTo>
                  <a:pt x="4216232" y="2798045"/>
                </a:lnTo>
                <a:lnTo>
                  <a:pt x="0" y="2798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05789" y="-488243"/>
            <a:ext cx="5381659" cy="4060706"/>
          </a:xfrm>
          <a:custGeom>
            <a:avLst/>
            <a:gdLst/>
            <a:ahLst/>
            <a:cxnLst/>
            <a:rect r="r" b="b" t="t" l="l"/>
            <a:pathLst>
              <a:path h="4060706" w="5381659">
                <a:moveTo>
                  <a:pt x="0" y="0"/>
                </a:moveTo>
                <a:lnTo>
                  <a:pt x="5381659" y="0"/>
                </a:lnTo>
                <a:lnTo>
                  <a:pt x="5381659" y="4060707"/>
                </a:lnTo>
                <a:lnTo>
                  <a:pt x="0" y="4060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3031403" y="6736988"/>
            <a:ext cx="5581585" cy="4211560"/>
          </a:xfrm>
          <a:custGeom>
            <a:avLst/>
            <a:gdLst/>
            <a:ahLst/>
            <a:cxnLst/>
            <a:rect r="r" b="b" t="t" l="l"/>
            <a:pathLst>
              <a:path h="4211560" w="5581585">
                <a:moveTo>
                  <a:pt x="5581585" y="4211560"/>
                </a:moveTo>
                <a:lnTo>
                  <a:pt x="0" y="4211560"/>
                </a:lnTo>
                <a:lnTo>
                  <a:pt x="0" y="0"/>
                </a:lnTo>
                <a:lnTo>
                  <a:pt x="5581585" y="0"/>
                </a:lnTo>
                <a:lnTo>
                  <a:pt x="5581585" y="4211560"/>
                </a:lnTo>
                <a:close/>
              </a:path>
            </a:pathLst>
          </a:custGeom>
          <a:blipFill>
            <a:blip r:embed="rId4">
              <a:alphaModFix amt="18000"/>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262283" y="1127595"/>
            <a:ext cx="6802066" cy="1310944"/>
          </a:xfrm>
          <a:custGeom>
            <a:avLst/>
            <a:gdLst/>
            <a:ahLst/>
            <a:cxnLst/>
            <a:rect r="r" b="b" t="t" l="l"/>
            <a:pathLst>
              <a:path h="1310944" w="6802066">
                <a:moveTo>
                  <a:pt x="0" y="0"/>
                </a:moveTo>
                <a:lnTo>
                  <a:pt x="6802066" y="0"/>
                </a:lnTo>
                <a:lnTo>
                  <a:pt x="6802066" y="1310944"/>
                </a:lnTo>
                <a:lnTo>
                  <a:pt x="0" y="13109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3493371" y="3885936"/>
            <a:ext cx="11301259" cy="4732402"/>
          </a:xfrm>
          <a:custGeom>
            <a:avLst/>
            <a:gdLst/>
            <a:ahLst/>
            <a:cxnLst/>
            <a:rect r="r" b="b" t="t" l="l"/>
            <a:pathLst>
              <a:path h="4732402" w="11301259">
                <a:moveTo>
                  <a:pt x="0" y="0"/>
                </a:moveTo>
                <a:lnTo>
                  <a:pt x="11301258" y="0"/>
                </a:lnTo>
                <a:lnTo>
                  <a:pt x="11301258" y="4732402"/>
                </a:lnTo>
                <a:lnTo>
                  <a:pt x="0" y="4732402"/>
                </a:lnTo>
                <a:lnTo>
                  <a:pt x="0" y="0"/>
                </a:lnTo>
                <a:close/>
              </a:path>
            </a:pathLst>
          </a:custGeom>
          <a:blipFill>
            <a:blip r:embed="rId8"/>
            <a:stretch>
              <a:fillRect l="0" t="0" r="0" b="0"/>
            </a:stretch>
          </a:blipFill>
        </p:spPr>
      </p:sp>
      <p:sp>
        <p:nvSpPr>
          <p:cNvPr name="TextBox 9" id="9"/>
          <p:cNvSpPr txBox="true"/>
          <p:nvPr/>
        </p:nvSpPr>
        <p:spPr>
          <a:xfrm rot="0">
            <a:off x="5646784" y="1460804"/>
            <a:ext cx="4914903" cy="701698"/>
          </a:xfrm>
          <a:prstGeom prst="rect">
            <a:avLst/>
          </a:prstGeom>
        </p:spPr>
        <p:txBody>
          <a:bodyPr anchor="t" rtlCol="false" tIns="0" lIns="0" bIns="0" rIns="0">
            <a:spAutoFit/>
          </a:bodyPr>
          <a:lstStyle/>
          <a:p>
            <a:pPr algn="l">
              <a:lnSpc>
                <a:spcPts val="5350"/>
              </a:lnSpc>
            </a:pPr>
            <a:r>
              <a:rPr lang="en-US" sz="5000" b="true">
                <a:solidFill>
                  <a:srgbClr val="FCFEFF"/>
                </a:solidFill>
                <a:latin typeface="Aileron Bold"/>
                <a:ea typeface="Aileron Bold"/>
                <a:cs typeface="Aileron Bold"/>
                <a:sym typeface="Aileron Bold"/>
              </a:rPr>
              <a:t>Implementation</a:t>
            </a:r>
          </a:p>
        </p:txBody>
      </p:sp>
      <p:sp>
        <p:nvSpPr>
          <p:cNvPr name="TextBox 10" id="10"/>
          <p:cNvSpPr txBox="true"/>
          <p:nvPr/>
        </p:nvSpPr>
        <p:spPr>
          <a:xfrm rot="0">
            <a:off x="1018354" y="2683733"/>
            <a:ext cx="16240946" cy="606034"/>
          </a:xfrm>
          <a:prstGeom prst="rect">
            <a:avLst/>
          </a:prstGeom>
        </p:spPr>
        <p:txBody>
          <a:bodyPr anchor="t" rtlCol="false" tIns="0" lIns="0" bIns="0" rIns="0">
            <a:spAutoFit/>
          </a:bodyPr>
          <a:lstStyle/>
          <a:p>
            <a:pPr algn="l">
              <a:lnSpc>
                <a:spcPts val="4708"/>
              </a:lnSpc>
              <a:spcBef>
                <a:spcPct val="0"/>
              </a:spcBef>
            </a:pPr>
            <a:r>
              <a:rPr lang="en-US" b="true" sz="4400">
                <a:solidFill>
                  <a:srgbClr val="000000"/>
                </a:solidFill>
                <a:latin typeface="Montserrat Bold"/>
                <a:ea typeface="Montserrat Bold"/>
                <a:cs typeface="Montserrat Bold"/>
                <a:sym typeface="Montserrat Bold"/>
              </a:rPr>
              <a:t>Module 4: Practice &amp; Accuracy</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144000" y="1355173"/>
            <a:ext cx="10042068" cy="6664282"/>
          </a:xfrm>
          <a:custGeom>
            <a:avLst/>
            <a:gdLst/>
            <a:ahLst/>
            <a:cxnLst/>
            <a:rect r="r" b="b" t="t" l="l"/>
            <a:pathLst>
              <a:path h="6664282" w="10042068">
                <a:moveTo>
                  <a:pt x="0" y="6664282"/>
                </a:moveTo>
                <a:lnTo>
                  <a:pt x="10042068" y="6664282"/>
                </a:lnTo>
                <a:lnTo>
                  <a:pt x="10042068" y="0"/>
                </a:lnTo>
                <a:lnTo>
                  <a:pt x="0" y="0"/>
                </a:lnTo>
                <a:lnTo>
                  <a:pt x="0" y="6664282"/>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898068" y="2179650"/>
            <a:ext cx="10042068" cy="6664282"/>
          </a:xfrm>
          <a:custGeom>
            <a:avLst/>
            <a:gdLst/>
            <a:ahLst/>
            <a:cxnLst/>
            <a:rect r="r" b="b" t="t" l="l"/>
            <a:pathLst>
              <a:path h="6664282" w="10042068">
                <a:moveTo>
                  <a:pt x="10042068" y="0"/>
                </a:moveTo>
                <a:lnTo>
                  <a:pt x="0" y="0"/>
                </a:lnTo>
                <a:lnTo>
                  <a:pt x="0" y="6664282"/>
                </a:lnTo>
                <a:lnTo>
                  <a:pt x="10042068" y="6664282"/>
                </a:lnTo>
                <a:lnTo>
                  <a:pt x="10042068"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11278" y="4982792"/>
            <a:ext cx="4216232" cy="2798045"/>
          </a:xfrm>
          <a:custGeom>
            <a:avLst/>
            <a:gdLst/>
            <a:ahLst/>
            <a:cxnLst/>
            <a:rect r="r" b="b" t="t" l="l"/>
            <a:pathLst>
              <a:path h="2798045" w="4216232">
                <a:moveTo>
                  <a:pt x="0" y="0"/>
                </a:moveTo>
                <a:lnTo>
                  <a:pt x="4216232" y="0"/>
                </a:lnTo>
                <a:lnTo>
                  <a:pt x="4216232" y="2798045"/>
                </a:lnTo>
                <a:lnTo>
                  <a:pt x="0" y="2798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05789" y="-488243"/>
            <a:ext cx="5381659" cy="4060706"/>
          </a:xfrm>
          <a:custGeom>
            <a:avLst/>
            <a:gdLst/>
            <a:ahLst/>
            <a:cxnLst/>
            <a:rect r="r" b="b" t="t" l="l"/>
            <a:pathLst>
              <a:path h="4060706" w="5381659">
                <a:moveTo>
                  <a:pt x="0" y="0"/>
                </a:moveTo>
                <a:lnTo>
                  <a:pt x="5381659" y="0"/>
                </a:lnTo>
                <a:lnTo>
                  <a:pt x="5381659" y="4060707"/>
                </a:lnTo>
                <a:lnTo>
                  <a:pt x="0" y="4060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3031403" y="6736988"/>
            <a:ext cx="5581585" cy="4211560"/>
          </a:xfrm>
          <a:custGeom>
            <a:avLst/>
            <a:gdLst/>
            <a:ahLst/>
            <a:cxnLst/>
            <a:rect r="r" b="b" t="t" l="l"/>
            <a:pathLst>
              <a:path h="4211560" w="5581585">
                <a:moveTo>
                  <a:pt x="5581585" y="4211560"/>
                </a:moveTo>
                <a:lnTo>
                  <a:pt x="0" y="4211560"/>
                </a:lnTo>
                <a:lnTo>
                  <a:pt x="0" y="0"/>
                </a:lnTo>
                <a:lnTo>
                  <a:pt x="5581585" y="0"/>
                </a:lnTo>
                <a:lnTo>
                  <a:pt x="5581585" y="4211560"/>
                </a:lnTo>
                <a:close/>
              </a:path>
            </a:pathLst>
          </a:custGeom>
          <a:blipFill>
            <a:blip r:embed="rId4">
              <a:alphaModFix amt="18000"/>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262283" y="1127595"/>
            <a:ext cx="6802066" cy="1310944"/>
          </a:xfrm>
          <a:custGeom>
            <a:avLst/>
            <a:gdLst/>
            <a:ahLst/>
            <a:cxnLst/>
            <a:rect r="r" b="b" t="t" l="l"/>
            <a:pathLst>
              <a:path h="1310944" w="6802066">
                <a:moveTo>
                  <a:pt x="0" y="0"/>
                </a:moveTo>
                <a:lnTo>
                  <a:pt x="6802066" y="0"/>
                </a:lnTo>
                <a:lnTo>
                  <a:pt x="6802066" y="1310944"/>
                </a:lnTo>
                <a:lnTo>
                  <a:pt x="0" y="13109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3410019" y="3395937"/>
            <a:ext cx="11301259" cy="6356958"/>
          </a:xfrm>
          <a:custGeom>
            <a:avLst/>
            <a:gdLst/>
            <a:ahLst/>
            <a:cxnLst/>
            <a:rect r="r" b="b" t="t" l="l"/>
            <a:pathLst>
              <a:path h="6356958" w="11301259">
                <a:moveTo>
                  <a:pt x="0" y="0"/>
                </a:moveTo>
                <a:lnTo>
                  <a:pt x="11301259" y="0"/>
                </a:lnTo>
                <a:lnTo>
                  <a:pt x="11301259" y="6356958"/>
                </a:lnTo>
                <a:lnTo>
                  <a:pt x="0" y="6356958"/>
                </a:lnTo>
                <a:lnTo>
                  <a:pt x="0" y="0"/>
                </a:lnTo>
                <a:close/>
              </a:path>
            </a:pathLst>
          </a:custGeom>
          <a:blipFill>
            <a:blip r:embed="rId8"/>
            <a:stretch>
              <a:fillRect l="0" t="0" r="0" b="0"/>
            </a:stretch>
          </a:blipFill>
        </p:spPr>
      </p:sp>
      <p:sp>
        <p:nvSpPr>
          <p:cNvPr name="TextBox 9" id="9"/>
          <p:cNvSpPr txBox="true"/>
          <p:nvPr/>
        </p:nvSpPr>
        <p:spPr>
          <a:xfrm rot="0">
            <a:off x="5646784" y="1460804"/>
            <a:ext cx="4914903" cy="701698"/>
          </a:xfrm>
          <a:prstGeom prst="rect">
            <a:avLst/>
          </a:prstGeom>
        </p:spPr>
        <p:txBody>
          <a:bodyPr anchor="t" rtlCol="false" tIns="0" lIns="0" bIns="0" rIns="0">
            <a:spAutoFit/>
          </a:bodyPr>
          <a:lstStyle/>
          <a:p>
            <a:pPr algn="l">
              <a:lnSpc>
                <a:spcPts val="5350"/>
              </a:lnSpc>
            </a:pPr>
            <a:r>
              <a:rPr lang="en-US" sz="5000" b="true">
                <a:solidFill>
                  <a:srgbClr val="FCFEFF"/>
                </a:solidFill>
                <a:latin typeface="Aileron Bold"/>
                <a:ea typeface="Aileron Bold"/>
                <a:cs typeface="Aileron Bold"/>
                <a:sym typeface="Aileron Bold"/>
              </a:rPr>
              <a:t>Implementation</a:t>
            </a:r>
          </a:p>
        </p:txBody>
      </p:sp>
      <p:sp>
        <p:nvSpPr>
          <p:cNvPr name="TextBox 10" id="10"/>
          <p:cNvSpPr txBox="true"/>
          <p:nvPr/>
        </p:nvSpPr>
        <p:spPr>
          <a:xfrm rot="0">
            <a:off x="1018354" y="2683733"/>
            <a:ext cx="16240946" cy="606034"/>
          </a:xfrm>
          <a:prstGeom prst="rect">
            <a:avLst/>
          </a:prstGeom>
        </p:spPr>
        <p:txBody>
          <a:bodyPr anchor="t" rtlCol="false" tIns="0" lIns="0" bIns="0" rIns="0">
            <a:spAutoFit/>
          </a:bodyPr>
          <a:lstStyle/>
          <a:p>
            <a:pPr algn="l">
              <a:lnSpc>
                <a:spcPts val="4708"/>
              </a:lnSpc>
              <a:spcBef>
                <a:spcPct val="0"/>
              </a:spcBef>
            </a:pPr>
            <a:r>
              <a:rPr lang="en-US" b="true" sz="4400">
                <a:solidFill>
                  <a:srgbClr val="000000"/>
                </a:solidFill>
                <a:latin typeface="Montserrat Bold"/>
                <a:ea typeface="Montserrat Bold"/>
                <a:cs typeface="Montserrat Bold"/>
                <a:sym typeface="Montserrat Bold"/>
              </a:rPr>
              <a:t>Module 4: Practice &amp; Accuracy</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144000" y="1355173"/>
            <a:ext cx="10042068" cy="6664282"/>
          </a:xfrm>
          <a:custGeom>
            <a:avLst/>
            <a:gdLst/>
            <a:ahLst/>
            <a:cxnLst/>
            <a:rect r="r" b="b" t="t" l="l"/>
            <a:pathLst>
              <a:path h="6664282" w="10042068">
                <a:moveTo>
                  <a:pt x="0" y="6664282"/>
                </a:moveTo>
                <a:lnTo>
                  <a:pt x="10042068" y="6664282"/>
                </a:lnTo>
                <a:lnTo>
                  <a:pt x="10042068" y="0"/>
                </a:lnTo>
                <a:lnTo>
                  <a:pt x="0" y="0"/>
                </a:lnTo>
                <a:lnTo>
                  <a:pt x="0" y="6664282"/>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898068" y="2179650"/>
            <a:ext cx="10042068" cy="6664282"/>
          </a:xfrm>
          <a:custGeom>
            <a:avLst/>
            <a:gdLst/>
            <a:ahLst/>
            <a:cxnLst/>
            <a:rect r="r" b="b" t="t" l="l"/>
            <a:pathLst>
              <a:path h="6664282" w="10042068">
                <a:moveTo>
                  <a:pt x="10042068" y="0"/>
                </a:moveTo>
                <a:lnTo>
                  <a:pt x="0" y="0"/>
                </a:lnTo>
                <a:lnTo>
                  <a:pt x="0" y="6664282"/>
                </a:lnTo>
                <a:lnTo>
                  <a:pt x="10042068" y="6664282"/>
                </a:lnTo>
                <a:lnTo>
                  <a:pt x="10042068"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11278" y="4982792"/>
            <a:ext cx="4216232" cy="2798045"/>
          </a:xfrm>
          <a:custGeom>
            <a:avLst/>
            <a:gdLst/>
            <a:ahLst/>
            <a:cxnLst/>
            <a:rect r="r" b="b" t="t" l="l"/>
            <a:pathLst>
              <a:path h="2798045" w="4216232">
                <a:moveTo>
                  <a:pt x="0" y="0"/>
                </a:moveTo>
                <a:lnTo>
                  <a:pt x="4216232" y="0"/>
                </a:lnTo>
                <a:lnTo>
                  <a:pt x="4216232" y="2798045"/>
                </a:lnTo>
                <a:lnTo>
                  <a:pt x="0" y="2798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05789" y="-488243"/>
            <a:ext cx="5381659" cy="4060706"/>
          </a:xfrm>
          <a:custGeom>
            <a:avLst/>
            <a:gdLst/>
            <a:ahLst/>
            <a:cxnLst/>
            <a:rect r="r" b="b" t="t" l="l"/>
            <a:pathLst>
              <a:path h="4060706" w="5381659">
                <a:moveTo>
                  <a:pt x="0" y="0"/>
                </a:moveTo>
                <a:lnTo>
                  <a:pt x="5381659" y="0"/>
                </a:lnTo>
                <a:lnTo>
                  <a:pt x="5381659" y="4060707"/>
                </a:lnTo>
                <a:lnTo>
                  <a:pt x="0" y="4060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3031403" y="6736988"/>
            <a:ext cx="5581585" cy="4211560"/>
          </a:xfrm>
          <a:custGeom>
            <a:avLst/>
            <a:gdLst/>
            <a:ahLst/>
            <a:cxnLst/>
            <a:rect r="r" b="b" t="t" l="l"/>
            <a:pathLst>
              <a:path h="4211560" w="5581585">
                <a:moveTo>
                  <a:pt x="5581585" y="4211560"/>
                </a:moveTo>
                <a:lnTo>
                  <a:pt x="0" y="4211560"/>
                </a:lnTo>
                <a:lnTo>
                  <a:pt x="0" y="0"/>
                </a:lnTo>
                <a:lnTo>
                  <a:pt x="5581585" y="0"/>
                </a:lnTo>
                <a:lnTo>
                  <a:pt x="5581585" y="4211560"/>
                </a:lnTo>
                <a:close/>
              </a:path>
            </a:pathLst>
          </a:custGeom>
          <a:blipFill>
            <a:blip r:embed="rId4">
              <a:alphaModFix amt="18000"/>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28700" y="4497586"/>
            <a:ext cx="10908139" cy="4351232"/>
          </a:xfrm>
          <a:prstGeom prst="rect">
            <a:avLst/>
          </a:prstGeom>
        </p:spPr>
        <p:txBody>
          <a:bodyPr anchor="t" rtlCol="false" tIns="0" lIns="0" bIns="0" rIns="0">
            <a:spAutoFit/>
          </a:bodyPr>
          <a:lstStyle/>
          <a:p>
            <a:pPr algn="just" marL="0" indent="0" lvl="0">
              <a:lnSpc>
                <a:spcPts val="2896"/>
              </a:lnSpc>
              <a:spcBef>
                <a:spcPct val="0"/>
              </a:spcBef>
            </a:pPr>
            <a:r>
              <a:rPr lang="en-US" sz="1880">
                <a:solidFill>
                  <a:srgbClr val="FF3131"/>
                </a:solidFill>
                <a:latin typeface="Montserrat"/>
                <a:ea typeface="Montserrat"/>
                <a:cs typeface="Montserrat"/>
                <a:sym typeface="Montserrat"/>
              </a:rPr>
              <a:t>def save_progr</a:t>
            </a:r>
            <a:r>
              <a:rPr lang="en-US" sz="1880" strike="noStrike" u="none">
                <a:solidFill>
                  <a:srgbClr val="FF3131"/>
                </a:solidFill>
                <a:latin typeface="Montserrat"/>
                <a:ea typeface="Montserrat"/>
                <a:cs typeface="Montserrat"/>
                <a:sym typeface="Montserrat"/>
              </a:rPr>
              <a:t>ess(session_data):</a:t>
            </a: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   i</a:t>
            </a:r>
            <a:r>
              <a:rPr lang="en-US" sz="1880" strike="noStrike" u="none">
                <a:solidFill>
                  <a:srgbClr val="FF3131"/>
                </a:solidFill>
                <a:latin typeface="Montserrat"/>
                <a:ea typeface="Montserrat"/>
                <a:cs typeface="Montserrat"/>
                <a:sym typeface="Montserrat"/>
              </a:rPr>
              <a:t>f os.path.exists(PROGRESS_FILE):</a:t>
            </a: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       with</a:t>
            </a:r>
            <a:r>
              <a:rPr lang="en-US" sz="1880" strike="noStrike" u="none">
                <a:solidFill>
                  <a:srgbClr val="FF3131"/>
                </a:solidFill>
                <a:latin typeface="Montserrat"/>
                <a:ea typeface="Montserrat"/>
                <a:cs typeface="Montserrat"/>
                <a:sym typeface="Montserrat"/>
              </a:rPr>
              <a:t> open(PROGRESS_FILE, 'r') as f:</a:t>
            </a: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           dat</a:t>
            </a:r>
            <a:r>
              <a:rPr lang="en-US" sz="1880" strike="noStrike" u="none">
                <a:solidFill>
                  <a:srgbClr val="FF3131"/>
                </a:solidFill>
                <a:latin typeface="Montserrat"/>
                <a:ea typeface="Montserrat"/>
                <a:cs typeface="Montserrat"/>
                <a:sym typeface="Montserrat"/>
              </a:rPr>
              <a:t>a = json.load(f)</a:t>
            </a: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   else:</a:t>
            </a: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       data</a:t>
            </a:r>
            <a:r>
              <a:rPr lang="en-US" sz="1880" strike="noStrike" u="none">
                <a:solidFill>
                  <a:srgbClr val="FF3131"/>
                </a:solidFill>
                <a:latin typeface="Montserrat"/>
                <a:ea typeface="Montserrat"/>
                <a:cs typeface="Montserrat"/>
                <a:sym typeface="Montserrat"/>
              </a:rPr>
              <a:t> = {"ses</a:t>
            </a:r>
            <a:r>
              <a:rPr lang="en-US" sz="1880" strike="noStrike" u="none">
                <a:solidFill>
                  <a:srgbClr val="FF3131"/>
                </a:solidFill>
                <a:latin typeface="Montserrat"/>
                <a:ea typeface="Montserrat"/>
                <a:cs typeface="Montserrat"/>
                <a:sym typeface="Montserrat"/>
              </a:rPr>
              <a:t>si</a:t>
            </a:r>
            <a:r>
              <a:rPr lang="en-US" sz="1880" strike="noStrike" u="none">
                <a:solidFill>
                  <a:srgbClr val="FF3131"/>
                </a:solidFill>
                <a:latin typeface="Montserrat"/>
                <a:ea typeface="Montserrat"/>
                <a:cs typeface="Montserrat"/>
                <a:sym typeface="Montserrat"/>
              </a:rPr>
              <a:t>o</a:t>
            </a:r>
            <a:r>
              <a:rPr lang="en-US" sz="1880" strike="noStrike" u="none">
                <a:solidFill>
                  <a:srgbClr val="FF3131"/>
                </a:solidFill>
                <a:latin typeface="Montserrat"/>
                <a:ea typeface="Montserrat"/>
                <a:cs typeface="Montserrat"/>
                <a:sym typeface="Montserrat"/>
              </a:rPr>
              <a:t>ns": []}</a:t>
            </a: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   </a:t>
            </a: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data["sessions"].app</a:t>
            </a:r>
            <a:r>
              <a:rPr lang="en-US" sz="1880" strike="noStrike" u="none">
                <a:solidFill>
                  <a:srgbClr val="FF3131"/>
                </a:solidFill>
                <a:latin typeface="Montserrat"/>
                <a:ea typeface="Montserrat"/>
                <a:cs typeface="Montserrat"/>
                <a:sym typeface="Montserrat"/>
              </a:rPr>
              <a:t>end(sess</a:t>
            </a:r>
            <a:r>
              <a:rPr lang="en-US" sz="1880" strike="noStrike" u="none">
                <a:solidFill>
                  <a:srgbClr val="FF3131"/>
                </a:solidFill>
                <a:latin typeface="Montserrat"/>
                <a:ea typeface="Montserrat"/>
                <a:cs typeface="Montserrat"/>
                <a:sym typeface="Montserrat"/>
              </a:rPr>
              <a:t>ion_data)</a:t>
            </a: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   </a:t>
            </a: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   with</a:t>
            </a:r>
            <a:r>
              <a:rPr lang="en-US" sz="1880" strike="noStrike" u="none">
                <a:solidFill>
                  <a:srgbClr val="FF3131"/>
                </a:solidFill>
                <a:latin typeface="Montserrat"/>
                <a:ea typeface="Montserrat"/>
                <a:cs typeface="Montserrat"/>
                <a:sym typeface="Montserrat"/>
              </a:rPr>
              <a:t> </a:t>
            </a:r>
            <a:r>
              <a:rPr lang="en-US" sz="1880" strike="noStrike" u="none">
                <a:solidFill>
                  <a:srgbClr val="FF3131"/>
                </a:solidFill>
                <a:latin typeface="Montserrat"/>
                <a:ea typeface="Montserrat"/>
                <a:cs typeface="Montserrat"/>
                <a:sym typeface="Montserrat"/>
              </a:rPr>
              <a:t>open(PROGRESS_FILE, 'w') as f:</a:t>
            </a:r>
          </a:p>
          <a:p>
            <a:pPr algn="just" marL="0" indent="0" lvl="0">
              <a:lnSpc>
                <a:spcPts val="2896"/>
              </a:lnSpc>
              <a:spcBef>
                <a:spcPct val="0"/>
              </a:spcBef>
            </a:pPr>
            <a:r>
              <a:rPr lang="en-US" sz="1880" strike="noStrike" u="none">
                <a:solidFill>
                  <a:srgbClr val="FF3131"/>
                </a:solidFill>
                <a:latin typeface="Montserrat"/>
                <a:ea typeface="Montserrat"/>
                <a:cs typeface="Montserrat"/>
                <a:sym typeface="Montserrat"/>
              </a:rPr>
              <a:t>json.dump(data, f, indent=2)</a:t>
            </a:r>
          </a:p>
          <a:p>
            <a:pPr algn="just" marL="0" indent="0" lvl="0">
              <a:lnSpc>
                <a:spcPts val="2896"/>
              </a:lnSpc>
              <a:spcBef>
                <a:spcPct val="0"/>
              </a:spcBef>
            </a:pPr>
          </a:p>
        </p:txBody>
      </p:sp>
      <p:sp>
        <p:nvSpPr>
          <p:cNvPr name="Freeform 8" id="8"/>
          <p:cNvSpPr/>
          <p:nvPr/>
        </p:nvSpPr>
        <p:spPr>
          <a:xfrm flipH="false" flipV="false" rot="0">
            <a:off x="4262283" y="1127595"/>
            <a:ext cx="6802066" cy="1310944"/>
          </a:xfrm>
          <a:custGeom>
            <a:avLst/>
            <a:gdLst/>
            <a:ahLst/>
            <a:cxnLst/>
            <a:rect r="r" b="b" t="t" l="l"/>
            <a:pathLst>
              <a:path h="1310944" w="6802066">
                <a:moveTo>
                  <a:pt x="0" y="0"/>
                </a:moveTo>
                <a:lnTo>
                  <a:pt x="6802066" y="0"/>
                </a:lnTo>
                <a:lnTo>
                  <a:pt x="6802066" y="1310944"/>
                </a:lnTo>
                <a:lnTo>
                  <a:pt x="0" y="13109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5646784" y="1460804"/>
            <a:ext cx="4914903" cy="701698"/>
          </a:xfrm>
          <a:prstGeom prst="rect">
            <a:avLst/>
          </a:prstGeom>
        </p:spPr>
        <p:txBody>
          <a:bodyPr anchor="t" rtlCol="false" tIns="0" lIns="0" bIns="0" rIns="0">
            <a:spAutoFit/>
          </a:bodyPr>
          <a:lstStyle/>
          <a:p>
            <a:pPr algn="l">
              <a:lnSpc>
                <a:spcPts val="5350"/>
              </a:lnSpc>
            </a:pPr>
            <a:r>
              <a:rPr lang="en-US" sz="5000" b="true">
                <a:solidFill>
                  <a:srgbClr val="FCFEFF"/>
                </a:solidFill>
                <a:latin typeface="Aileron Bold"/>
                <a:ea typeface="Aileron Bold"/>
                <a:cs typeface="Aileron Bold"/>
                <a:sym typeface="Aileron Bold"/>
              </a:rPr>
              <a:t>Implementation</a:t>
            </a:r>
          </a:p>
        </p:txBody>
      </p:sp>
      <p:sp>
        <p:nvSpPr>
          <p:cNvPr name="TextBox 10" id="10"/>
          <p:cNvSpPr txBox="true"/>
          <p:nvPr/>
        </p:nvSpPr>
        <p:spPr>
          <a:xfrm rot="0">
            <a:off x="1018354" y="2683733"/>
            <a:ext cx="16240946" cy="606034"/>
          </a:xfrm>
          <a:prstGeom prst="rect">
            <a:avLst/>
          </a:prstGeom>
        </p:spPr>
        <p:txBody>
          <a:bodyPr anchor="t" rtlCol="false" tIns="0" lIns="0" bIns="0" rIns="0">
            <a:spAutoFit/>
          </a:bodyPr>
          <a:lstStyle/>
          <a:p>
            <a:pPr algn="l">
              <a:lnSpc>
                <a:spcPts val="4708"/>
              </a:lnSpc>
              <a:spcBef>
                <a:spcPct val="0"/>
              </a:spcBef>
            </a:pPr>
            <a:r>
              <a:rPr lang="en-US" b="true" sz="4400">
                <a:solidFill>
                  <a:srgbClr val="000000"/>
                </a:solidFill>
                <a:latin typeface="Montserrat Bold"/>
                <a:ea typeface="Montserrat Bold"/>
                <a:cs typeface="Montserrat Bold"/>
                <a:sym typeface="Montserrat Bold"/>
              </a:rPr>
              <a:t>Module 5: Progress Dashboard</a:t>
            </a:r>
          </a:p>
        </p:txBody>
      </p:sp>
      <p:sp>
        <p:nvSpPr>
          <p:cNvPr name="TextBox 11" id="11"/>
          <p:cNvSpPr txBox="true"/>
          <p:nvPr/>
        </p:nvSpPr>
        <p:spPr>
          <a:xfrm rot="0">
            <a:off x="1028700" y="3495245"/>
            <a:ext cx="6871478" cy="400326"/>
          </a:xfrm>
          <a:prstGeom prst="rect">
            <a:avLst/>
          </a:prstGeom>
        </p:spPr>
        <p:txBody>
          <a:bodyPr anchor="t" rtlCol="false" tIns="0" lIns="0" bIns="0" rIns="0">
            <a:spAutoFit/>
          </a:bodyPr>
          <a:lstStyle/>
          <a:p>
            <a:pPr algn="l">
              <a:lnSpc>
                <a:spcPts val="3102"/>
              </a:lnSpc>
              <a:spcBef>
                <a:spcPct val="0"/>
              </a:spcBef>
            </a:pPr>
            <a:r>
              <a:rPr lang="en-US" b="true" sz="2899">
                <a:solidFill>
                  <a:srgbClr val="000000"/>
                </a:solidFill>
                <a:latin typeface="Montserrat Bold"/>
                <a:ea typeface="Montserrat Bold"/>
                <a:cs typeface="Montserrat Bold"/>
                <a:sym typeface="Montserrat Bold"/>
              </a:rPr>
              <a:t>Longitudi</a:t>
            </a:r>
            <a:r>
              <a:rPr lang="en-US" b="true" sz="2899">
                <a:solidFill>
                  <a:srgbClr val="000000"/>
                </a:solidFill>
                <a:latin typeface="Montserrat Bold"/>
                <a:ea typeface="Montserrat Bold"/>
                <a:cs typeface="Montserrat Bold"/>
                <a:sym typeface="Montserrat Bold"/>
              </a:rPr>
              <a:t>nal Performance Tracking</a:t>
            </a:r>
          </a:p>
        </p:txBody>
      </p:sp>
      <p:sp>
        <p:nvSpPr>
          <p:cNvPr name="TextBox 12" id="12"/>
          <p:cNvSpPr txBox="true"/>
          <p:nvPr/>
        </p:nvSpPr>
        <p:spPr>
          <a:xfrm rot="0">
            <a:off x="1028700" y="4067930"/>
            <a:ext cx="13193992" cy="486806"/>
          </a:xfrm>
          <a:prstGeom prst="rect">
            <a:avLst/>
          </a:prstGeom>
        </p:spPr>
        <p:txBody>
          <a:bodyPr anchor="t" rtlCol="false" tIns="0" lIns="0" bIns="0" rIns="0">
            <a:spAutoFit/>
          </a:bodyPr>
          <a:lstStyle/>
          <a:p>
            <a:pPr algn="l">
              <a:lnSpc>
                <a:spcPts val="1926"/>
              </a:lnSpc>
              <a:spcBef>
                <a:spcPct val="0"/>
              </a:spcBef>
            </a:pPr>
            <a:r>
              <a:rPr lang="en-US" b="true" sz="1800">
                <a:solidFill>
                  <a:srgbClr val="000000"/>
                </a:solidFill>
                <a:latin typeface="Montserrat Bold"/>
                <a:ea typeface="Montserrat Bold"/>
                <a:cs typeface="Montserrat Bold"/>
                <a:sym typeface="Montserrat Bold"/>
              </a:rPr>
              <a:t>Da</a:t>
            </a:r>
            <a:r>
              <a:rPr lang="en-US" b="true" sz="1800">
                <a:solidFill>
                  <a:srgbClr val="000000"/>
                </a:solidFill>
                <a:latin typeface="Montserrat Bold"/>
                <a:ea typeface="Montserrat Bold"/>
                <a:cs typeface="Montserrat Bold"/>
                <a:sym typeface="Montserrat Bold"/>
              </a:rPr>
              <a:t>ta Persistence:</a:t>
            </a:r>
          </a:p>
          <a:p>
            <a:pPr algn="l">
              <a:lnSpc>
                <a:spcPts val="1926"/>
              </a:lnSpc>
              <a:spcBef>
                <a:spcPct val="0"/>
              </a:spcBef>
            </a:pP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144000" y="1355173"/>
            <a:ext cx="10042068" cy="6664282"/>
          </a:xfrm>
          <a:custGeom>
            <a:avLst/>
            <a:gdLst/>
            <a:ahLst/>
            <a:cxnLst/>
            <a:rect r="r" b="b" t="t" l="l"/>
            <a:pathLst>
              <a:path h="6664282" w="10042068">
                <a:moveTo>
                  <a:pt x="0" y="6664282"/>
                </a:moveTo>
                <a:lnTo>
                  <a:pt x="10042068" y="6664282"/>
                </a:lnTo>
                <a:lnTo>
                  <a:pt x="10042068" y="0"/>
                </a:lnTo>
                <a:lnTo>
                  <a:pt x="0" y="0"/>
                </a:lnTo>
                <a:lnTo>
                  <a:pt x="0" y="6664282"/>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898068" y="2179650"/>
            <a:ext cx="10042068" cy="6664282"/>
          </a:xfrm>
          <a:custGeom>
            <a:avLst/>
            <a:gdLst/>
            <a:ahLst/>
            <a:cxnLst/>
            <a:rect r="r" b="b" t="t" l="l"/>
            <a:pathLst>
              <a:path h="6664282" w="10042068">
                <a:moveTo>
                  <a:pt x="10042068" y="0"/>
                </a:moveTo>
                <a:lnTo>
                  <a:pt x="0" y="0"/>
                </a:lnTo>
                <a:lnTo>
                  <a:pt x="0" y="6664282"/>
                </a:lnTo>
                <a:lnTo>
                  <a:pt x="10042068" y="6664282"/>
                </a:lnTo>
                <a:lnTo>
                  <a:pt x="10042068"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11278" y="4982792"/>
            <a:ext cx="4216232" cy="2798045"/>
          </a:xfrm>
          <a:custGeom>
            <a:avLst/>
            <a:gdLst/>
            <a:ahLst/>
            <a:cxnLst/>
            <a:rect r="r" b="b" t="t" l="l"/>
            <a:pathLst>
              <a:path h="2798045" w="4216232">
                <a:moveTo>
                  <a:pt x="0" y="0"/>
                </a:moveTo>
                <a:lnTo>
                  <a:pt x="4216232" y="0"/>
                </a:lnTo>
                <a:lnTo>
                  <a:pt x="4216232" y="2798045"/>
                </a:lnTo>
                <a:lnTo>
                  <a:pt x="0" y="2798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05789" y="-488243"/>
            <a:ext cx="5381659" cy="4060706"/>
          </a:xfrm>
          <a:custGeom>
            <a:avLst/>
            <a:gdLst/>
            <a:ahLst/>
            <a:cxnLst/>
            <a:rect r="r" b="b" t="t" l="l"/>
            <a:pathLst>
              <a:path h="4060706" w="5381659">
                <a:moveTo>
                  <a:pt x="0" y="0"/>
                </a:moveTo>
                <a:lnTo>
                  <a:pt x="5381659" y="0"/>
                </a:lnTo>
                <a:lnTo>
                  <a:pt x="5381659" y="4060707"/>
                </a:lnTo>
                <a:lnTo>
                  <a:pt x="0" y="4060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3031403" y="6736988"/>
            <a:ext cx="5581585" cy="4211560"/>
          </a:xfrm>
          <a:custGeom>
            <a:avLst/>
            <a:gdLst/>
            <a:ahLst/>
            <a:cxnLst/>
            <a:rect r="r" b="b" t="t" l="l"/>
            <a:pathLst>
              <a:path h="4211560" w="5581585">
                <a:moveTo>
                  <a:pt x="5581585" y="4211560"/>
                </a:moveTo>
                <a:lnTo>
                  <a:pt x="0" y="4211560"/>
                </a:lnTo>
                <a:lnTo>
                  <a:pt x="0" y="0"/>
                </a:lnTo>
                <a:lnTo>
                  <a:pt x="5581585" y="0"/>
                </a:lnTo>
                <a:lnTo>
                  <a:pt x="5581585" y="42115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262283" y="1127595"/>
            <a:ext cx="6802066" cy="1310944"/>
          </a:xfrm>
          <a:custGeom>
            <a:avLst/>
            <a:gdLst/>
            <a:ahLst/>
            <a:cxnLst/>
            <a:rect r="r" b="b" t="t" l="l"/>
            <a:pathLst>
              <a:path h="1310944" w="6802066">
                <a:moveTo>
                  <a:pt x="0" y="0"/>
                </a:moveTo>
                <a:lnTo>
                  <a:pt x="6802066" y="0"/>
                </a:lnTo>
                <a:lnTo>
                  <a:pt x="6802066" y="1310944"/>
                </a:lnTo>
                <a:lnTo>
                  <a:pt x="0" y="13109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5646784" y="1460804"/>
            <a:ext cx="4914903" cy="701698"/>
          </a:xfrm>
          <a:prstGeom prst="rect">
            <a:avLst/>
          </a:prstGeom>
        </p:spPr>
        <p:txBody>
          <a:bodyPr anchor="t" rtlCol="false" tIns="0" lIns="0" bIns="0" rIns="0">
            <a:spAutoFit/>
          </a:bodyPr>
          <a:lstStyle/>
          <a:p>
            <a:pPr algn="l">
              <a:lnSpc>
                <a:spcPts val="5350"/>
              </a:lnSpc>
            </a:pPr>
            <a:r>
              <a:rPr lang="en-US" sz="5000" b="true">
                <a:solidFill>
                  <a:srgbClr val="FCFEFF"/>
                </a:solidFill>
                <a:latin typeface="Aileron Bold"/>
                <a:ea typeface="Aileron Bold"/>
                <a:cs typeface="Aileron Bold"/>
                <a:sym typeface="Aileron Bold"/>
              </a:rPr>
              <a:t>Implementation</a:t>
            </a:r>
          </a:p>
        </p:txBody>
      </p:sp>
      <p:sp>
        <p:nvSpPr>
          <p:cNvPr name="TextBox 9" id="9"/>
          <p:cNvSpPr txBox="true"/>
          <p:nvPr/>
        </p:nvSpPr>
        <p:spPr>
          <a:xfrm rot="0">
            <a:off x="1018354" y="2683733"/>
            <a:ext cx="16240946" cy="606034"/>
          </a:xfrm>
          <a:prstGeom prst="rect">
            <a:avLst/>
          </a:prstGeom>
        </p:spPr>
        <p:txBody>
          <a:bodyPr anchor="t" rtlCol="false" tIns="0" lIns="0" bIns="0" rIns="0">
            <a:spAutoFit/>
          </a:bodyPr>
          <a:lstStyle/>
          <a:p>
            <a:pPr algn="l">
              <a:lnSpc>
                <a:spcPts val="4708"/>
              </a:lnSpc>
              <a:spcBef>
                <a:spcPct val="0"/>
              </a:spcBef>
            </a:pPr>
            <a:r>
              <a:rPr lang="en-US" b="true" sz="4400">
                <a:solidFill>
                  <a:srgbClr val="000000"/>
                </a:solidFill>
                <a:latin typeface="Montserrat Bold"/>
                <a:ea typeface="Montserrat Bold"/>
                <a:cs typeface="Montserrat Bold"/>
                <a:sym typeface="Montserrat Bold"/>
              </a:rPr>
              <a:t>Module 5: Progress Dashboard</a:t>
            </a:r>
          </a:p>
        </p:txBody>
      </p:sp>
      <p:sp>
        <p:nvSpPr>
          <p:cNvPr name="TextBox 10" id="10"/>
          <p:cNvSpPr txBox="true"/>
          <p:nvPr/>
        </p:nvSpPr>
        <p:spPr>
          <a:xfrm rot="0">
            <a:off x="1028700" y="3337391"/>
            <a:ext cx="12967554" cy="4828216"/>
          </a:xfrm>
          <a:prstGeom prst="rect">
            <a:avLst/>
          </a:prstGeom>
        </p:spPr>
        <p:txBody>
          <a:bodyPr anchor="t" rtlCol="false" tIns="0" lIns="0" bIns="0" rIns="0">
            <a:spAutoFit/>
          </a:bodyPr>
          <a:lstStyle/>
          <a:p>
            <a:pPr algn="just">
              <a:lnSpc>
                <a:spcPts val="2995"/>
              </a:lnSpc>
            </a:pPr>
            <a:r>
              <a:rPr lang="en-US" sz="2799">
                <a:solidFill>
                  <a:srgbClr val="000000"/>
                </a:solidFill>
                <a:latin typeface="Montserrat"/>
                <a:ea typeface="Montserrat"/>
                <a:cs typeface="Montserrat"/>
                <a:sym typeface="Montserrat"/>
              </a:rPr>
              <a:t>Dashboard Metrics:</a:t>
            </a:r>
          </a:p>
          <a:p>
            <a:pPr algn="just" marL="604519" indent="-302260" lvl="1">
              <a:lnSpc>
                <a:spcPts val="2995"/>
              </a:lnSpc>
              <a:spcBef>
                <a:spcPct val="0"/>
              </a:spcBef>
              <a:buFont typeface="Arial"/>
              <a:buChar char="•"/>
            </a:pPr>
            <a:r>
              <a:rPr lang="en-US" sz="2799">
                <a:solidFill>
                  <a:srgbClr val="000000"/>
                </a:solidFill>
                <a:latin typeface="Montserrat"/>
                <a:ea typeface="Montserrat"/>
                <a:cs typeface="Montserrat"/>
                <a:sym typeface="Montserrat"/>
              </a:rPr>
              <a:t>Tota</a:t>
            </a:r>
            <a:r>
              <a:rPr lang="en-US" sz="2799">
                <a:solidFill>
                  <a:srgbClr val="000000"/>
                </a:solidFill>
                <a:latin typeface="Montserrat"/>
                <a:ea typeface="Montserrat"/>
                <a:cs typeface="Montserrat"/>
                <a:sym typeface="Montserrat"/>
              </a:rPr>
              <a:t>l sessions completed</a:t>
            </a:r>
          </a:p>
          <a:p>
            <a:pPr algn="just" marL="604519" indent="-302260" lvl="1">
              <a:lnSpc>
                <a:spcPts val="2995"/>
              </a:lnSpc>
              <a:spcBef>
                <a:spcPct val="0"/>
              </a:spcBef>
              <a:buFont typeface="Arial"/>
              <a:buChar char="•"/>
            </a:pPr>
            <a:r>
              <a:rPr lang="en-US" sz="2799">
                <a:solidFill>
                  <a:srgbClr val="000000"/>
                </a:solidFill>
                <a:latin typeface="Montserrat"/>
                <a:ea typeface="Montserrat"/>
                <a:cs typeface="Montserrat"/>
                <a:sym typeface="Montserrat"/>
              </a:rPr>
              <a:t>Average accuracy across sessions</a:t>
            </a:r>
          </a:p>
          <a:p>
            <a:pPr algn="just" marL="604519" indent="-302260" lvl="1">
              <a:lnSpc>
                <a:spcPts val="2995"/>
              </a:lnSpc>
              <a:spcBef>
                <a:spcPct val="0"/>
              </a:spcBef>
              <a:buFont typeface="Arial"/>
              <a:buChar char="•"/>
            </a:pPr>
            <a:r>
              <a:rPr lang="en-US" sz="2799">
                <a:solidFill>
                  <a:srgbClr val="000000"/>
                </a:solidFill>
                <a:latin typeface="Montserrat"/>
                <a:ea typeface="Montserrat"/>
                <a:cs typeface="Montserrat"/>
                <a:sym typeface="Montserrat"/>
              </a:rPr>
              <a:t>Error frequency by type</a:t>
            </a:r>
          </a:p>
          <a:p>
            <a:pPr algn="just" marL="604519" indent="-302260" lvl="1">
              <a:lnSpc>
                <a:spcPts val="2995"/>
              </a:lnSpc>
              <a:spcBef>
                <a:spcPct val="0"/>
              </a:spcBef>
              <a:buFont typeface="Arial"/>
              <a:buChar char="•"/>
            </a:pPr>
            <a:r>
              <a:rPr lang="en-US" sz="2799">
                <a:solidFill>
                  <a:srgbClr val="000000"/>
                </a:solidFill>
                <a:latin typeface="Montserrat"/>
                <a:ea typeface="Montserrat"/>
                <a:cs typeface="Montserrat"/>
                <a:sym typeface="Montserrat"/>
              </a:rPr>
              <a:t>Session-by-session improvement</a:t>
            </a:r>
          </a:p>
          <a:p>
            <a:pPr algn="just" marL="604519" indent="-302260" lvl="1">
              <a:lnSpc>
                <a:spcPts val="2995"/>
              </a:lnSpc>
              <a:spcBef>
                <a:spcPct val="0"/>
              </a:spcBef>
              <a:buFont typeface="Arial"/>
              <a:buChar char="•"/>
            </a:pPr>
            <a:r>
              <a:rPr lang="en-US" sz="2799">
                <a:solidFill>
                  <a:srgbClr val="000000"/>
                </a:solidFill>
                <a:latin typeface="Montserrat"/>
                <a:ea typeface="Montserrat"/>
                <a:cs typeface="Montserrat"/>
                <a:sym typeface="Montserrat"/>
              </a:rPr>
              <a:t>Best/worst performing sections</a:t>
            </a:r>
          </a:p>
          <a:p>
            <a:pPr algn="just">
              <a:lnSpc>
                <a:spcPts val="2995"/>
              </a:lnSpc>
              <a:spcBef>
                <a:spcPct val="0"/>
              </a:spcBef>
            </a:pPr>
          </a:p>
          <a:p>
            <a:pPr algn="just">
              <a:lnSpc>
                <a:spcPts val="2995"/>
              </a:lnSpc>
              <a:spcBef>
                <a:spcPct val="0"/>
              </a:spcBef>
            </a:pPr>
            <a:r>
              <a:rPr lang="en-US" sz="2799">
                <a:solidFill>
                  <a:srgbClr val="000000"/>
                </a:solidFill>
                <a:latin typeface="Montserrat"/>
                <a:ea typeface="Montserrat"/>
                <a:cs typeface="Montserrat"/>
                <a:sym typeface="Montserrat"/>
              </a:rPr>
              <a:t>Visualization Features:</a:t>
            </a:r>
          </a:p>
          <a:p>
            <a:pPr algn="just" marL="604519" indent="-302260" lvl="1">
              <a:lnSpc>
                <a:spcPts val="2995"/>
              </a:lnSpc>
              <a:spcBef>
                <a:spcPct val="0"/>
              </a:spcBef>
              <a:buFont typeface="Arial"/>
              <a:buChar char="•"/>
            </a:pPr>
            <a:r>
              <a:rPr lang="en-US" sz="2799">
                <a:solidFill>
                  <a:srgbClr val="000000"/>
                </a:solidFill>
                <a:latin typeface="Montserrat"/>
                <a:ea typeface="Montserrat"/>
                <a:cs typeface="Montserrat"/>
                <a:sym typeface="Montserrat"/>
              </a:rPr>
              <a:t>Histor</a:t>
            </a:r>
            <a:r>
              <a:rPr lang="en-US" sz="2799">
                <a:solidFill>
                  <a:srgbClr val="000000"/>
                </a:solidFill>
                <a:latin typeface="Montserrat"/>
                <a:ea typeface="Montserrat"/>
                <a:cs typeface="Montserrat"/>
                <a:sym typeface="Montserrat"/>
              </a:rPr>
              <a:t>ical session list with expandable details</a:t>
            </a:r>
          </a:p>
          <a:p>
            <a:pPr algn="just" marL="604519" indent="-302260" lvl="1">
              <a:lnSpc>
                <a:spcPts val="2995"/>
              </a:lnSpc>
              <a:spcBef>
                <a:spcPct val="0"/>
              </a:spcBef>
              <a:buFont typeface="Arial"/>
              <a:buChar char="•"/>
            </a:pPr>
            <a:r>
              <a:rPr lang="en-US" sz="2799">
                <a:solidFill>
                  <a:srgbClr val="000000"/>
                </a:solidFill>
                <a:latin typeface="Montserrat"/>
                <a:ea typeface="Montserrat"/>
                <a:cs typeface="Montserrat"/>
                <a:sym typeface="Montserrat"/>
              </a:rPr>
              <a:t>Error table display for each session</a:t>
            </a:r>
          </a:p>
          <a:p>
            <a:pPr algn="just" marL="604519" indent="-302260" lvl="1">
              <a:lnSpc>
                <a:spcPts val="2995"/>
              </a:lnSpc>
              <a:spcBef>
                <a:spcPct val="0"/>
              </a:spcBef>
              <a:buFont typeface="Arial"/>
              <a:buChar char="•"/>
            </a:pPr>
            <a:r>
              <a:rPr lang="en-US" sz="2799">
                <a:solidFill>
                  <a:srgbClr val="000000"/>
                </a:solidFill>
                <a:latin typeface="Montserrat"/>
                <a:ea typeface="Montserrat"/>
                <a:cs typeface="Montserrat"/>
                <a:sym typeface="Montserrat"/>
              </a:rPr>
              <a:t>Accuracy trend visualization</a:t>
            </a:r>
          </a:p>
          <a:p>
            <a:pPr algn="just" marL="604519" indent="-302260" lvl="1">
              <a:lnSpc>
                <a:spcPts val="2995"/>
              </a:lnSpc>
              <a:spcBef>
                <a:spcPct val="0"/>
              </a:spcBef>
              <a:buFont typeface="Arial"/>
              <a:buChar char="•"/>
            </a:pPr>
            <a:r>
              <a:rPr lang="en-US" sz="2799">
                <a:solidFill>
                  <a:srgbClr val="000000"/>
                </a:solidFill>
                <a:latin typeface="Montserrat"/>
                <a:ea typeface="Montserrat"/>
                <a:cs typeface="Montserrat"/>
                <a:sym typeface="Montserrat"/>
              </a:rPr>
              <a:t>Section-le</a:t>
            </a:r>
            <a:r>
              <a:rPr lang="en-US" sz="2799">
                <a:solidFill>
                  <a:srgbClr val="000000"/>
                </a:solidFill>
                <a:latin typeface="Montserrat"/>
                <a:ea typeface="Montserrat"/>
                <a:cs typeface="Montserrat"/>
                <a:sym typeface="Montserrat"/>
              </a:rPr>
              <a:t>v</a:t>
            </a:r>
            <a:r>
              <a:rPr lang="en-US" sz="2799">
                <a:solidFill>
                  <a:srgbClr val="000000"/>
                </a:solidFill>
                <a:latin typeface="Montserrat"/>
                <a:ea typeface="Montserrat"/>
                <a:cs typeface="Montserrat"/>
                <a:sym typeface="Montserrat"/>
              </a:rPr>
              <a:t>el attempt tracking</a:t>
            </a:r>
          </a:p>
          <a:p>
            <a:pPr algn="just">
              <a:lnSpc>
                <a:spcPts val="2995"/>
              </a:lnSpc>
              <a:spcBef>
                <a:spcPct val="0"/>
              </a:spcBef>
            </a:pPr>
          </a:p>
        </p:txBody>
      </p:sp>
      <p:sp>
        <p:nvSpPr>
          <p:cNvPr name="TextBox 11" id="11"/>
          <p:cNvSpPr txBox="true"/>
          <p:nvPr/>
        </p:nvSpPr>
        <p:spPr>
          <a:xfrm rot="0">
            <a:off x="9693146" y="3359730"/>
            <a:ext cx="12967554" cy="2599164"/>
          </a:xfrm>
          <a:prstGeom prst="rect">
            <a:avLst/>
          </a:prstGeom>
        </p:spPr>
        <p:txBody>
          <a:bodyPr anchor="t" rtlCol="false" tIns="0" lIns="0" bIns="0" rIns="0">
            <a:spAutoFit/>
          </a:bodyPr>
          <a:lstStyle/>
          <a:p>
            <a:pPr algn="just">
              <a:lnSpc>
                <a:spcPts val="2995"/>
              </a:lnSpc>
              <a:spcBef>
                <a:spcPct val="0"/>
              </a:spcBef>
            </a:pPr>
            <a:r>
              <a:rPr lang="en-US" sz="2799">
                <a:solidFill>
                  <a:srgbClr val="000000"/>
                </a:solidFill>
                <a:latin typeface="Montserrat"/>
                <a:ea typeface="Montserrat"/>
                <a:cs typeface="Montserrat"/>
                <a:sym typeface="Montserrat"/>
              </a:rPr>
              <a:t>Data Insights Provided:</a:t>
            </a:r>
          </a:p>
          <a:p>
            <a:pPr algn="just" marL="604519" indent="-302260" lvl="1">
              <a:lnSpc>
                <a:spcPts val="2995"/>
              </a:lnSpc>
              <a:spcBef>
                <a:spcPct val="0"/>
              </a:spcBef>
              <a:buFont typeface="Arial"/>
              <a:buChar char="•"/>
            </a:pPr>
            <a:r>
              <a:rPr lang="en-US" sz="2799">
                <a:solidFill>
                  <a:srgbClr val="000000"/>
                </a:solidFill>
                <a:latin typeface="Montserrat"/>
                <a:ea typeface="Montserrat"/>
                <a:cs typeface="Montserrat"/>
                <a:sym typeface="Montserrat"/>
              </a:rPr>
              <a:t>P</a:t>
            </a:r>
            <a:r>
              <a:rPr lang="en-US" sz="2799">
                <a:solidFill>
                  <a:srgbClr val="000000"/>
                </a:solidFill>
                <a:latin typeface="Montserrat"/>
                <a:ea typeface="Montserrat"/>
                <a:cs typeface="Montserrat"/>
                <a:sym typeface="Montserrat"/>
              </a:rPr>
              <a:t>ersistent error patterns </a:t>
            </a:r>
          </a:p>
          <a:p>
            <a:pPr algn="just">
              <a:lnSpc>
                <a:spcPts val="2995"/>
              </a:lnSpc>
              <a:spcBef>
                <a:spcPct val="0"/>
              </a:spcBef>
            </a:pPr>
            <a:r>
              <a:rPr lang="en-US" sz="2799">
                <a:solidFill>
                  <a:srgbClr val="000000"/>
                </a:solidFill>
                <a:latin typeface="Montserrat"/>
                <a:ea typeface="Montserrat"/>
                <a:cs typeface="Montserrat"/>
                <a:sym typeface="Montserrat"/>
              </a:rPr>
              <a:t>(e.g., /r/ substitution)</a:t>
            </a:r>
          </a:p>
          <a:p>
            <a:pPr algn="just" marL="604519" indent="-302260" lvl="1">
              <a:lnSpc>
                <a:spcPts val="2995"/>
              </a:lnSpc>
              <a:spcBef>
                <a:spcPct val="0"/>
              </a:spcBef>
              <a:buFont typeface="Arial"/>
              <a:buChar char="•"/>
            </a:pPr>
            <a:r>
              <a:rPr lang="en-US" sz="2799">
                <a:solidFill>
                  <a:srgbClr val="000000"/>
                </a:solidFill>
                <a:latin typeface="Montserrat"/>
                <a:ea typeface="Montserrat"/>
                <a:cs typeface="Montserrat"/>
                <a:sym typeface="Montserrat"/>
              </a:rPr>
              <a:t>Improvement velocity</a:t>
            </a:r>
          </a:p>
          <a:p>
            <a:pPr algn="just" marL="604519" indent="-302260" lvl="1">
              <a:lnSpc>
                <a:spcPts val="2995"/>
              </a:lnSpc>
              <a:spcBef>
                <a:spcPct val="0"/>
              </a:spcBef>
              <a:buFont typeface="Arial"/>
              <a:buChar char="•"/>
            </a:pPr>
            <a:r>
              <a:rPr lang="en-US" sz="2799">
                <a:solidFill>
                  <a:srgbClr val="000000"/>
                </a:solidFill>
                <a:latin typeface="Montserrat"/>
                <a:ea typeface="Montserrat"/>
                <a:cs typeface="Montserrat"/>
                <a:sym typeface="Montserrat"/>
              </a:rPr>
              <a:t>Engag</a:t>
            </a:r>
            <a:r>
              <a:rPr lang="en-US" sz="2799">
                <a:solidFill>
                  <a:srgbClr val="000000"/>
                </a:solidFill>
                <a:latin typeface="Montserrat"/>
                <a:ea typeface="Montserrat"/>
                <a:cs typeface="Montserrat"/>
                <a:sym typeface="Montserrat"/>
              </a:rPr>
              <a:t>ement metrics (session frequency)</a:t>
            </a:r>
          </a:p>
          <a:p>
            <a:pPr algn="just" marL="604519" indent="-302260" lvl="1">
              <a:lnSpc>
                <a:spcPts val="2995"/>
              </a:lnSpc>
              <a:spcBef>
                <a:spcPct val="0"/>
              </a:spcBef>
              <a:buFont typeface="Arial"/>
              <a:buChar char="•"/>
            </a:pPr>
            <a:r>
              <a:rPr lang="en-US" sz="2799">
                <a:solidFill>
                  <a:srgbClr val="000000"/>
                </a:solidFill>
                <a:latin typeface="Montserrat"/>
                <a:ea typeface="Montserrat"/>
                <a:cs typeface="Montserrat"/>
                <a:sym typeface="Montserrat"/>
              </a:rPr>
              <a:t>Areas requiring focus</a:t>
            </a:r>
          </a:p>
          <a:p>
            <a:pPr algn="just">
              <a:lnSpc>
                <a:spcPts val="2995"/>
              </a:lnSpc>
              <a:spcBef>
                <a:spcPct val="0"/>
              </a:spcBef>
            </a:pP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144000" y="1355173"/>
            <a:ext cx="10042068" cy="6664282"/>
          </a:xfrm>
          <a:custGeom>
            <a:avLst/>
            <a:gdLst/>
            <a:ahLst/>
            <a:cxnLst/>
            <a:rect r="r" b="b" t="t" l="l"/>
            <a:pathLst>
              <a:path h="6664282" w="10042068">
                <a:moveTo>
                  <a:pt x="0" y="6664282"/>
                </a:moveTo>
                <a:lnTo>
                  <a:pt x="10042068" y="6664282"/>
                </a:lnTo>
                <a:lnTo>
                  <a:pt x="10042068" y="0"/>
                </a:lnTo>
                <a:lnTo>
                  <a:pt x="0" y="0"/>
                </a:lnTo>
                <a:lnTo>
                  <a:pt x="0" y="6664282"/>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898068" y="2179650"/>
            <a:ext cx="10042068" cy="6664282"/>
          </a:xfrm>
          <a:custGeom>
            <a:avLst/>
            <a:gdLst/>
            <a:ahLst/>
            <a:cxnLst/>
            <a:rect r="r" b="b" t="t" l="l"/>
            <a:pathLst>
              <a:path h="6664282" w="10042068">
                <a:moveTo>
                  <a:pt x="10042068" y="0"/>
                </a:moveTo>
                <a:lnTo>
                  <a:pt x="0" y="0"/>
                </a:lnTo>
                <a:lnTo>
                  <a:pt x="0" y="6664282"/>
                </a:lnTo>
                <a:lnTo>
                  <a:pt x="10042068" y="6664282"/>
                </a:lnTo>
                <a:lnTo>
                  <a:pt x="10042068"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11278" y="4982792"/>
            <a:ext cx="4216232" cy="2798045"/>
          </a:xfrm>
          <a:custGeom>
            <a:avLst/>
            <a:gdLst/>
            <a:ahLst/>
            <a:cxnLst/>
            <a:rect r="r" b="b" t="t" l="l"/>
            <a:pathLst>
              <a:path h="2798045" w="4216232">
                <a:moveTo>
                  <a:pt x="0" y="0"/>
                </a:moveTo>
                <a:lnTo>
                  <a:pt x="4216232" y="0"/>
                </a:lnTo>
                <a:lnTo>
                  <a:pt x="4216232" y="2798045"/>
                </a:lnTo>
                <a:lnTo>
                  <a:pt x="0" y="2798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05789" y="-488243"/>
            <a:ext cx="5381659" cy="4060706"/>
          </a:xfrm>
          <a:custGeom>
            <a:avLst/>
            <a:gdLst/>
            <a:ahLst/>
            <a:cxnLst/>
            <a:rect r="r" b="b" t="t" l="l"/>
            <a:pathLst>
              <a:path h="4060706" w="5381659">
                <a:moveTo>
                  <a:pt x="0" y="0"/>
                </a:moveTo>
                <a:lnTo>
                  <a:pt x="5381659" y="0"/>
                </a:lnTo>
                <a:lnTo>
                  <a:pt x="5381659" y="4060707"/>
                </a:lnTo>
                <a:lnTo>
                  <a:pt x="0" y="4060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3031403" y="6736988"/>
            <a:ext cx="5581585" cy="4211560"/>
          </a:xfrm>
          <a:custGeom>
            <a:avLst/>
            <a:gdLst/>
            <a:ahLst/>
            <a:cxnLst/>
            <a:rect r="r" b="b" t="t" l="l"/>
            <a:pathLst>
              <a:path h="4211560" w="5581585">
                <a:moveTo>
                  <a:pt x="5581585" y="4211560"/>
                </a:moveTo>
                <a:lnTo>
                  <a:pt x="0" y="4211560"/>
                </a:lnTo>
                <a:lnTo>
                  <a:pt x="0" y="0"/>
                </a:lnTo>
                <a:lnTo>
                  <a:pt x="5581585" y="0"/>
                </a:lnTo>
                <a:lnTo>
                  <a:pt x="5581585" y="42115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262283" y="1127595"/>
            <a:ext cx="6802066" cy="1310944"/>
          </a:xfrm>
          <a:custGeom>
            <a:avLst/>
            <a:gdLst/>
            <a:ahLst/>
            <a:cxnLst/>
            <a:rect r="r" b="b" t="t" l="l"/>
            <a:pathLst>
              <a:path h="1310944" w="6802066">
                <a:moveTo>
                  <a:pt x="0" y="0"/>
                </a:moveTo>
                <a:lnTo>
                  <a:pt x="6802066" y="0"/>
                </a:lnTo>
                <a:lnTo>
                  <a:pt x="6802066" y="1310944"/>
                </a:lnTo>
                <a:lnTo>
                  <a:pt x="0" y="13109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3493371" y="3370154"/>
            <a:ext cx="11301259" cy="6356958"/>
          </a:xfrm>
          <a:custGeom>
            <a:avLst/>
            <a:gdLst/>
            <a:ahLst/>
            <a:cxnLst/>
            <a:rect r="r" b="b" t="t" l="l"/>
            <a:pathLst>
              <a:path h="6356958" w="11301259">
                <a:moveTo>
                  <a:pt x="0" y="0"/>
                </a:moveTo>
                <a:lnTo>
                  <a:pt x="11301258" y="0"/>
                </a:lnTo>
                <a:lnTo>
                  <a:pt x="11301258" y="6356958"/>
                </a:lnTo>
                <a:lnTo>
                  <a:pt x="0" y="6356958"/>
                </a:lnTo>
                <a:lnTo>
                  <a:pt x="0" y="0"/>
                </a:lnTo>
                <a:close/>
              </a:path>
            </a:pathLst>
          </a:custGeom>
          <a:blipFill>
            <a:blip r:embed="rId8"/>
            <a:stretch>
              <a:fillRect l="0" t="0" r="0" b="0"/>
            </a:stretch>
          </a:blipFill>
        </p:spPr>
      </p:sp>
      <p:sp>
        <p:nvSpPr>
          <p:cNvPr name="TextBox 9" id="9"/>
          <p:cNvSpPr txBox="true"/>
          <p:nvPr/>
        </p:nvSpPr>
        <p:spPr>
          <a:xfrm rot="0">
            <a:off x="5646784" y="1460804"/>
            <a:ext cx="4914903" cy="701698"/>
          </a:xfrm>
          <a:prstGeom prst="rect">
            <a:avLst/>
          </a:prstGeom>
        </p:spPr>
        <p:txBody>
          <a:bodyPr anchor="t" rtlCol="false" tIns="0" lIns="0" bIns="0" rIns="0">
            <a:spAutoFit/>
          </a:bodyPr>
          <a:lstStyle/>
          <a:p>
            <a:pPr algn="l">
              <a:lnSpc>
                <a:spcPts val="5350"/>
              </a:lnSpc>
            </a:pPr>
            <a:r>
              <a:rPr lang="en-US" sz="5000" b="true">
                <a:solidFill>
                  <a:srgbClr val="FCFEFF"/>
                </a:solidFill>
                <a:latin typeface="Aileron Bold"/>
                <a:ea typeface="Aileron Bold"/>
                <a:cs typeface="Aileron Bold"/>
                <a:sym typeface="Aileron Bold"/>
              </a:rPr>
              <a:t>Implementation</a:t>
            </a:r>
          </a:p>
        </p:txBody>
      </p:sp>
      <p:sp>
        <p:nvSpPr>
          <p:cNvPr name="TextBox 10" id="10"/>
          <p:cNvSpPr txBox="true"/>
          <p:nvPr/>
        </p:nvSpPr>
        <p:spPr>
          <a:xfrm rot="0">
            <a:off x="1018354" y="2683733"/>
            <a:ext cx="16240946" cy="606034"/>
          </a:xfrm>
          <a:prstGeom prst="rect">
            <a:avLst/>
          </a:prstGeom>
        </p:spPr>
        <p:txBody>
          <a:bodyPr anchor="t" rtlCol="false" tIns="0" lIns="0" bIns="0" rIns="0">
            <a:spAutoFit/>
          </a:bodyPr>
          <a:lstStyle/>
          <a:p>
            <a:pPr algn="l">
              <a:lnSpc>
                <a:spcPts val="4708"/>
              </a:lnSpc>
              <a:spcBef>
                <a:spcPct val="0"/>
              </a:spcBef>
            </a:pPr>
            <a:r>
              <a:rPr lang="en-US" b="true" sz="4400">
                <a:solidFill>
                  <a:srgbClr val="000000"/>
                </a:solidFill>
                <a:latin typeface="Montserrat Bold"/>
                <a:ea typeface="Montserrat Bold"/>
                <a:cs typeface="Montserrat Bold"/>
                <a:sym typeface="Montserrat Bold"/>
              </a:rPr>
              <a:t>Module 5: Progress Dashboard</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144000" y="1355173"/>
            <a:ext cx="10042068" cy="6664282"/>
          </a:xfrm>
          <a:custGeom>
            <a:avLst/>
            <a:gdLst/>
            <a:ahLst/>
            <a:cxnLst/>
            <a:rect r="r" b="b" t="t" l="l"/>
            <a:pathLst>
              <a:path h="6664282" w="10042068">
                <a:moveTo>
                  <a:pt x="0" y="6664282"/>
                </a:moveTo>
                <a:lnTo>
                  <a:pt x="10042068" y="6664282"/>
                </a:lnTo>
                <a:lnTo>
                  <a:pt x="10042068" y="0"/>
                </a:lnTo>
                <a:lnTo>
                  <a:pt x="0" y="0"/>
                </a:lnTo>
                <a:lnTo>
                  <a:pt x="0" y="6664282"/>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898068" y="2179650"/>
            <a:ext cx="10042068" cy="6664282"/>
          </a:xfrm>
          <a:custGeom>
            <a:avLst/>
            <a:gdLst/>
            <a:ahLst/>
            <a:cxnLst/>
            <a:rect r="r" b="b" t="t" l="l"/>
            <a:pathLst>
              <a:path h="6664282" w="10042068">
                <a:moveTo>
                  <a:pt x="10042068" y="0"/>
                </a:moveTo>
                <a:lnTo>
                  <a:pt x="0" y="0"/>
                </a:lnTo>
                <a:lnTo>
                  <a:pt x="0" y="6664282"/>
                </a:lnTo>
                <a:lnTo>
                  <a:pt x="10042068" y="6664282"/>
                </a:lnTo>
                <a:lnTo>
                  <a:pt x="10042068"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11278" y="4982792"/>
            <a:ext cx="4216232" cy="2798045"/>
          </a:xfrm>
          <a:custGeom>
            <a:avLst/>
            <a:gdLst/>
            <a:ahLst/>
            <a:cxnLst/>
            <a:rect r="r" b="b" t="t" l="l"/>
            <a:pathLst>
              <a:path h="2798045" w="4216232">
                <a:moveTo>
                  <a:pt x="0" y="0"/>
                </a:moveTo>
                <a:lnTo>
                  <a:pt x="4216232" y="0"/>
                </a:lnTo>
                <a:lnTo>
                  <a:pt x="4216232" y="2798045"/>
                </a:lnTo>
                <a:lnTo>
                  <a:pt x="0" y="2798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05789" y="-488243"/>
            <a:ext cx="5381659" cy="4060706"/>
          </a:xfrm>
          <a:custGeom>
            <a:avLst/>
            <a:gdLst/>
            <a:ahLst/>
            <a:cxnLst/>
            <a:rect r="r" b="b" t="t" l="l"/>
            <a:pathLst>
              <a:path h="4060706" w="5381659">
                <a:moveTo>
                  <a:pt x="0" y="0"/>
                </a:moveTo>
                <a:lnTo>
                  <a:pt x="5381659" y="0"/>
                </a:lnTo>
                <a:lnTo>
                  <a:pt x="5381659" y="4060707"/>
                </a:lnTo>
                <a:lnTo>
                  <a:pt x="0" y="4060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3031403" y="6736988"/>
            <a:ext cx="5581585" cy="4211560"/>
          </a:xfrm>
          <a:custGeom>
            <a:avLst/>
            <a:gdLst/>
            <a:ahLst/>
            <a:cxnLst/>
            <a:rect r="r" b="b" t="t" l="l"/>
            <a:pathLst>
              <a:path h="4211560" w="5581585">
                <a:moveTo>
                  <a:pt x="5581585" y="4211560"/>
                </a:moveTo>
                <a:lnTo>
                  <a:pt x="0" y="4211560"/>
                </a:lnTo>
                <a:lnTo>
                  <a:pt x="0" y="0"/>
                </a:lnTo>
                <a:lnTo>
                  <a:pt x="5581585" y="0"/>
                </a:lnTo>
                <a:lnTo>
                  <a:pt x="5581585" y="42115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262283" y="1127595"/>
            <a:ext cx="6802066" cy="1310944"/>
          </a:xfrm>
          <a:custGeom>
            <a:avLst/>
            <a:gdLst/>
            <a:ahLst/>
            <a:cxnLst/>
            <a:rect r="r" b="b" t="t" l="l"/>
            <a:pathLst>
              <a:path h="1310944" w="6802066">
                <a:moveTo>
                  <a:pt x="0" y="0"/>
                </a:moveTo>
                <a:lnTo>
                  <a:pt x="6802066" y="0"/>
                </a:lnTo>
                <a:lnTo>
                  <a:pt x="6802066" y="1310944"/>
                </a:lnTo>
                <a:lnTo>
                  <a:pt x="0" y="13109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3493371" y="3395937"/>
            <a:ext cx="11301259" cy="6356958"/>
          </a:xfrm>
          <a:custGeom>
            <a:avLst/>
            <a:gdLst/>
            <a:ahLst/>
            <a:cxnLst/>
            <a:rect r="r" b="b" t="t" l="l"/>
            <a:pathLst>
              <a:path h="6356958" w="11301259">
                <a:moveTo>
                  <a:pt x="0" y="0"/>
                </a:moveTo>
                <a:lnTo>
                  <a:pt x="11301258" y="0"/>
                </a:lnTo>
                <a:lnTo>
                  <a:pt x="11301258" y="6356958"/>
                </a:lnTo>
                <a:lnTo>
                  <a:pt x="0" y="6356958"/>
                </a:lnTo>
                <a:lnTo>
                  <a:pt x="0" y="0"/>
                </a:lnTo>
                <a:close/>
              </a:path>
            </a:pathLst>
          </a:custGeom>
          <a:blipFill>
            <a:blip r:embed="rId8"/>
            <a:stretch>
              <a:fillRect l="0" t="0" r="0" b="0"/>
            </a:stretch>
          </a:blipFill>
        </p:spPr>
      </p:sp>
      <p:sp>
        <p:nvSpPr>
          <p:cNvPr name="TextBox 9" id="9"/>
          <p:cNvSpPr txBox="true"/>
          <p:nvPr/>
        </p:nvSpPr>
        <p:spPr>
          <a:xfrm rot="0">
            <a:off x="5646784" y="1460804"/>
            <a:ext cx="4914903" cy="701698"/>
          </a:xfrm>
          <a:prstGeom prst="rect">
            <a:avLst/>
          </a:prstGeom>
        </p:spPr>
        <p:txBody>
          <a:bodyPr anchor="t" rtlCol="false" tIns="0" lIns="0" bIns="0" rIns="0">
            <a:spAutoFit/>
          </a:bodyPr>
          <a:lstStyle/>
          <a:p>
            <a:pPr algn="l">
              <a:lnSpc>
                <a:spcPts val="5350"/>
              </a:lnSpc>
            </a:pPr>
            <a:r>
              <a:rPr lang="en-US" sz="5000" b="true">
                <a:solidFill>
                  <a:srgbClr val="FCFEFF"/>
                </a:solidFill>
                <a:latin typeface="Aileron Bold"/>
                <a:ea typeface="Aileron Bold"/>
                <a:cs typeface="Aileron Bold"/>
                <a:sym typeface="Aileron Bold"/>
              </a:rPr>
              <a:t>Implementation</a:t>
            </a:r>
          </a:p>
        </p:txBody>
      </p:sp>
      <p:sp>
        <p:nvSpPr>
          <p:cNvPr name="TextBox 10" id="10"/>
          <p:cNvSpPr txBox="true"/>
          <p:nvPr/>
        </p:nvSpPr>
        <p:spPr>
          <a:xfrm rot="0">
            <a:off x="1018354" y="2683733"/>
            <a:ext cx="16240946" cy="606034"/>
          </a:xfrm>
          <a:prstGeom prst="rect">
            <a:avLst/>
          </a:prstGeom>
        </p:spPr>
        <p:txBody>
          <a:bodyPr anchor="t" rtlCol="false" tIns="0" lIns="0" bIns="0" rIns="0">
            <a:spAutoFit/>
          </a:bodyPr>
          <a:lstStyle/>
          <a:p>
            <a:pPr algn="l">
              <a:lnSpc>
                <a:spcPts val="4708"/>
              </a:lnSpc>
              <a:spcBef>
                <a:spcPct val="0"/>
              </a:spcBef>
            </a:pPr>
            <a:r>
              <a:rPr lang="en-US" b="true" sz="4400">
                <a:solidFill>
                  <a:srgbClr val="000000"/>
                </a:solidFill>
                <a:latin typeface="Montserrat Bold"/>
                <a:ea typeface="Montserrat Bold"/>
                <a:cs typeface="Montserrat Bold"/>
                <a:sym typeface="Montserrat Bold"/>
              </a:rPr>
              <a:t>Module 5: Progress Dashboard</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144000" y="1355173"/>
            <a:ext cx="10042068" cy="6664282"/>
          </a:xfrm>
          <a:custGeom>
            <a:avLst/>
            <a:gdLst/>
            <a:ahLst/>
            <a:cxnLst/>
            <a:rect r="r" b="b" t="t" l="l"/>
            <a:pathLst>
              <a:path h="6664282" w="10042068">
                <a:moveTo>
                  <a:pt x="0" y="6664282"/>
                </a:moveTo>
                <a:lnTo>
                  <a:pt x="10042068" y="6664282"/>
                </a:lnTo>
                <a:lnTo>
                  <a:pt x="10042068" y="0"/>
                </a:lnTo>
                <a:lnTo>
                  <a:pt x="0" y="0"/>
                </a:lnTo>
                <a:lnTo>
                  <a:pt x="0" y="6664282"/>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12766" y="2179650"/>
            <a:ext cx="10042068" cy="6664282"/>
          </a:xfrm>
          <a:custGeom>
            <a:avLst/>
            <a:gdLst/>
            <a:ahLst/>
            <a:cxnLst/>
            <a:rect r="r" b="b" t="t" l="l"/>
            <a:pathLst>
              <a:path h="6664282" w="10042068">
                <a:moveTo>
                  <a:pt x="10042068" y="0"/>
                </a:moveTo>
                <a:lnTo>
                  <a:pt x="0" y="0"/>
                </a:lnTo>
                <a:lnTo>
                  <a:pt x="0" y="6664282"/>
                </a:lnTo>
                <a:lnTo>
                  <a:pt x="10042068" y="6664282"/>
                </a:lnTo>
                <a:lnTo>
                  <a:pt x="10042068"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11278" y="4982792"/>
            <a:ext cx="4216232" cy="2798045"/>
          </a:xfrm>
          <a:custGeom>
            <a:avLst/>
            <a:gdLst/>
            <a:ahLst/>
            <a:cxnLst/>
            <a:rect r="r" b="b" t="t" l="l"/>
            <a:pathLst>
              <a:path h="2798045" w="4216232">
                <a:moveTo>
                  <a:pt x="0" y="0"/>
                </a:moveTo>
                <a:lnTo>
                  <a:pt x="4216232" y="0"/>
                </a:lnTo>
                <a:lnTo>
                  <a:pt x="4216232" y="2798045"/>
                </a:lnTo>
                <a:lnTo>
                  <a:pt x="0" y="2798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05789" y="-488243"/>
            <a:ext cx="5381659" cy="4060706"/>
          </a:xfrm>
          <a:custGeom>
            <a:avLst/>
            <a:gdLst/>
            <a:ahLst/>
            <a:cxnLst/>
            <a:rect r="r" b="b" t="t" l="l"/>
            <a:pathLst>
              <a:path h="4060706" w="5381659">
                <a:moveTo>
                  <a:pt x="0" y="0"/>
                </a:moveTo>
                <a:lnTo>
                  <a:pt x="5381659" y="0"/>
                </a:lnTo>
                <a:lnTo>
                  <a:pt x="5381659" y="4060707"/>
                </a:lnTo>
                <a:lnTo>
                  <a:pt x="0" y="4060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3031403" y="6736988"/>
            <a:ext cx="5581585" cy="4211560"/>
          </a:xfrm>
          <a:custGeom>
            <a:avLst/>
            <a:gdLst/>
            <a:ahLst/>
            <a:cxnLst/>
            <a:rect r="r" b="b" t="t" l="l"/>
            <a:pathLst>
              <a:path h="4211560" w="5581585">
                <a:moveTo>
                  <a:pt x="5581585" y="4211560"/>
                </a:moveTo>
                <a:lnTo>
                  <a:pt x="0" y="4211560"/>
                </a:lnTo>
                <a:lnTo>
                  <a:pt x="0" y="0"/>
                </a:lnTo>
                <a:lnTo>
                  <a:pt x="5581585" y="0"/>
                </a:lnTo>
                <a:lnTo>
                  <a:pt x="5581585" y="42115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262283" y="1127595"/>
            <a:ext cx="6802066" cy="1310944"/>
          </a:xfrm>
          <a:custGeom>
            <a:avLst/>
            <a:gdLst/>
            <a:ahLst/>
            <a:cxnLst/>
            <a:rect r="r" b="b" t="t" l="l"/>
            <a:pathLst>
              <a:path h="1310944" w="6802066">
                <a:moveTo>
                  <a:pt x="0" y="0"/>
                </a:moveTo>
                <a:lnTo>
                  <a:pt x="6802066" y="0"/>
                </a:lnTo>
                <a:lnTo>
                  <a:pt x="6802066" y="1310944"/>
                </a:lnTo>
                <a:lnTo>
                  <a:pt x="0" y="13109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Object 8" id="8"/>
          <p:cNvGraphicFramePr/>
          <p:nvPr/>
        </p:nvGraphicFramePr>
        <p:xfrm>
          <a:off x="1028700" y="3360736"/>
          <a:ext cx="5657850" cy="5657850"/>
        </p:xfrm>
        <a:graphic>
          <a:graphicData uri="http://schemas.openxmlformats.org/presentationml/2006/ole">
            <p:oleObj imgW="6781800" imgH="67818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sp>
        <p:nvSpPr>
          <p:cNvPr name="TextBox 9" id="9"/>
          <p:cNvSpPr txBox="true"/>
          <p:nvPr/>
        </p:nvSpPr>
        <p:spPr>
          <a:xfrm rot="0">
            <a:off x="5646784" y="1460804"/>
            <a:ext cx="4914903" cy="701698"/>
          </a:xfrm>
          <a:prstGeom prst="rect">
            <a:avLst/>
          </a:prstGeom>
        </p:spPr>
        <p:txBody>
          <a:bodyPr anchor="t" rtlCol="false" tIns="0" lIns="0" bIns="0" rIns="0">
            <a:spAutoFit/>
          </a:bodyPr>
          <a:lstStyle/>
          <a:p>
            <a:pPr algn="l">
              <a:lnSpc>
                <a:spcPts val="5350"/>
              </a:lnSpc>
            </a:pPr>
            <a:r>
              <a:rPr lang="en-US" sz="5000" b="true">
                <a:solidFill>
                  <a:srgbClr val="FCFEFF"/>
                </a:solidFill>
                <a:latin typeface="Aileron Bold"/>
                <a:ea typeface="Aileron Bold"/>
                <a:cs typeface="Aileron Bold"/>
                <a:sym typeface="Aileron Bold"/>
              </a:rPr>
              <a:t>Results </a:t>
            </a:r>
          </a:p>
        </p:txBody>
      </p:sp>
      <p:sp>
        <p:nvSpPr>
          <p:cNvPr name="TextBox 10" id="10"/>
          <p:cNvSpPr txBox="true"/>
          <p:nvPr/>
        </p:nvSpPr>
        <p:spPr>
          <a:xfrm rot="0">
            <a:off x="1018354" y="2564524"/>
            <a:ext cx="16240946" cy="606034"/>
          </a:xfrm>
          <a:prstGeom prst="rect">
            <a:avLst/>
          </a:prstGeom>
        </p:spPr>
        <p:txBody>
          <a:bodyPr anchor="t" rtlCol="false" tIns="0" lIns="0" bIns="0" rIns="0">
            <a:spAutoFit/>
          </a:bodyPr>
          <a:lstStyle/>
          <a:p>
            <a:pPr algn="l">
              <a:lnSpc>
                <a:spcPts val="4708"/>
              </a:lnSpc>
              <a:spcBef>
                <a:spcPct val="0"/>
              </a:spcBef>
            </a:pPr>
            <a:r>
              <a:rPr lang="en-US" b="true" sz="4400">
                <a:solidFill>
                  <a:srgbClr val="000000"/>
                </a:solidFill>
                <a:latin typeface="Montserrat Bold"/>
                <a:ea typeface="Montserrat Bold"/>
                <a:cs typeface="Montserrat Bold"/>
                <a:sym typeface="Montserrat Bold"/>
              </a:rPr>
              <a:t>Implementation Completion</a:t>
            </a:r>
          </a:p>
        </p:txBody>
      </p:sp>
      <p:sp>
        <p:nvSpPr>
          <p:cNvPr name="TextBox 11" id="11"/>
          <p:cNvSpPr txBox="true"/>
          <p:nvPr/>
        </p:nvSpPr>
        <p:spPr>
          <a:xfrm rot="0">
            <a:off x="1028700" y="8768590"/>
            <a:ext cx="12897670" cy="750320"/>
          </a:xfrm>
          <a:prstGeom prst="rect">
            <a:avLst/>
          </a:prstGeom>
        </p:spPr>
        <p:txBody>
          <a:bodyPr anchor="t" rtlCol="false" tIns="0" lIns="0" bIns="0" rIns="0">
            <a:spAutoFit/>
          </a:bodyPr>
          <a:lstStyle/>
          <a:p>
            <a:pPr algn="l">
              <a:lnSpc>
                <a:spcPts val="3102"/>
              </a:lnSpc>
              <a:spcBef>
                <a:spcPct val="0"/>
              </a:spcBef>
            </a:pPr>
            <a:r>
              <a:rPr lang="en-US" sz="2899">
                <a:solidFill>
                  <a:srgbClr val="000000"/>
                </a:solidFill>
                <a:latin typeface="Montserrat"/>
                <a:ea typeface="Montserrat"/>
                <a:cs typeface="Montserrat"/>
                <a:sym typeface="Montserrat"/>
              </a:rPr>
              <a:t>Integration Status: All modules fully i</a:t>
            </a:r>
            <a:r>
              <a:rPr lang="en-US" sz="2899">
                <a:solidFill>
                  <a:srgbClr val="000000"/>
                </a:solidFill>
                <a:latin typeface="Montserrat"/>
                <a:ea typeface="Montserrat"/>
                <a:cs typeface="Montserrat"/>
                <a:sym typeface="Montserrat"/>
              </a:rPr>
              <a:t>ntegrated into cohesive workflow</a:t>
            </a:r>
          </a:p>
          <a:p>
            <a:pPr algn="l">
              <a:lnSpc>
                <a:spcPts val="2782"/>
              </a:lnSpc>
              <a:spcBef>
                <a:spcPct val="0"/>
              </a:spcBef>
            </a:pPr>
            <a:r>
              <a:rPr lang="en-US" sz="2600">
                <a:solidFill>
                  <a:srgbClr val="000000"/>
                </a:solidFill>
                <a:latin typeface="Montserrat"/>
                <a:ea typeface="Montserrat"/>
                <a:cs typeface="Montserrat"/>
                <a:sym typeface="Montserrat"/>
              </a:rPr>
              <a:t>Deployment: Streamlit web application - ready for local/cloud deployment</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144000" y="1355173"/>
            <a:ext cx="10042068" cy="6664282"/>
          </a:xfrm>
          <a:custGeom>
            <a:avLst/>
            <a:gdLst/>
            <a:ahLst/>
            <a:cxnLst/>
            <a:rect r="r" b="b" t="t" l="l"/>
            <a:pathLst>
              <a:path h="6664282" w="10042068">
                <a:moveTo>
                  <a:pt x="0" y="6664282"/>
                </a:moveTo>
                <a:lnTo>
                  <a:pt x="10042068" y="6664282"/>
                </a:lnTo>
                <a:lnTo>
                  <a:pt x="10042068" y="0"/>
                </a:lnTo>
                <a:lnTo>
                  <a:pt x="0" y="0"/>
                </a:lnTo>
                <a:lnTo>
                  <a:pt x="0" y="6664282"/>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898068" y="2179650"/>
            <a:ext cx="10042068" cy="6664282"/>
          </a:xfrm>
          <a:custGeom>
            <a:avLst/>
            <a:gdLst/>
            <a:ahLst/>
            <a:cxnLst/>
            <a:rect r="r" b="b" t="t" l="l"/>
            <a:pathLst>
              <a:path h="6664282" w="10042068">
                <a:moveTo>
                  <a:pt x="10042068" y="0"/>
                </a:moveTo>
                <a:lnTo>
                  <a:pt x="0" y="0"/>
                </a:lnTo>
                <a:lnTo>
                  <a:pt x="0" y="6664282"/>
                </a:lnTo>
                <a:lnTo>
                  <a:pt x="10042068" y="6664282"/>
                </a:lnTo>
                <a:lnTo>
                  <a:pt x="10042068"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11278" y="4982792"/>
            <a:ext cx="4216232" cy="2798045"/>
          </a:xfrm>
          <a:custGeom>
            <a:avLst/>
            <a:gdLst/>
            <a:ahLst/>
            <a:cxnLst/>
            <a:rect r="r" b="b" t="t" l="l"/>
            <a:pathLst>
              <a:path h="2798045" w="4216232">
                <a:moveTo>
                  <a:pt x="0" y="0"/>
                </a:moveTo>
                <a:lnTo>
                  <a:pt x="4216232" y="0"/>
                </a:lnTo>
                <a:lnTo>
                  <a:pt x="4216232" y="2798045"/>
                </a:lnTo>
                <a:lnTo>
                  <a:pt x="0" y="2798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05789" y="-488243"/>
            <a:ext cx="5381659" cy="4060706"/>
          </a:xfrm>
          <a:custGeom>
            <a:avLst/>
            <a:gdLst/>
            <a:ahLst/>
            <a:cxnLst/>
            <a:rect r="r" b="b" t="t" l="l"/>
            <a:pathLst>
              <a:path h="4060706" w="5381659">
                <a:moveTo>
                  <a:pt x="0" y="0"/>
                </a:moveTo>
                <a:lnTo>
                  <a:pt x="5381659" y="0"/>
                </a:lnTo>
                <a:lnTo>
                  <a:pt x="5381659" y="4060707"/>
                </a:lnTo>
                <a:lnTo>
                  <a:pt x="0" y="4060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3031403" y="6736988"/>
            <a:ext cx="5581585" cy="4211560"/>
          </a:xfrm>
          <a:custGeom>
            <a:avLst/>
            <a:gdLst/>
            <a:ahLst/>
            <a:cxnLst/>
            <a:rect r="r" b="b" t="t" l="l"/>
            <a:pathLst>
              <a:path h="4211560" w="5581585">
                <a:moveTo>
                  <a:pt x="5581585" y="4211560"/>
                </a:moveTo>
                <a:lnTo>
                  <a:pt x="0" y="4211560"/>
                </a:lnTo>
                <a:lnTo>
                  <a:pt x="0" y="0"/>
                </a:lnTo>
                <a:lnTo>
                  <a:pt x="5581585" y="0"/>
                </a:lnTo>
                <a:lnTo>
                  <a:pt x="5581585" y="42115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262283" y="1127595"/>
            <a:ext cx="6802066" cy="1310944"/>
          </a:xfrm>
          <a:custGeom>
            <a:avLst/>
            <a:gdLst/>
            <a:ahLst/>
            <a:cxnLst/>
            <a:rect r="r" b="b" t="t" l="l"/>
            <a:pathLst>
              <a:path h="1310944" w="6802066">
                <a:moveTo>
                  <a:pt x="0" y="0"/>
                </a:moveTo>
                <a:lnTo>
                  <a:pt x="6802066" y="0"/>
                </a:lnTo>
                <a:lnTo>
                  <a:pt x="6802066" y="1310944"/>
                </a:lnTo>
                <a:lnTo>
                  <a:pt x="0" y="13109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Object 8" id="8"/>
          <p:cNvGraphicFramePr/>
          <p:nvPr/>
        </p:nvGraphicFramePr>
        <p:xfrm>
          <a:off x="1028700" y="4222388"/>
          <a:ext cx="5657850" cy="2514600"/>
        </p:xfrm>
        <a:graphic>
          <a:graphicData uri="http://schemas.openxmlformats.org/presentationml/2006/ole">
            <p:oleObj imgW="6781800" imgH="36449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graphicFrame>
        <p:nvGraphicFramePr>
          <p:cNvPr name="Object 9" id="9"/>
          <p:cNvGraphicFramePr/>
          <p:nvPr/>
        </p:nvGraphicFramePr>
        <p:xfrm>
          <a:off x="9138827" y="4254491"/>
          <a:ext cx="5657850" cy="2514600"/>
        </p:xfrm>
        <a:graphic>
          <a:graphicData uri="http://schemas.openxmlformats.org/presentationml/2006/ole">
            <p:oleObj imgW="6781800" imgH="3644900" r:id="rId11" progId="Excel.Sheet.12" name="Worksheet">
              <p:embed/>
              <p:pic>
                <p:nvPicPr>
                  <p:cNvPr name="" id="0"/>
                  <p:cNvPicPr/>
                  <p:nvPr/>
                </p:nvPicPr>
                <p:blipFill>
                  <a:blip r:embed="rId10"/>
                  <a:stretch>
                    <a:fillRect/>
                  </a:stretch>
                </p:blipFill>
                <p:spPr>
                  <a:xfrm>
                    <a:off x="1270000" y="1270000"/>
                    <a:ext cx="1270000" cy="1270000"/>
                  </a:xfrm>
                  <a:prstGeom prst="rect"/>
                </p:spPr>
              </p:pic>
            </p:oleObj>
          </a:graphicData>
        </a:graphic>
      </p:graphicFrame>
      <p:sp>
        <p:nvSpPr>
          <p:cNvPr name="TextBox 10" id="10"/>
          <p:cNvSpPr txBox="true"/>
          <p:nvPr/>
        </p:nvSpPr>
        <p:spPr>
          <a:xfrm rot="0">
            <a:off x="5646784" y="1460804"/>
            <a:ext cx="4914903" cy="701698"/>
          </a:xfrm>
          <a:prstGeom prst="rect">
            <a:avLst/>
          </a:prstGeom>
        </p:spPr>
        <p:txBody>
          <a:bodyPr anchor="t" rtlCol="false" tIns="0" lIns="0" bIns="0" rIns="0">
            <a:spAutoFit/>
          </a:bodyPr>
          <a:lstStyle/>
          <a:p>
            <a:pPr algn="l">
              <a:lnSpc>
                <a:spcPts val="5350"/>
              </a:lnSpc>
            </a:pPr>
            <a:r>
              <a:rPr lang="en-US" sz="5000" b="true">
                <a:solidFill>
                  <a:srgbClr val="FCFEFF"/>
                </a:solidFill>
                <a:latin typeface="Aileron Bold"/>
                <a:ea typeface="Aileron Bold"/>
                <a:cs typeface="Aileron Bold"/>
                <a:sym typeface="Aileron Bold"/>
              </a:rPr>
              <a:t>Results </a:t>
            </a:r>
          </a:p>
        </p:txBody>
      </p:sp>
      <p:sp>
        <p:nvSpPr>
          <p:cNvPr name="TextBox 11" id="11"/>
          <p:cNvSpPr txBox="true"/>
          <p:nvPr/>
        </p:nvSpPr>
        <p:spPr>
          <a:xfrm rot="0">
            <a:off x="1018354" y="2683733"/>
            <a:ext cx="16240946" cy="606034"/>
          </a:xfrm>
          <a:prstGeom prst="rect">
            <a:avLst/>
          </a:prstGeom>
        </p:spPr>
        <p:txBody>
          <a:bodyPr anchor="t" rtlCol="false" tIns="0" lIns="0" bIns="0" rIns="0">
            <a:spAutoFit/>
          </a:bodyPr>
          <a:lstStyle/>
          <a:p>
            <a:pPr algn="l">
              <a:lnSpc>
                <a:spcPts val="4708"/>
              </a:lnSpc>
              <a:spcBef>
                <a:spcPct val="0"/>
              </a:spcBef>
            </a:pPr>
            <a:r>
              <a:rPr lang="en-US" b="true" sz="4400">
                <a:solidFill>
                  <a:srgbClr val="000000"/>
                </a:solidFill>
                <a:latin typeface="Montserrat Bold"/>
                <a:ea typeface="Montserrat Bold"/>
                <a:cs typeface="Montserrat Bold"/>
                <a:sym typeface="Montserrat Bold"/>
              </a:rPr>
              <a:t>System Performance Analysis</a:t>
            </a:r>
          </a:p>
        </p:txBody>
      </p:sp>
      <p:sp>
        <p:nvSpPr>
          <p:cNvPr name="TextBox 12" id="12"/>
          <p:cNvSpPr txBox="true"/>
          <p:nvPr/>
        </p:nvSpPr>
        <p:spPr>
          <a:xfrm rot="0">
            <a:off x="1028700" y="3479979"/>
            <a:ext cx="8352562" cy="400326"/>
          </a:xfrm>
          <a:prstGeom prst="rect">
            <a:avLst/>
          </a:prstGeom>
        </p:spPr>
        <p:txBody>
          <a:bodyPr anchor="t" rtlCol="false" tIns="0" lIns="0" bIns="0" rIns="0">
            <a:spAutoFit/>
          </a:bodyPr>
          <a:lstStyle/>
          <a:p>
            <a:pPr algn="l">
              <a:lnSpc>
                <a:spcPts val="3102"/>
              </a:lnSpc>
              <a:spcBef>
                <a:spcPct val="0"/>
              </a:spcBef>
            </a:pPr>
            <a:r>
              <a:rPr lang="en-US" b="true" sz="2899">
                <a:solidFill>
                  <a:srgbClr val="000000"/>
                </a:solidFill>
                <a:latin typeface="Montserrat Bold"/>
                <a:ea typeface="Montserrat Bold"/>
                <a:cs typeface="Montserrat Bold"/>
                <a:sym typeface="Montserrat Bold"/>
              </a:rPr>
              <a:t>Transcription Accuracy (</a:t>
            </a:r>
            <a:r>
              <a:rPr lang="en-US" b="true" sz="2899">
                <a:solidFill>
                  <a:srgbClr val="000000"/>
                </a:solidFill>
                <a:latin typeface="Montserrat Bold"/>
                <a:ea typeface="Montserrat Bold"/>
                <a:cs typeface="Montserrat Bold"/>
                <a:sym typeface="Montserrat Bold"/>
              </a:rPr>
              <a:t>Whisper ASR)</a:t>
            </a:r>
          </a:p>
        </p:txBody>
      </p:sp>
      <p:sp>
        <p:nvSpPr>
          <p:cNvPr name="TextBox 13" id="13"/>
          <p:cNvSpPr txBox="true"/>
          <p:nvPr/>
        </p:nvSpPr>
        <p:spPr>
          <a:xfrm rot="0">
            <a:off x="9144000" y="3529552"/>
            <a:ext cx="8352562" cy="400326"/>
          </a:xfrm>
          <a:prstGeom prst="rect">
            <a:avLst/>
          </a:prstGeom>
        </p:spPr>
        <p:txBody>
          <a:bodyPr anchor="t" rtlCol="false" tIns="0" lIns="0" bIns="0" rIns="0">
            <a:spAutoFit/>
          </a:bodyPr>
          <a:lstStyle/>
          <a:p>
            <a:pPr algn="l">
              <a:lnSpc>
                <a:spcPts val="3102"/>
              </a:lnSpc>
              <a:spcBef>
                <a:spcPct val="0"/>
              </a:spcBef>
            </a:pPr>
            <a:r>
              <a:rPr lang="en-US" b="true" sz="2899">
                <a:solidFill>
                  <a:srgbClr val="000000"/>
                </a:solidFill>
                <a:latin typeface="Montserrat Bold"/>
                <a:ea typeface="Montserrat Bold"/>
                <a:cs typeface="Montserrat Bold"/>
                <a:sym typeface="Montserrat Bold"/>
              </a:rPr>
              <a:t>Error Detection Accuracy</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144000" y="1355173"/>
            <a:ext cx="10042068" cy="6664282"/>
          </a:xfrm>
          <a:custGeom>
            <a:avLst/>
            <a:gdLst/>
            <a:ahLst/>
            <a:cxnLst/>
            <a:rect r="r" b="b" t="t" l="l"/>
            <a:pathLst>
              <a:path h="6664282" w="10042068">
                <a:moveTo>
                  <a:pt x="0" y="6664282"/>
                </a:moveTo>
                <a:lnTo>
                  <a:pt x="10042068" y="6664282"/>
                </a:lnTo>
                <a:lnTo>
                  <a:pt x="10042068" y="0"/>
                </a:lnTo>
                <a:lnTo>
                  <a:pt x="0" y="0"/>
                </a:lnTo>
                <a:lnTo>
                  <a:pt x="0" y="6664282"/>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898068" y="2179650"/>
            <a:ext cx="10042068" cy="6664282"/>
          </a:xfrm>
          <a:custGeom>
            <a:avLst/>
            <a:gdLst/>
            <a:ahLst/>
            <a:cxnLst/>
            <a:rect r="r" b="b" t="t" l="l"/>
            <a:pathLst>
              <a:path h="6664282" w="10042068">
                <a:moveTo>
                  <a:pt x="10042068" y="0"/>
                </a:moveTo>
                <a:lnTo>
                  <a:pt x="0" y="0"/>
                </a:lnTo>
                <a:lnTo>
                  <a:pt x="0" y="6664282"/>
                </a:lnTo>
                <a:lnTo>
                  <a:pt x="10042068" y="6664282"/>
                </a:lnTo>
                <a:lnTo>
                  <a:pt x="10042068"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11278" y="4982792"/>
            <a:ext cx="4216232" cy="2798045"/>
          </a:xfrm>
          <a:custGeom>
            <a:avLst/>
            <a:gdLst/>
            <a:ahLst/>
            <a:cxnLst/>
            <a:rect r="r" b="b" t="t" l="l"/>
            <a:pathLst>
              <a:path h="2798045" w="4216232">
                <a:moveTo>
                  <a:pt x="0" y="0"/>
                </a:moveTo>
                <a:lnTo>
                  <a:pt x="4216232" y="0"/>
                </a:lnTo>
                <a:lnTo>
                  <a:pt x="4216232" y="2798045"/>
                </a:lnTo>
                <a:lnTo>
                  <a:pt x="0" y="2798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05789" y="-488243"/>
            <a:ext cx="5381659" cy="4060706"/>
          </a:xfrm>
          <a:custGeom>
            <a:avLst/>
            <a:gdLst/>
            <a:ahLst/>
            <a:cxnLst/>
            <a:rect r="r" b="b" t="t" l="l"/>
            <a:pathLst>
              <a:path h="4060706" w="5381659">
                <a:moveTo>
                  <a:pt x="0" y="0"/>
                </a:moveTo>
                <a:lnTo>
                  <a:pt x="5381659" y="0"/>
                </a:lnTo>
                <a:lnTo>
                  <a:pt x="5381659" y="4060707"/>
                </a:lnTo>
                <a:lnTo>
                  <a:pt x="0" y="4060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3031403" y="6736988"/>
            <a:ext cx="5581585" cy="4211560"/>
          </a:xfrm>
          <a:custGeom>
            <a:avLst/>
            <a:gdLst/>
            <a:ahLst/>
            <a:cxnLst/>
            <a:rect r="r" b="b" t="t" l="l"/>
            <a:pathLst>
              <a:path h="4211560" w="5581585">
                <a:moveTo>
                  <a:pt x="5581585" y="4211560"/>
                </a:moveTo>
                <a:lnTo>
                  <a:pt x="0" y="4211560"/>
                </a:lnTo>
                <a:lnTo>
                  <a:pt x="0" y="0"/>
                </a:lnTo>
                <a:lnTo>
                  <a:pt x="5581585" y="0"/>
                </a:lnTo>
                <a:lnTo>
                  <a:pt x="5581585" y="42115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262283" y="1127595"/>
            <a:ext cx="6742010" cy="1299369"/>
          </a:xfrm>
          <a:custGeom>
            <a:avLst/>
            <a:gdLst/>
            <a:ahLst/>
            <a:cxnLst/>
            <a:rect r="r" b="b" t="t" l="l"/>
            <a:pathLst>
              <a:path h="1299369" w="6742010">
                <a:moveTo>
                  <a:pt x="0" y="0"/>
                </a:moveTo>
                <a:lnTo>
                  <a:pt x="6742010" y="0"/>
                </a:lnTo>
                <a:lnTo>
                  <a:pt x="6742010" y="1299369"/>
                </a:lnTo>
                <a:lnTo>
                  <a:pt x="0" y="12993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Object 8" id="8"/>
          <p:cNvGraphicFramePr/>
          <p:nvPr/>
        </p:nvGraphicFramePr>
        <p:xfrm>
          <a:off x="1119949" y="3700786"/>
          <a:ext cx="5657850" cy="3143250"/>
        </p:xfrm>
        <a:graphic>
          <a:graphicData uri="http://schemas.openxmlformats.org/presentationml/2006/ole">
            <p:oleObj imgW="6781800" imgH="42672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sp>
        <p:nvSpPr>
          <p:cNvPr name="TextBox 9" id="9"/>
          <p:cNvSpPr txBox="true"/>
          <p:nvPr/>
        </p:nvSpPr>
        <p:spPr>
          <a:xfrm rot="0">
            <a:off x="5646784" y="1460804"/>
            <a:ext cx="4914903" cy="701698"/>
          </a:xfrm>
          <a:prstGeom prst="rect">
            <a:avLst/>
          </a:prstGeom>
        </p:spPr>
        <p:txBody>
          <a:bodyPr anchor="t" rtlCol="false" tIns="0" lIns="0" bIns="0" rIns="0">
            <a:spAutoFit/>
          </a:bodyPr>
          <a:lstStyle/>
          <a:p>
            <a:pPr algn="l">
              <a:lnSpc>
                <a:spcPts val="5350"/>
              </a:lnSpc>
            </a:pPr>
            <a:r>
              <a:rPr lang="en-US" sz="5000" b="true">
                <a:solidFill>
                  <a:srgbClr val="FCFEFF"/>
                </a:solidFill>
                <a:latin typeface="Aileron Bold"/>
                <a:ea typeface="Aileron Bold"/>
                <a:cs typeface="Aileron Bold"/>
                <a:sym typeface="Aileron Bold"/>
              </a:rPr>
              <a:t>Results </a:t>
            </a:r>
          </a:p>
        </p:txBody>
      </p:sp>
      <p:sp>
        <p:nvSpPr>
          <p:cNvPr name="TextBox 10" id="10"/>
          <p:cNvSpPr txBox="true"/>
          <p:nvPr/>
        </p:nvSpPr>
        <p:spPr>
          <a:xfrm rot="0">
            <a:off x="1032994" y="2998288"/>
            <a:ext cx="6179944" cy="432103"/>
          </a:xfrm>
          <a:prstGeom prst="rect">
            <a:avLst/>
          </a:prstGeom>
        </p:spPr>
        <p:txBody>
          <a:bodyPr anchor="t" rtlCol="false" tIns="0" lIns="0" bIns="0" rIns="0">
            <a:spAutoFit/>
          </a:bodyPr>
          <a:lstStyle/>
          <a:p>
            <a:pPr algn="l">
              <a:lnSpc>
                <a:spcPts val="3317"/>
              </a:lnSpc>
              <a:spcBef>
                <a:spcPct val="0"/>
              </a:spcBef>
            </a:pPr>
            <a:r>
              <a:rPr lang="en-US" b="true" sz="3100">
                <a:solidFill>
                  <a:srgbClr val="000000"/>
                </a:solidFill>
                <a:latin typeface="Aileron Bold"/>
                <a:ea typeface="Aileron Bold"/>
                <a:cs typeface="Aileron Bold"/>
                <a:sym typeface="Aileron Bold"/>
              </a:rPr>
              <a:t>St</a:t>
            </a:r>
            <a:r>
              <a:rPr lang="en-US" b="true" sz="3100">
                <a:solidFill>
                  <a:srgbClr val="000000"/>
                </a:solidFill>
                <a:latin typeface="Aileron Bold"/>
                <a:ea typeface="Aileron Bold"/>
                <a:cs typeface="Aileron Bold"/>
                <a:sym typeface="Aileron Bold"/>
              </a:rPr>
              <a:t>ory Generation Quality</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144000" y="1355173"/>
            <a:ext cx="10042068" cy="6664282"/>
          </a:xfrm>
          <a:custGeom>
            <a:avLst/>
            <a:gdLst/>
            <a:ahLst/>
            <a:cxnLst/>
            <a:rect r="r" b="b" t="t" l="l"/>
            <a:pathLst>
              <a:path h="6664282" w="10042068">
                <a:moveTo>
                  <a:pt x="0" y="6664282"/>
                </a:moveTo>
                <a:lnTo>
                  <a:pt x="10042068" y="6664282"/>
                </a:lnTo>
                <a:lnTo>
                  <a:pt x="10042068" y="0"/>
                </a:lnTo>
                <a:lnTo>
                  <a:pt x="0" y="0"/>
                </a:lnTo>
                <a:lnTo>
                  <a:pt x="0" y="6664282"/>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898068" y="2179650"/>
            <a:ext cx="10042068" cy="6664282"/>
          </a:xfrm>
          <a:custGeom>
            <a:avLst/>
            <a:gdLst/>
            <a:ahLst/>
            <a:cxnLst/>
            <a:rect r="r" b="b" t="t" l="l"/>
            <a:pathLst>
              <a:path h="6664282" w="10042068">
                <a:moveTo>
                  <a:pt x="10042068" y="0"/>
                </a:moveTo>
                <a:lnTo>
                  <a:pt x="0" y="0"/>
                </a:lnTo>
                <a:lnTo>
                  <a:pt x="0" y="6664282"/>
                </a:lnTo>
                <a:lnTo>
                  <a:pt x="10042068" y="6664282"/>
                </a:lnTo>
                <a:lnTo>
                  <a:pt x="10042068"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11278" y="4982792"/>
            <a:ext cx="4216232" cy="2798045"/>
          </a:xfrm>
          <a:custGeom>
            <a:avLst/>
            <a:gdLst/>
            <a:ahLst/>
            <a:cxnLst/>
            <a:rect r="r" b="b" t="t" l="l"/>
            <a:pathLst>
              <a:path h="2798045" w="4216232">
                <a:moveTo>
                  <a:pt x="0" y="0"/>
                </a:moveTo>
                <a:lnTo>
                  <a:pt x="4216232" y="0"/>
                </a:lnTo>
                <a:lnTo>
                  <a:pt x="4216232" y="2798045"/>
                </a:lnTo>
                <a:lnTo>
                  <a:pt x="0" y="2798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05789" y="-488243"/>
            <a:ext cx="5381659" cy="4060706"/>
          </a:xfrm>
          <a:custGeom>
            <a:avLst/>
            <a:gdLst/>
            <a:ahLst/>
            <a:cxnLst/>
            <a:rect r="r" b="b" t="t" l="l"/>
            <a:pathLst>
              <a:path h="4060706" w="5381659">
                <a:moveTo>
                  <a:pt x="0" y="0"/>
                </a:moveTo>
                <a:lnTo>
                  <a:pt x="5381659" y="0"/>
                </a:lnTo>
                <a:lnTo>
                  <a:pt x="5381659" y="4060707"/>
                </a:lnTo>
                <a:lnTo>
                  <a:pt x="0" y="4060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3031403" y="6736988"/>
            <a:ext cx="5581585" cy="4211560"/>
          </a:xfrm>
          <a:custGeom>
            <a:avLst/>
            <a:gdLst/>
            <a:ahLst/>
            <a:cxnLst/>
            <a:rect r="r" b="b" t="t" l="l"/>
            <a:pathLst>
              <a:path h="4211560" w="5581585">
                <a:moveTo>
                  <a:pt x="5581585" y="4211560"/>
                </a:moveTo>
                <a:lnTo>
                  <a:pt x="0" y="4211560"/>
                </a:lnTo>
                <a:lnTo>
                  <a:pt x="0" y="0"/>
                </a:lnTo>
                <a:lnTo>
                  <a:pt x="5581585" y="0"/>
                </a:lnTo>
                <a:lnTo>
                  <a:pt x="5581585" y="42115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262283" y="1127595"/>
            <a:ext cx="6802066" cy="1310944"/>
          </a:xfrm>
          <a:custGeom>
            <a:avLst/>
            <a:gdLst/>
            <a:ahLst/>
            <a:cxnLst/>
            <a:rect r="r" b="b" t="t" l="l"/>
            <a:pathLst>
              <a:path h="1310944" w="6802066">
                <a:moveTo>
                  <a:pt x="0" y="0"/>
                </a:moveTo>
                <a:lnTo>
                  <a:pt x="6802066" y="0"/>
                </a:lnTo>
                <a:lnTo>
                  <a:pt x="6802066" y="1310944"/>
                </a:lnTo>
                <a:lnTo>
                  <a:pt x="0" y="13109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Object 8" id="8"/>
          <p:cNvGraphicFramePr/>
          <p:nvPr/>
        </p:nvGraphicFramePr>
        <p:xfrm>
          <a:off x="1054298" y="4708710"/>
          <a:ext cx="11315700" cy="3143250"/>
        </p:xfrm>
        <a:graphic>
          <a:graphicData uri="http://schemas.openxmlformats.org/presentationml/2006/ole">
            <p:oleObj imgW="13576300" imgH="54102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sp>
        <p:nvSpPr>
          <p:cNvPr name="TextBox 9" id="9"/>
          <p:cNvSpPr txBox="true"/>
          <p:nvPr/>
        </p:nvSpPr>
        <p:spPr>
          <a:xfrm rot="0">
            <a:off x="5646784" y="1460804"/>
            <a:ext cx="4914903" cy="701698"/>
          </a:xfrm>
          <a:prstGeom prst="rect">
            <a:avLst/>
          </a:prstGeom>
        </p:spPr>
        <p:txBody>
          <a:bodyPr anchor="t" rtlCol="false" tIns="0" lIns="0" bIns="0" rIns="0">
            <a:spAutoFit/>
          </a:bodyPr>
          <a:lstStyle/>
          <a:p>
            <a:pPr algn="l">
              <a:lnSpc>
                <a:spcPts val="5350"/>
              </a:lnSpc>
            </a:pPr>
            <a:r>
              <a:rPr lang="en-US" sz="5000" b="true">
                <a:solidFill>
                  <a:srgbClr val="FCFEFF"/>
                </a:solidFill>
                <a:latin typeface="Aileron Bold"/>
                <a:ea typeface="Aileron Bold"/>
                <a:cs typeface="Aileron Bold"/>
                <a:sym typeface="Aileron Bold"/>
              </a:rPr>
              <a:t>Results </a:t>
            </a:r>
          </a:p>
        </p:txBody>
      </p:sp>
      <p:sp>
        <p:nvSpPr>
          <p:cNvPr name="TextBox 10" id="10"/>
          <p:cNvSpPr txBox="true"/>
          <p:nvPr/>
        </p:nvSpPr>
        <p:spPr>
          <a:xfrm rot="0">
            <a:off x="1018354" y="2683733"/>
            <a:ext cx="16240946" cy="606034"/>
          </a:xfrm>
          <a:prstGeom prst="rect">
            <a:avLst/>
          </a:prstGeom>
        </p:spPr>
        <p:txBody>
          <a:bodyPr anchor="t" rtlCol="false" tIns="0" lIns="0" bIns="0" rIns="0">
            <a:spAutoFit/>
          </a:bodyPr>
          <a:lstStyle/>
          <a:p>
            <a:pPr algn="l">
              <a:lnSpc>
                <a:spcPts val="4708"/>
              </a:lnSpc>
              <a:spcBef>
                <a:spcPct val="0"/>
              </a:spcBef>
            </a:pPr>
            <a:r>
              <a:rPr lang="en-US" b="true" sz="4400">
                <a:solidFill>
                  <a:srgbClr val="000000"/>
                </a:solidFill>
                <a:latin typeface="Montserrat Bold"/>
                <a:ea typeface="Montserrat Bold"/>
                <a:cs typeface="Montserrat Bold"/>
                <a:sym typeface="Montserrat Bold"/>
              </a:rPr>
              <a:t>Pilot Study Outcomes</a:t>
            </a:r>
          </a:p>
        </p:txBody>
      </p:sp>
      <p:sp>
        <p:nvSpPr>
          <p:cNvPr name="TextBox 11" id="11"/>
          <p:cNvSpPr txBox="true"/>
          <p:nvPr/>
        </p:nvSpPr>
        <p:spPr>
          <a:xfrm rot="0">
            <a:off x="1018354" y="4117884"/>
            <a:ext cx="9203377" cy="400326"/>
          </a:xfrm>
          <a:prstGeom prst="rect">
            <a:avLst/>
          </a:prstGeom>
        </p:spPr>
        <p:txBody>
          <a:bodyPr anchor="t" rtlCol="false" tIns="0" lIns="0" bIns="0" rIns="0">
            <a:spAutoFit/>
          </a:bodyPr>
          <a:lstStyle/>
          <a:p>
            <a:pPr algn="l">
              <a:lnSpc>
                <a:spcPts val="3102"/>
              </a:lnSpc>
              <a:spcBef>
                <a:spcPct val="0"/>
              </a:spcBef>
            </a:pPr>
            <a:r>
              <a:rPr lang="en-US" b="true" sz="2899">
                <a:solidFill>
                  <a:srgbClr val="000000"/>
                </a:solidFill>
                <a:latin typeface="Montserrat Bold"/>
                <a:ea typeface="Montserrat Bold"/>
                <a:cs typeface="Montserrat Bold"/>
                <a:sym typeface="Montserrat Bold"/>
              </a:rPr>
              <a:t>Child 1 (Age 4, Female) - Progress Trajectory</a:t>
            </a:r>
          </a:p>
        </p:txBody>
      </p:sp>
      <p:sp>
        <p:nvSpPr>
          <p:cNvPr name="TextBox 12" id="12"/>
          <p:cNvSpPr txBox="true"/>
          <p:nvPr/>
        </p:nvSpPr>
        <p:spPr>
          <a:xfrm rot="0">
            <a:off x="1018354" y="3330816"/>
            <a:ext cx="16240946" cy="282242"/>
          </a:xfrm>
          <a:prstGeom prst="rect">
            <a:avLst/>
          </a:prstGeom>
        </p:spPr>
        <p:txBody>
          <a:bodyPr anchor="t" rtlCol="false" tIns="0" lIns="0" bIns="0" rIns="0">
            <a:spAutoFit/>
          </a:bodyPr>
          <a:lstStyle/>
          <a:p>
            <a:pPr algn="l">
              <a:lnSpc>
                <a:spcPts val="2247"/>
              </a:lnSpc>
              <a:spcBef>
                <a:spcPct val="0"/>
              </a:spcBef>
            </a:pPr>
            <a:r>
              <a:rPr lang="en-US" sz="2100">
                <a:solidFill>
                  <a:srgbClr val="7D879E"/>
                </a:solidFill>
                <a:latin typeface="Montserrat"/>
                <a:ea typeface="Montserrat"/>
                <a:cs typeface="Montserrat"/>
                <a:sym typeface="Montserrat"/>
              </a:rPr>
              <a:t>Participant Performance Data (1-Week Study)</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144000" y="1355173"/>
            <a:ext cx="10042068" cy="6664282"/>
          </a:xfrm>
          <a:custGeom>
            <a:avLst/>
            <a:gdLst/>
            <a:ahLst/>
            <a:cxnLst/>
            <a:rect r="r" b="b" t="t" l="l"/>
            <a:pathLst>
              <a:path h="6664282" w="10042068">
                <a:moveTo>
                  <a:pt x="0" y="6664282"/>
                </a:moveTo>
                <a:lnTo>
                  <a:pt x="10042068" y="6664282"/>
                </a:lnTo>
                <a:lnTo>
                  <a:pt x="10042068" y="0"/>
                </a:lnTo>
                <a:lnTo>
                  <a:pt x="0" y="0"/>
                </a:lnTo>
                <a:lnTo>
                  <a:pt x="0" y="6664282"/>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898068" y="2179650"/>
            <a:ext cx="10042068" cy="6664282"/>
          </a:xfrm>
          <a:custGeom>
            <a:avLst/>
            <a:gdLst/>
            <a:ahLst/>
            <a:cxnLst/>
            <a:rect r="r" b="b" t="t" l="l"/>
            <a:pathLst>
              <a:path h="6664282" w="10042068">
                <a:moveTo>
                  <a:pt x="10042068" y="0"/>
                </a:moveTo>
                <a:lnTo>
                  <a:pt x="0" y="0"/>
                </a:lnTo>
                <a:lnTo>
                  <a:pt x="0" y="6664282"/>
                </a:lnTo>
                <a:lnTo>
                  <a:pt x="10042068" y="6664282"/>
                </a:lnTo>
                <a:lnTo>
                  <a:pt x="10042068"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11278" y="4982792"/>
            <a:ext cx="4216232" cy="2798045"/>
          </a:xfrm>
          <a:custGeom>
            <a:avLst/>
            <a:gdLst/>
            <a:ahLst/>
            <a:cxnLst/>
            <a:rect r="r" b="b" t="t" l="l"/>
            <a:pathLst>
              <a:path h="2798045" w="4216232">
                <a:moveTo>
                  <a:pt x="0" y="0"/>
                </a:moveTo>
                <a:lnTo>
                  <a:pt x="4216232" y="0"/>
                </a:lnTo>
                <a:lnTo>
                  <a:pt x="4216232" y="2798045"/>
                </a:lnTo>
                <a:lnTo>
                  <a:pt x="0" y="2798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05789" y="-488243"/>
            <a:ext cx="5381659" cy="4060706"/>
          </a:xfrm>
          <a:custGeom>
            <a:avLst/>
            <a:gdLst/>
            <a:ahLst/>
            <a:cxnLst/>
            <a:rect r="r" b="b" t="t" l="l"/>
            <a:pathLst>
              <a:path h="4060706" w="5381659">
                <a:moveTo>
                  <a:pt x="0" y="0"/>
                </a:moveTo>
                <a:lnTo>
                  <a:pt x="5381659" y="0"/>
                </a:lnTo>
                <a:lnTo>
                  <a:pt x="5381659" y="4060707"/>
                </a:lnTo>
                <a:lnTo>
                  <a:pt x="0" y="4060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3031403" y="6736988"/>
            <a:ext cx="5581585" cy="4211560"/>
          </a:xfrm>
          <a:custGeom>
            <a:avLst/>
            <a:gdLst/>
            <a:ahLst/>
            <a:cxnLst/>
            <a:rect r="r" b="b" t="t" l="l"/>
            <a:pathLst>
              <a:path h="4211560" w="5581585">
                <a:moveTo>
                  <a:pt x="5581585" y="4211560"/>
                </a:moveTo>
                <a:lnTo>
                  <a:pt x="0" y="4211560"/>
                </a:lnTo>
                <a:lnTo>
                  <a:pt x="0" y="0"/>
                </a:lnTo>
                <a:lnTo>
                  <a:pt x="5581585" y="0"/>
                </a:lnTo>
                <a:lnTo>
                  <a:pt x="5581585" y="42115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262283" y="1127595"/>
            <a:ext cx="6802066" cy="1310944"/>
          </a:xfrm>
          <a:custGeom>
            <a:avLst/>
            <a:gdLst/>
            <a:ahLst/>
            <a:cxnLst/>
            <a:rect r="r" b="b" t="t" l="l"/>
            <a:pathLst>
              <a:path h="1310944" w="6802066">
                <a:moveTo>
                  <a:pt x="0" y="0"/>
                </a:moveTo>
                <a:lnTo>
                  <a:pt x="6802066" y="0"/>
                </a:lnTo>
                <a:lnTo>
                  <a:pt x="6802066" y="1310944"/>
                </a:lnTo>
                <a:lnTo>
                  <a:pt x="0" y="13109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Object 8" id="8"/>
          <p:cNvGraphicFramePr/>
          <p:nvPr/>
        </p:nvGraphicFramePr>
        <p:xfrm>
          <a:off x="1028700" y="4637587"/>
          <a:ext cx="11315700" cy="3143250"/>
        </p:xfrm>
        <a:graphic>
          <a:graphicData uri="http://schemas.openxmlformats.org/presentationml/2006/ole">
            <p:oleObj imgW="13576300" imgH="54102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sp>
        <p:nvSpPr>
          <p:cNvPr name="TextBox 9" id="9"/>
          <p:cNvSpPr txBox="true"/>
          <p:nvPr/>
        </p:nvSpPr>
        <p:spPr>
          <a:xfrm rot="0">
            <a:off x="5646784" y="1460804"/>
            <a:ext cx="4914903" cy="701698"/>
          </a:xfrm>
          <a:prstGeom prst="rect">
            <a:avLst/>
          </a:prstGeom>
        </p:spPr>
        <p:txBody>
          <a:bodyPr anchor="t" rtlCol="false" tIns="0" lIns="0" bIns="0" rIns="0">
            <a:spAutoFit/>
          </a:bodyPr>
          <a:lstStyle/>
          <a:p>
            <a:pPr algn="l">
              <a:lnSpc>
                <a:spcPts val="5350"/>
              </a:lnSpc>
            </a:pPr>
            <a:r>
              <a:rPr lang="en-US" sz="5000" b="true">
                <a:solidFill>
                  <a:srgbClr val="FCFEFF"/>
                </a:solidFill>
                <a:latin typeface="Aileron Bold"/>
                <a:ea typeface="Aileron Bold"/>
                <a:cs typeface="Aileron Bold"/>
                <a:sym typeface="Aileron Bold"/>
              </a:rPr>
              <a:t>Results </a:t>
            </a:r>
          </a:p>
        </p:txBody>
      </p:sp>
      <p:sp>
        <p:nvSpPr>
          <p:cNvPr name="TextBox 10" id="10"/>
          <p:cNvSpPr txBox="true"/>
          <p:nvPr/>
        </p:nvSpPr>
        <p:spPr>
          <a:xfrm rot="0">
            <a:off x="1018354" y="2683733"/>
            <a:ext cx="16240946" cy="606034"/>
          </a:xfrm>
          <a:prstGeom prst="rect">
            <a:avLst/>
          </a:prstGeom>
        </p:spPr>
        <p:txBody>
          <a:bodyPr anchor="t" rtlCol="false" tIns="0" lIns="0" bIns="0" rIns="0">
            <a:spAutoFit/>
          </a:bodyPr>
          <a:lstStyle/>
          <a:p>
            <a:pPr algn="l">
              <a:lnSpc>
                <a:spcPts val="4708"/>
              </a:lnSpc>
              <a:spcBef>
                <a:spcPct val="0"/>
              </a:spcBef>
            </a:pPr>
            <a:r>
              <a:rPr lang="en-US" b="true" sz="4400">
                <a:solidFill>
                  <a:srgbClr val="000000"/>
                </a:solidFill>
                <a:latin typeface="Montserrat Bold"/>
                <a:ea typeface="Montserrat Bold"/>
                <a:cs typeface="Montserrat Bold"/>
                <a:sym typeface="Montserrat Bold"/>
              </a:rPr>
              <a:t>Pilot Study Outcomes</a:t>
            </a:r>
          </a:p>
        </p:txBody>
      </p:sp>
      <p:sp>
        <p:nvSpPr>
          <p:cNvPr name="TextBox 11" id="11"/>
          <p:cNvSpPr txBox="true"/>
          <p:nvPr/>
        </p:nvSpPr>
        <p:spPr>
          <a:xfrm rot="0">
            <a:off x="1018354" y="4117884"/>
            <a:ext cx="9203377" cy="400326"/>
          </a:xfrm>
          <a:prstGeom prst="rect">
            <a:avLst/>
          </a:prstGeom>
        </p:spPr>
        <p:txBody>
          <a:bodyPr anchor="t" rtlCol="false" tIns="0" lIns="0" bIns="0" rIns="0">
            <a:spAutoFit/>
          </a:bodyPr>
          <a:lstStyle/>
          <a:p>
            <a:pPr algn="l">
              <a:lnSpc>
                <a:spcPts val="3102"/>
              </a:lnSpc>
              <a:spcBef>
                <a:spcPct val="0"/>
              </a:spcBef>
            </a:pPr>
            <a:r>
              <a:rPr lang="en-US" b="true" sz="2899">
                <a:solidFill>
                  <a:srgbClr val="000000"/>
                </a:solidFill>
                <a:latin typeface="Montserrat Bold"/>
                <a:ea typeface="Montserrat Bold"/>
                <a:cs typeface="Montserrat Bold"/>
                <a:sym typeface="Montserrat Bold"/>
              </a:rPr>
              <a:t>Child 2 (Age 6, Female) - Progress Trajectory</a:t>
            </a:r>
          </a:p>
        </p:txBody>
      </p:sp>
      <p:sp>
        <p:nvSpPr>
          <p:cNvPr name="TextBox 12" id="12"/>
          <p:cNvSpPr txBox="true"/>
          <p:nvPr/>
        </p:nvSpPr>
        <p:spPr>
          <a:xfrm rot="0">
            <a:off x="1018354" y="3330816"/>
            <a:ext cx="16240946" cy="282242"/>
          </a:xfrm>
          <a:prstGeom prst="rect">
            <a:avLst/>
          </a:prstGeom>
        </p:spPr>
        <p:txBody>
          <a:bodyPr anchor="t" rtlCol="false" tIns="0" lIns="0" bIns="0" rIns="0">
            <a:spAutoFit/>
          </a:bodyPr>
          <a:lstStyle/>
          <a:p>
            <a:pPr algn="l">
              <a:lnSpc>
                <a:spcPts val="2247"/>
              </a:lnSpc>
              <a:spcBef>
                <a:spcPct val="0"/>
              </a:spcBef>
            </a:pPr>
            <a:r>
              <a:rPr lang="en-US" sz="2100">
                <a:solidFill>
                  <a:srgbClr val="7D879E"/>
                </a:solidFill>
                <a:latin typeface="Montserrat"/>
                <a:ea typeface="Montserrat"/>
                <a:cs typeface="Montserrat"/>
                <a:sym typeface="Montserrat"/>
              </a:rPr>
              <a:t>Participant Performance Data (1-Week Study)</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144000" y="1355173"/>
            <a:ext cx="10042068" cy="6664282"/>
          </a:xfrm>
          <a:custGeom>
            <a:avLst/>
            <a:gdLst/>
            <a:ahLst/>
            <a:cxnLst/>
            <a:rect r="r" b="b" t="t" l="l"/>
            <a:pathLst>
              <a:path h="6664282" w="10042068">
                <a:moveTo>
                  <a:pt x="0" y="6664282"/>
                </a:moveTo>
                <a:lnTo>
                  <a:pt x="10042068" y="6664282"/>
                </a:lnTo>
                <a:lnTo>
                  <a:pt x="10042068" y="0"/>
                </a:lnTo>
                <a:lnTo>
                  <a:pt x="0" y="0"/>
                </a:lnTo>
                <a:lnTo>
                  <a:pt x="0" y="6664282"/>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898068" y="2179650"/>
            <a:ext cx="10042068" cy="6664282"/>
          </a:xfrm>
          <a:custGeom>
            <a:avLst/>
            <a:gdLst/>
            <a:ahLst/>
            <a:cxnLst/>
            <a:rect r="r" b="b" t="t" l="l"/>
            <a:pathLst>
              <a:path h="6664282" w="10042068">
                <a:moveTo>
                  <a:pt x="10042068" y="0"/>
                </a:moveTo>
                <a:lnTo>
                  <a:pt x="0" y="0"/>
                </a:lnTo>
                <a:lnTo>
                  <a:pt x="0" y="6664282"/>
                </a:lnTo>
                <a:lnTo>
                  <a:pt x="10042068" y="6664282"/>
                </a:lnTo>
                <a:lnTo>
                  <a:pt x="10042068"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11278" y="4982792"/>
            <a:ext cx="4216232" cy="2798045"/>
          </a:xfrm>
          <a:custGeom>
            <a:avLst/>
            <a:gdLst/>
            <a:ahLst/>
            <a:cxnLst/>
            <a:rect r="r" b="b" t="t" l="l"/>
            <a:pathLst>
              <a:path h="2798045" w="4216232">
                <a:moveTo>
                  <a:pt x="0" y="0"/>
                </a:moveTo>
                <a:lnTo>
                  <a:pt x="4216232" y="0"/>
                </a:lnTo>
                <a:lnTo>
                  <a:pt x="4216232" y="2798045"/>
                </a:lnTo>
                <a:lnTo>
                  <a:pt x="0" y="2798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05789" y="-488243"/>
            <a:ext cx="5381659" cy="4060706"/>
          </a:xfrm>
          <a:custGeom>
            <a:avLst/>
            <a:gdLst/>
            <a:ahLst/>
            <a:cxnLst/>
            <a:rect r="r" b="b" t="t" l="l"/>
            <a:pathLst>
              <a:path h="4060706" w="5381659">
                <a:moveTo>
                  <a:pt x="0" y="0"/>
                </a:moveTo>
                <a:lnTo>
                  <a:pt x="5381659" y="0"/>
                </a:lnTo>
                <a:lnTo>
                  <a:pt x="5381659" y="4060707"/>
                </a:lnTo>
                <a:lnTo>
                  <a:pt x="0" y="4060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3031403" y="6736988"/>
            <a:ext cx="5581585" cy="4211560"/>
          </a:xfrm>
          <a:custGeom>
            <a:avLst/>
            <a:gdLst/>
            <a:ahLst/>
            <a:cxnLst/>
            <a:rect r="r" b="b" t="t" l="l"/>
            <a:pathLst>
              <a:path h="4211560" w="5581585">
                <a:moveTo>
                  <a:pt x="5581585" y="4211560"/>
                </a:moveTo>
                <a:lnTo>
                  <a:pt x="0" y="4211560"/>
                </a:lnTo>
                <a:lnTo>
                  <a:pt x="0" y="0"/>
                </a:lnTo>
                <a:lnTo>
                  <a:pt x="5581585" y="0"/>
                </a:lnTo>
                <a:lnTo>
                  <a:pt x="5581585" y="42115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262283" y="1127595"/>
            <a:ext cx="6802066" cy="1310944"/>
          </a:xfrm>
          <a:custGeom>
            <a:avLst/>
            <a:gdLst/>
            <a:ahLst/>
            <a:cxnLst/>
            <a:rect r="r" b="b" t="t" l="l"/>
            <a:pathLst>
              <a:path h="1310944" w="6802066">
                <a:moveTo>
                  <a:pt x="0" y="0"/>
                </a:moveTo>
                <a:lnTo>
                  <a:pt x="6802066" y="0"/>
                </a:lnTo>
                <a:lnTo>
                  <a:pt x="6802066" y="1310944"/>
                </a:lnTo>
                <a:lnTo>
                  <a:pt x="0" y="13109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5646784" y="1460804"/>
            <a:ext cx="4914903" cy="701698"/>
          </a:xfrm>
          <a:prstGeom prst="rect">
            <a:avLst/>
          </a:prstGeom>
        </p:spPr>
        <p:txBody>
          <a:bodyPr anchor="t" rtlCol="false" tIns="0" lIns="0" bIns="0" rIns="0">
            <a:spAutoFit/>
          </a:bodyPr>
          <a:lstStyle/>
          <a:p>
            <a:pPr algn="l">
              <a:lnSpc>
                <a:spcPts val="5350"/>
              </a:lnSpc>
            </a:pPr>
            <a:r>
              <a:rPr lang="en-US" sz="5000" b="true">
                <a:solidFill>
                  <a:srgbClr val="FCFEFF"/>
                </a:solidFill>
                <a:latin typeface="Aileron Bold"/>
                <a:ea typeface="Aileron Bold"/>
                <a:cs typeface="Aileron Bold"/>
                <a:sym typeface="Aileron Bold"/>
              </a:rPr>
              <a:t>Results </a:t>
            </a:r>
          </a:p>
        </p:txBody>
      </p:sp>
      <p:sp>
        <p:nvSpPr>
          <p:cNvPr name="TextBox 9" id="9"/>
          <p:cNvSpPr txBox="true"/>
          <p:nvPr/>
        </p:nvSpPr>
        <p:spPr>
          <a:xfrm rot="0">
            <a:off x="1018354" y="2683733"/>
            <a:ext cx="16240946" cy="606034"/>
          </a:xfrm>
          <a:prstGeom prst="rect">
            <a:avLst/>
          </a:prstGeom>
        </p:spPr>
        <p:txBody>
          <a:bodyPr anchor="t" rtlCol="false" tIns="0" lIns="0" bIns="0" rIns="0">
            <a:spAutoFit/>
          </a:bodyPr>
          <a:lstStyle/>
          <a:p>
            <a:pPr algn="l">
              <a:lnSpc>
                <a:spcPts val="4708"/>
              </a:lnSpc>
              <a:spcBef>
                <a:spcPct val="0"/>
              </a:spcBef>
            </a:pPr>
            <a:r>
              <a:rPr lang="en-US" b="true" sz="4400">
                <a:solidFill>
                  <a:srgbClr val="000000"/>
                </a:solidFill>
                <a:latin typeface="Montserrat Bold"/>
                <a:ea typeface="Montserrat Bold"/>
                <a:cs typeface="Montserrat Bold"/>
                <a:sym typeface="Montserrat Bold"/>
              </a:rPr>
              <a:t>Pilot Study Outcomes</a:t>
            </a:r>
          </a:p>
        </p:txBody>
      </p:sp>
      <p:sp>
        <p:nvSpPr>
          <p:cNvPr name="TextBox 10" id="10"/>
          <p:cNvSpPr txBox="true"/>
          <p:nvPr/>
        </p:nvSpPr>
        <p:spPr>
          <a:xfrm rot="0">
            <a:off x="1028700" y="3464680"/>
            <a:ext cx="16240946" cy="2227655"/>
          </a:xfrm>
          <a:prstGeom prst="rect">
            <a:avLst/>
          </a:prstGeom>
        </p:spPr>
        <p:txBody>
          <a:bodyPr anchor="t" rtlCol="false" tIns="0" lIns="0" bIns="0" rIns="0">
            <a:spAutoFit/>
          </a:bodyPr>
          <a:lstStyle/>
          <a:p>
            <a:pPr algn="l">
              <a:lnSpc>
                <a:spcPts val="2995"/>
              </a:lnSpc>
            </a:pPr>
            <a:r>
              <a:rPr lang="en-US" sz="2799">
                <a:solidFill>
                  <a:srgbClr val="000000"/>
                </a:solidFill>
                <a:latin typeface="Montserrat"/>
                <a:ea typeface="Montserrat"/>
                <a:cs typeface="Montserrat"/>
                <a:sym typeface="Montserrat"/>
              </a:rPr>
              <a:t>Key Findings:</a:t>
            </a:r>
          </a:p>
          <a:p>
            <a:pPr algn="l" marL="604519" indent="-302260" lvl="1">
              <a:lnSpc>
                <a:spcPts val="2995"/>
              </a:lnSpc>
              <a:buFont typeface="Arial"/>
              <a:buChar char="•"/>
            </a:pPr>
            <a:r>
              <a:rPr lang="en-US" sz="2799">
                <a:solidFill>
                  <a:srgbClr val="000000"/>
                </a:solidFill>
                <a:latin typeface="Montserrat"/>
                <a:ea typeface="Montserrat"/>
                <a:cs typeface="Montserrat"/>
                <a:sym typeface="Montserrat"/>
              </a:rPr>
              <a:t>Both c</a:t>
            </a:r>
            <a:r>
              <a:rPr lang="en-US" sz="2799">
                <a:solidFill>
                  <a:srgbClr val="000000"/>
                </a:solidFill>
                <a:latin typeface="Montserrat"/>
                <a:ea typeface="Montserrat"/>
                <a:cs typeface="Montserrat"/>
                <a:sym typeface="Montserrat"/>
              </a:rPr>
              <a:t>hildren showed significant improvement within one week</a:t>
            </a:r>
          </a:p>
          <a:p>
            <a:pPr algn="l" marL="604519" indent="-302260" lvl="1">
              <a:lnSpc>
                <a:spcPts val="2995"/>
              </a:lnSpc>
              <a:buFont typeface="Arial"/>
              <a:buChar char="•"/>
            </a:pPr>
            <a:r>
              <a:rPr lang="en-US" sz="2799">
                <a:solidFill>
                  <a:srgbClr val="000000"/>
                </a:solidFill>
                <a:latin typeface="Montserrat"/>
                <a:ea typeface="Montserrat"/>
                <a:cs typeface="Montserrat"/>
                <a:sym typeface="Montserrat"/>
              </a:rPr>
              <a:t>Older child (6y) demonstrated higher baseline and greater gains</a:t>
            </a:r>
          </a:p>
          <a:p>
            <a:pPr algn="l" marL="604519" indent="-302260" lvl="1">
              <a:lnSpc>
                <a:spcPts val="2995"/>
              </a:lnSpc>
              <a:buFont typeface="Arial"/>
              <a:buChar char="•"/>
            </a:pPr>
            <a:r>
              <a:rPr lang="en-US" sz="2799">
                <a:solidFill>
                  <a:srgbClr val="000000"/>
                </a:solidFill>
                <a:latin typeface="Montserrat"/>
                <a:ea typeface="Montserrat"/>
                <a:cs typeface="Montserrat"/>
                <a:sym typeface="Montserrat"/>
              </a:rPr>
              <a:t>Self-correction instances: Child 1: 6, Child 2: 12</a:t>
            </a:r>
          </a:p>
          <a:p>
            <a:pPr algn="l" marL="604519" indent="-302260" lvl="1">
              <a:lnSpc>
                <a:spcPts val="2995"/>
              </a:lnSpc>
              <a:buFont typeface="Arial"/>
              <a:buChar char="•"/>
            </a:pPr>
            <a:r>
              <a:rPr lang="en-US" sz="2799">
                <a:solidFill>
                  <a:srgbClr val="000000"/>
                </a:solidFill>
                <a:latin typeface="Montserrat"/>
                <a:ea typeface="Montserrat"/>
                <a:cs typeface="Montserrat"/>
                <a:sym typeface="Montserrat"/>
              </a:rPr>
              <a:t>Zero anxiety incidents observed (vs. traditional drill methods)</a:t>
            </a:r>
          </a:p>
          <a:p>
            <a:pPr algn="l">
              <a:lnSpc>
                <a:spcPts val="2995"/>
              </a:lnSpc>
              <a:spcBef>
                <a:spcPct val="0"/>
              </a:spcBef>
            </a:pP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144000" y="1355173"/>
            <a:ext cx="10042068" cy="6664282"/>
          </a:xfrm>
          <a:custGeom>
            <a:avLst/>
            <a:gdLst/>
            <a:ahLst/>
            <a:cxnLst/>
            <a:rect r="r" b="b" t="t" l="l"/>
            <a:pathLst>
              <a:path h="6664282" w="10042068">
                <a:moveTo>
                  <a:pt x="0" y="6664282"/>
                </a:moveTo>
                <a:lnTo>
                  <a:pt x="10042068" y="6664282"/>
                </a:lnTo>
                <a:lnTo>
                  <a:pt x="10042068" y="0"/>
                </a:lnTo>
                <a:lnTo>
                  <a:pt x="0" y="0"/>
                </a:lnTo>
                <a:lnTo>
                  <a:pt x="0" y="6664282"/>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898068" y="2179650"/>
            <a:ext cx="10042068" cy="6664282"/>
          </a:xfrm>
          <a:custGeom>
            <a:avLst/>
            <a:gdLst/>
            <a:ahLst/>
            <a:cxnLst/>
            <a:rect r="r" b="b" t="t" l="l"/>
            <a:pathLst>
              <a:path h="6664282" w="10042068">
                <a:moveTo>
                  <a:pt x="10042068" y="0"/>
                </a:moveTo>
                <a:lnTo>
                  <a:pt x="0" y="0"/>
                </a:lnTo>
                <a:lnTo>
                  <a:pt x="0" y="6664282"/>
                </a:lnTo>
                <a:lnTo>
                  <a:pt x="10042068" y="6664282"/>
                </a:lnTo>
                <a:lnTo>
                  <a:pt x="10042068"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11278" y="4982792"/>
            <a:ext cx="4216232" cy="2798045"/>
          </a:xfrm>
          <a:custGeom>
            <a:avLst/>
            <a:gdLst/>
            <a:ahLst/>
            <a:cxnLst/>
            <a:rect r="r" b="b" t="t" l="l"/>
            <a:pathLst>
              <a:path h="2798045" w="4216232">
                <a:moveTo>
                  <a:pt x="0" y="0"/>
                </a:moveTo>
                <a:lnTo>
                  <a:pt x="4216232" y="0"/>
                </a:lnTo>
                <a:lnTo>
                  <a:pt x="4216232" y="2798045"/>
                </a:lnTo>
                <a:lnTo>
                  <a:pt x="0" y="2798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05789" y="-488243"/>
            <a:ext cx="5381659" cy="4060706"/>
          </a:xfrm>
          <a:custGeom>
            <a:avLst/>
            <a:gdLst/>
            <a:ahLst/>
            <a:cxnLst/>
            <a:rect r="r" b="b" t="t" l="l"/>
            <a:pathLst>
              <a:path h="4060706" w="5381659">
                <a:moveTo>
                  <a:pt x="0" y="0"/>
                </a:moveTo>
                <a:lnTo>
                  <a:pt x="5381659" y="0"/>
                </a:lnTo>
                <a:lnTo>
                  <a:pt x="5381659" y="4060707"/>
                </a:lnTo>
                <a:lnTo>
                  <a:pt x="0" y="4060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3031403" y="6736988"/>
            <a:ext cx="5581585" cy="4211560"/>
          </a:xfrm>
          <a:custGeom>
            <a:avLst/>
            <a:gdLst/>
            <a:ahLst/>
            <a:cxnLst/>
            <a:rect r="r" b="b" t="t" l="l"/>
            <a:pathLst>
              <a:path h="4211560" w="5581585">
                <a:moveTo>
                  <a:pt x="5581585" y="4211560"/>
                </a:moveTo>
                <a:lnTo>
                  <a:pt x="0" y="4211560"/>
                </a:lnTo>
                <a:lnTo>
                  <a:pt x="0" y="0"/>
                </a:lnTo>
                <a:lnTo>
                  <a:pt x="5581585" y="0"/>
                </a:lnTo>
                <a:lnTo>
                  <a:pt x="5581585" y="42115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262283" y="1127595"/>
            <a:ext cx="6802066" cy="1310944"/>
          </a:xfrm>
          <a:custGeom>
            <a:avLst/>
            <a:gdLst/>
            <a:ahLst/>
            <a:cxnLst/>
            <a:rect r="r" b="b" t="t" l="l"/>
            <a:pathLst>
              <a:path h="1310944" w="6802066">
                <a:moveTo>
                  <a:pt x="0" y="0"/>
                </a:moveTo>
                <a:lnTo>
                  <a:pt x="6802066" y="0"/>
                </a:lnTo>
                <a:lnTo>
                  <a:pt x="6802066" y="1310944"/>
                </a:lnTo>
                <a:lnTo>
                  <a:pt x="0" y="13109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Object 8" id="8"/>
          <p:cNvGraphicFramePr/>
          <p:nvPr/>
        </p:nvGraphicFramePr>
        <p:xfrm>
          <a:off x="1028700" y="4059061"/>
          <a:ext cx="7543800" cy="3143250"/>
        </p:xfrm>
        <a:graphic>
          <a:graphicData uri="http://schemas.openxmlformats.org/presentationml/2006/ole">
            <p:oleObj imgW="9042400" imgH="46482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sp>
        <p:nvSpPr>
          <p:cNvPr name="TextBox 9" id="9"/>
          <p:cNvSpPr txBox="true"/>
          <p:nvPr/>
        </p:nvSpPr>
        <p:spPr>
          <a:xfrm rot="0">
            <a:off x="5646784" y="1460804"/>
            <a:ext cx="4914903" cy="701698"/>
          </a:xfrm>
          <a:prstGeom prst="rect">
            <a:avLst/>
          </a:prstGeom>
        </p:spPr>
        <p:txBody>
          <a:bodyPr anchor="t" rtlCol="false" tIns="0" lIns="0" bIns="0" rIns="0">
            <a:spAutoFit/>
          </a:bodyPr>
          <a:lstStyle/>
          <a:p>
            <a:pPr algn="l">
              <a:lnSpc>
                <a:spcPts val="5350"/>
              </a:lnSpc>
            </a:pPr>
            <a:r>
              <a:rPr lang="en-US" sz="5000" b="true">
                <a:solidFill>
                  <a:srgbClr val="FCFEFF"/>
                </a:solidFill>
                <a:latin typeface="Aileron Bold"/>
                <a:ea typeface="Aileron Bold"/>
                <a:cs typeface="Aileron Bold"/>
                <a:sym typeface="Aileron Bold"/>
              </a:rPr>
              <a:t>Results </a:t>
            </a:r>
          </a:p>
        </p:txBody>
      </p:sp>
      <p:sp>
        <p:nvSpPr>
          <p:cNvPr name="TextBox 10" id="10"/>
          <p:cNvSpPr txBox="true"/>
          <p:nvPr/>
        </p:nvSpPr>
        <p:spPr>
          <a:xfrm rot="0">
            <a:off x="1018354" y="2683733"/>
            <a:ext cx="16240946" cy="606034"/>
          </a:xfrm>
          <a:prstGeom prst="rect">
            <a:avLst/>
          </a:prstGeom>
        </p:spPr>
        <p:txBody>
          <a:bodyPr anchor="t" rtlCol="false" tIns="0" lIns="0" bIns="0" rIns="0">
            <a:spAutoFit/>
          </a:bodyPr>
          <a:lstStyle/>
          <a:p>
            <a:pPr algn="l">
              <a:lnSpc>
                <a:spcPts val="4708"/>
              </a:lnSpc>
              <a:spcBef>
                <a:spcPct val="0"/>
              </a:spcBef>
            </a:pPr>
            <a:r>
              <a:rPr lang="en-US" b="true" sz="4400">
                <a:solidFill>
                  <a:srgbClr val="000000"/>
                </a:solidFill>
                <a:latin typeface="Montserrat Bold"/>
                <a:ea typeface="Montserrat Bold"/>
                <a:cs typeface="Montserrat Bold"/>
                <a:sym typeface="Montserrat Bold"/>
              </a:rPr>
              <a:t>Comparative Analysis</a:t>
            </a:r>
          </a:p>
        </p:txBody>
      </p:sp>
      <p:sp>
        <p:nvSpPr>
          <p:cNvPr name="TextBox 11" id="11"/>
          <p:cNvSpPr txBox="true"/>
          <p:nvPr/>
        </p:nvSpPr>
        <p:spPr>
          <a:xfrm rot="0">
            <a:off x="1028700" y="3445630"/>
            <a:ext cx="16240946" cy="282242"/>
          </a:xfrm>
          <a:prstGeom prst="rect">
            <a:avLst/>
          </a:prstGeom>
        </p:spPr>
        <p:txBody>
          <a:bodyPr anchor="t" rtlCol="false" tIns="0" lIns="0" bIns="0" rIns="0">
            <a:spAutoFit/>
          </a:bodyPr>
          <a:lstStyle/>
          <a:p>
            <a:pPr algn="l">
              <a:lnSpc>
                <a:spcPts val="2247"/>
              </a:lnSpc>
              <a:spcBef>
                <a:spcPct val="0"/>
              </a:spcBef>
            </a:pPr>
            <a:r>
              <a:rPr lang="en-US" b="true" sz="2100">
                <a:solidFill>
                  <a:srgbClr val="000000"/>
                </a:solidFill>
                <a:latin typeface="Montserrat Bold"/>
                <a:ea typeface="Montserrat Bold"/>
                <a:cs typeface="Montserrat Bold"/>
                <a:sym typeface="Montserrat Bold"/>
              </a:rPr>
              <a:t>Child Performance Comparison</a:t>
            </a:r>
          </a:p>
        </p:txBody>
      </p:sp>
      <p:sp>
        <p:nvSpPr>
          <p:cNvPr name="TextBox 12" id="12"/>
          <p:cNvSpPr txBox="true"/>
          <p:nvPr/>
        </p:nvSpPr>
        <p:spPr>
          <a:xfrm rot="0">
            <a:off x="8104236" y="9251219"/>
            <a:ext cx="16240946" cy="282242"/>
          </a:xfrm>
          <a:prstGeom prst="rect">
            <a:avLst/>
          </a:prstGeom>
        </p:spPr>
        <p:txBody>
          <a:bodyPr anchor="t" rtlCol="false" tIns="0" lIns="0" bIns="0" rIns="0">
            <a:spAutoFit/>
          </a:bodyPr>
          <a:lstStyle/>
          <a:p>
            <a:pPr algn="l">
              <a:lnSpc>
                <a:spcPts val="2247"/>
              </a:lnSpc>
              <a:spcBef>
                <a:spcPct val="0"/>
              </a:spcBef>
            </a:pPr>
            <a:r>
              <a:rPr lang="en-US" sz="2100" i="true">
                <a:solidFill>
                  <a:srgbClr val="000000"/>
                </a:solidFill>
                <a:latin typeface="Montserrat Italics"/>
                <a:ea typeface="Montserrat Italics"/>
                <a:cs typeface="Montserrat Italics"/>
                <a:sym typeface="Montserrat Italics"/>
              </a:rPr>
              <a:t>Overall Metrics</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144000" y="1355173"/>
            <a:ext cx="10042068" cy="6664282"/>
          </a:xfrm>
          <a:custGeom>
            <a:avLst/>
            <a:gdLst/>
            <a:ahLst/>
            <a:cxnLst/>
            <a:rect r="r" b="b" t="t" l="l"/>
            <a:pathLst>
              <a:path h="6664282" w="10042068">
                <a:moveTo>
                  <a:pt x="0" y="6664282"/>
                </a:moveTo>
                <a:lnTo>
                  <a:pt x="10042068" y="6664282"/>
                </a:lnTo>
                <a:lnTo>
                  <a:pt x="10042068" y="0"/>
                </a:lnTo>
                <a:lnTo>
                  <a:pt x="0" y="0"/>
                </a:lnTo>
                <a:lnTo>
                  <a:pt x="0" y="6664282"/>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898068" y="2179650"/>
            <a:ext cx="10042068" cy="6664282"/>
          </a:xfrm>
          <a:custGeom>
            <a:avLst/>
            <a:gdLst/>
            <a:ahLst/>
            <a:cxnLst/>
            <a:rect r="r" b="b" t="t" l="l"/>
            <a:pathLst>
              <a:path h="6664282" w="10042068">
                <a:moveTo>
                  <a:pt x="10042068" y="0"/>
                </a:moveTo>
                <a:lnTo>
                  <a:pt x="0" y="0"/>
                </a:lnTo>
                <a:lnTo>
                  <a:pt x="0" y="6664282"/>
                </a:lnTo>
                <a:lnTo>
                  <a:pt x="10042068" y="6664282"/>
                </a:lnTo>
                <a:lnTo>
                  <a:pt x="10042068"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11278" y="4982792"/>
            <a:ext cx="4216232" cy="2798045"/>
          </a:xfrm>
          <a:custGeom>
            <a:avLst/>
            <a:gdLst/>
            <a:ahLst/>
            <a:cxnLst/>
            <a:rect r="r" b="b" t="t" l="l"/>
            <a:pathLst>
              <a:path h="2798045" w="4216232">
                <a:moveTo>
                  <a:pt x="0" y="0"/>
                </a:moveTo>
                <a:lnTo>
                  <a:pt x="4216232" y="0"/>
                </a:lnTo>
                <a:lnTo>
                  <a:pt x="4216232" y="2798045"/>
                </a:lnTo>
                <a:lnTo>
                  <a:pt x="0" y="2798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05789" y="-488243"/>
            <a:ext cx="5381659" cy="4060706"/>
          </a:xfrm>
          <a:custGeom>
            <a:avLst/>
            <a:gdLst/>
            <a:ahLst/>
            <a:cxnLst/>
            <a:rect r="r" b="b" t="t" l="l"/>
            <a:pathLst>
              <a:path h="4060706" w="5381659">
                <a:moveTo>
                  <a:pt x="0" y="0"/>
                </a:moveTo>
                <a:lnTo>
                  <a:pt x="5381659" y="0"/>
                </a:lnTo>
                <a:lnTo>
                  <a:pt x="5381659" y="4060707"/>
                </a:lnTo>
                <a:lnTo>
                  <a:pt x="0" y="4060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3031403" y="6736988"/>
            <a:ext cx="5581585" cy="4211560"/>
          </a:xfrm>
          <a:custGeom>
            <a:avLst/>
            <a:gdLst/>
            <a:ahLst/>
            <a:cxnLst/>
            <a:rect r="r" b="b" t="t" l="l"/>
            <a:pathLst>
              <a:path h="4211560" w="5581585">
                <a:moveTo>
                  <a:pt x="5581585" y="4211560"/>
                </a:moveTo>
                <a:lnTo>
                  <a:pt x="0" y="4211560"/>
                </a:lnTo>
                <a:lnTo>
                  <a:pt x="0" y="0"/>
                </a:lnTo>
                <a:lnTo>
                  <a:pt x="5581585" y="0"/>
                </a:lnTo>
                <a:lnTo>
                  <a:pt x="5581585" y="42115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262283" y="1127595"/>
            <a:ext cx="6802066" cy="1310944"/>
          </a:xfrm>
          <a:custGeom>
            <a:avLst/>
            <a:gdLst/>
            <a:ahLst/>
            <a:cxnLst/>
            <a:rect r="r" b="b" t="t" l="l"/>
            <a:pathLst>
              <a:path h="1310944" w="6802066">
                <a:moveTo>
                  <a:pt x="0" y="0"/>
                </a:moveTo>
                <a:lnTo>
                  <a:pt x="6802066" y="0"/>
                </a:lnTo>
                <a:lnTo>
                  <a:pt x="6802066" y="1310944"/>
                </a:lnTo>
                <a:lnTo>
                  <a:pt x="0" y="13109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Object 8" id="8"/>
          <p:cNvGraphicFramePr/>
          <p:nvPr/>
        </p:nvGraphicFramePr>
        <p:xfrm>
          <a:off x="11601450" y="3289766"/>
          <a:ext cx="5657850" cy="2514600"/>
        </p:xfrm>
        <a:graphic>
          <a:graphicData uri="http://schemas.openxmlformats.org/presentationml/2006/ole">
            <p:oleObj imgW="6781800" imgH="36449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sp>
        <p:nvSpPr>
          <p:cNvPr name="TextBox 9" id="9"/>
          <p:cNvSpPr txBox="true"/>
          <p:nvPr/>
        </p:nvSpPr>
        <p:spPr>
          <a:xfrm rot="0">
            <a:off x="5646784" y="1460804"/>
            <a:ext cx="4914903" cy="701698"/>
          </a:xfrm>
          <a:prstGeom prst="rect">
            <a:avLst/>
          </a:prstGeom>
        </p:spPr>
        <p:txBody>
          <a:bodyPr anchor="t" rtlCol="false" tIns="0" lIns="0" bIns="0" rIns="0">
            <a:spAutoFit/>
          </a:bodyPr>
          <a:lstStyle/>
          <a:p>
            <a:pPr algn="l">
              <a:lnSpc>
                <a:spcPts val="5350"/>
              </a:lnSpc>
            </a:pPr>
            <a:r>
              <a:rPr lang="en-US" sz="5000" b="true">
                <a:solidFill>
                  <a:srgbClr val="FCFEFF"/>
                </a:solidFill>
                <a:latin typeface="Aileron Bold"/>
                <a:ea typeface="Aileron Bold"/>
                <a:cs typeface="Aileron Bold"/>
                <a:sym typeface="Aileron Bold"/>
              </a:rPr>
              <a:t>Results </a:t>
            </a:r>
          </a:p>
        </p:txBody>
      </p:sp>
      <p:sp>
        <p:nvSpPr>
          <p:cNvPr name="TextBox 10" id="10"/>
          <p:cNvSpPr txBox="true"/>
          <p:nvPr/>
        </p:nvSpPr>
        <p:spPr>
          <a:xfrm rot="0">
            <a:off x="1018354" y="2683733"/>
            <a:ext cx="16240946" cy="606034"/>
          </a:xfrm>
          <a:prstGeom prst="rect">
            <a:avLst/>
          </a:prstGeom>
        </p:spPr>
        <p:txBody>
          <a:bodyPr anchor="t" rtlCol="false" tIns="0" lIns="0" bIns="0" rIns="0">
            <a:spAutoFit/>
          </a:bodyPr>
          <a:lstStyle/>
          <a:p>
            <a:pPr algn="l">
              <a:lnSpc>
                <a:spcPts val="4708"/>
              </a:lnSpc>
              <a:spcBef>
                <a:spcPct val="0"/>
              </a:spcBef>
            </a:pPr>
            <a:r>
              <a:rPr lang="en-US" b="true" sz="4400">
                <a:solidFill>
                  <a:srgbClr val="000000"/>
                </a:solidFill>
                <a:latin typeface="Montserrat Bold"/>
                <a:ea typeface="Montserrat Bold"/>
                <a:cs typeface="Montserrat Bold"/>
                <a:sym typeface="Montserrat Bold"/>
              </a:rPr>
              <a:t>Comparative Analysis</a:t>
            </a:r>
          </a:p>
        </p:txBody>
      </p:sp>
      <p:sp>
        <p:nvSpPr>
          <p:cNvPr name="TextBox 11" id="11"/>
          <p:cNvSpPr txBox="true"/>
          <p:nvPr/>
        </p:nvSpPr>
        <p:spPr>
          <a:xfrm rot="0">
            <a:off x="1028700" y="3464680"/>
            <a:ext cx="10572750" cy="4085199"/>
          </a:xfrm>
          <a:prstGeom prst="rect">
            <a:avLst/>
          </a:prstGeom>
        </p:spPr>
        <p:txBody>
          <a:bodyPr anchor="t" rtlCol="false" tIns="0" lIns="0" bIns="0" rIns="0">
            <a:spAutoFit/>
          </a:bodyPr>
          <a:lstStyle/>
          <a:p>
            <a:pPr algn="l">
              <a:lnSpc>
                <a:spcPts val="2995"/>
              </a:lnSpc>
            </a:pPr>
            <a:r>
              <a:rPr lang="en-US" sz="2799">
                <a:solidFill>
                  <a:srgbClr val="000000"/>
                </a:solidFill>
                <a:latin typeface="Montserrat"/>
                <a:ea typeface="Montserrat"/>
                <a:cs typeface="Montserrat"/>
                <a:sym typeface="Montserrat"/>
              </a:rPr>
              <a:t>Interpretation:</a:t>
            </a:r>
          </a:p>
          <a:p>
            <a:pPr algn="l" marL="604519" indent="-302260" lvl="1">
              <a:lnSpc>
                <a:spcPts val="2995"/>
              </a:lnSpc>
              <a:buFont typeface="Arial"/>
              <a:buChar char="•"/>
            </a:pPr>
            <a:r>
              <a:rPr lang="en-US" sz="2799">
                <a:solidFill>
                  <a:srgbClr val="000000"/>
                </a:solidFill>
                <a:latin typeface="Montserrat"/>
                <a:ea typeface="Montserrat"/>
                <a:cs typeface="Montserrat"/>
                <a:sym typeface="Montserrat"/>
              </a:rPr>
              <a:t>4-year-old: </a:t>
            </a:r>
            <a:r>
              <a:rPr lang="en-US" sz="2799">
                <a:solidFill>
                  <a:srgbClr val="000000"/>
                </a:solidFill>
                <a:latin typeface="Montserrat"/>
                <a:ea typeface="Montserrat"/>
                <a:cs typeface="Montserrat"/>
                <a:sym typeface="Montserrat"/>
              </a:rPr>
              <a:t>Concentrated phonological focus (typical)</a:t>
            </a:r>
          </a:p>
          <a:p>
            <a:pPr algn="l" marL="604519" indent="-302260" lvl="1">
              <a:lnSpc>
                <a:spcPts val="2995"/>
              </a:lnSpc>
              <a:buFont typeface="Arial"/>
              <a:buChar char="•"/>
            </a:pPr>
            <a:r>
              <a:rPr lang="en-US" sz="2799">
                <a:solidFill>
                  <a:srgbClr val="000000"/>
                </a:solidFill>
                <a:latin typeface="Montserrat"/>
                <a:ea typeface="Montserrat"/>
                <a:cs typeface="Montserrat"/>
                <a:sym typeface="Montserrat"/>
              </a:rPr>
              <a:t>6-year-old: Distributed profile </a:t>
            </a:r>
          </a:p>
          <a:p>
            <a:pPr algn="l">
              <a:lnSpc>
                <a:spcPts val="2995"/>
              </a:lnSpc>
            </a:pPr>
            <a:r>
              <a:rPr lang="en-US" sz="2799">
                <a:solidFill>
                  <a:srgbClr val="000000"/>
                </a:solidFill>
                <a:latin typeface="Montserrat"/>
                <a:ea typeface="Montserrat"/>
                <a:cs typeface="Montserrat"/>
                <a:sym typeface="Montserrat"/>
              </a:rPr>
              <a:t>(broader language development)</a:t>
            </a:r>
          </a:p>
          <a:p>
            <a:pPr algn="l" marL="604519" indent="-302260" lvl="1">
              <a:lnSpc>
                <a:spcPts val="2995"/>
              </a:lnSpc>
              <a:buFont typeface="Arial"/>
              <a:buChar char="•"/>
            </a:pPr>
            <a:r>
              <a:rPr lang="en-US" sz="2799">
                <a:solidFill>
                  <a:srgbClr val="000000"/>
                </a:solidFill>
                <a:latin typeface="Montserrat"/>
                <a:ea typeface="Montserrat"/>
                <a:cs typeface="Montserrat"/>
                <a:sym typeface="Montserrat"/>
              </a:rPr>
              <a:t>System successfully adapted to different</a:t>
            </a:r>
          </a:p>
          <a:p>
            <a:pPr algn="l">
              <a:lnSpc>
                <a:spcPts val="2995"/>
              </a:lnSpc>
            </a:pPr>
            <a:r>
              <a:rPr lang="en-US" sz="2799">
                <a:solidFill>
                  <a:srgbClr val="000000"/>
                </a:solidFill>
                <a:latin typeface="Montserrat"/>
                <a:ea typeface="Montserrat"/>
                <a:cs typeface="Montserrat"/>
                <a:sym typeface="Montserrat"/>
              </a:rPr>
              <a:t> developmental stages</a:t>
            </a:r>
          </a:p>
          <a:p>
            <a:pPr algn="l">
              <a:lnSpc>
                <a:spcPts val="2995"/>
              </a:lnSpc>
            </a:pPr>
          </a:p>
          <a:p>
            <a:pPr algn="l">
              <a:lnSpc>
                <a:spcPts val="2995"/>
              </a:lnSpc>
            </a:pPr>
            <a:r>
              <a:rPr lang="en-US" sz="2799">
                <a:solidFill>
                  <a:srgbClr val="000000"/>
                </a:solidFill>
                <a:latin typeface="Montserrat"/>
                <a:ea typeface="Montserrat"/>
                <a:cs typeface="Montserrat"/>
                <a:sym typeface="Montserrat"/>
              </a:rPr>
              <a:t>Specific Improvements:</a:t>
            </a:r>
          </a:p>
          <a:p>
            <a:pPr algn="l" marL="604519" indent="-302260" lvl="1">
              <a:lnSpc>
                <a:spcPts val="2995"/>
              </a:lnSpc>
              <a:buFont typeface="Arial"/>
              <a:buChar char="•"/>
            </a:pPr>
            <a:r>
              <a:rPr lang="en-US" sz="2799">
                <a:solidFill>
                  <a:srgbClr val="000000"/>
                </a:solidFill>
                <a:latin typeface="Montserrat"/>
                <a:ea typeface="Montserrat"/>
                <a:cs typeface="Montserrat"/>
                <a:sym typeface="Montserrat"/>
              </a:rPr>
              <a:t>Child 1: /r/ substitution improved 45% → 67% (+22 points)</a:t>
            </a:r>
          </a:p>
          <a:p>
            <a:pPr algn="l" marL="604519" indent="-302260" lvl="1">
              <a:lnSpc>
                <a:spcPts val="2995"/>
              </a:lnSpc>
              <a:buFont typeface="Arial"/>
              <a:buChar char="•"/>
            </a:pPr>
            <a:r>
              <a:rPr lang="en-US" sz="2799">
                <a:solidFill>
                  <a:srgbClr val="000000"/>
                </a:solidFill>
                <a:latin typeface="Montserrat"/>
                <a:ea typeface="Montserrat"/>
                <a:cs typeface="Montserrat"/>
                <a:sym typeface="Montserrat"/>
              </a:rPr>
              <a:t>Child 2: Verb tense consistency 52% → 78% (+26 points)</a:t>
            </a:r>
          </a:p>
          <a:p>
            <a:pPr algn="l">
              <a:lnSpc>
                <a:spcPts val="2995"/>
              </a:lnSpc>
              <a:spcBef>
                <a:spcPct val="0"/>
              </a:spcBef>
            </a:pP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144000" y="1355173"/>
            <a:ext cx="10042068" cy="6664282"/>
          </a:xfrm>
          <a:custGeom>
            <a:avLst/>
            <a:gdLst/>
            <a:ahLst/>
            <a:cxnLst/>
            <a:rect r="r" b="b" t="t" l="l"/>
            <a:pathLst>
              <a:path h="6664282" w="10042068">
                <a:moveTo>
                  <a:pt x="0" y="6664282"/>
                </a:moveTo>
                <a:lnTo>
                  <a:pt x="10042068" y="6664282"/>
                </a:lnTo>
                <a:lnTo>
                  <a:pt x="10042068" y="0"/>
                </a:lnTo>
                <a:lnTo>
                  <a:pt x="0" y="0"/>
                </a:lnTo>
                <a:lnTo>
                  <a:pt x="0" y="6664282"/>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898068" y="2179650"/>
            <a:ext cx="10042068" cy="6664282"/>
          </a:xfrm>
          <a:custGeom>
            <a:avLst/>
            <a:gdLst/>
            <a:ahLst/>
            <a:cxnLst/>
            <a:rect r="r" b="b" t="t" l="l"/>
            <a:pathLst>
              <a:path h="6664282" w="10042068">
                <a:moveTo>
                  <a:pt x="10042068" y="0"/>
                </a:moveTo>
                <a:lnTo>
                  <a:pt x="0" y="0"/>
                </a:lnTo>
                <a:lnTo>
                  <a:pt x="0" y="6664282"/>
                </a:lnTo>
                <a:lnTo>
                  <a:pt x="10042068" y="6664282"/>
                </a:lnTo>
                <a:lnTo>
                  <a:pt x="10042068"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11278" y="4982792"/>
            <a:ext cx="4216232" cy="2798045"/>
          </a:xfrm>
          <a:custGeom>
            <a:avLst/>
            <a:gdLst/>
            <a:ahLst/>
            <a:cxnLst/>
            <a:rect r="r" b="b" t="t" l="l"/>
            <a:pathLst>
              <a:path h="2798045" w="4216232">
                <a:moveTo>
                  <a:pt x="0" y="0"/>
                </a:moveTo>
                <a:lnTo>
                  <a:pt x="4216232" y="0"/>
                </a:lnTo>
                <a:lnTo>
                  <a:pt x="4216232" y="2798045"/>
                </a:lnTo>
                <a:lnTo>
                  <a:pt x="0" y="2798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05789" y="-488243"/>
            <a:ext cx="5381659" cy="4060706"/>
          </a:xfrm>
          <a:custGeom>
            <a:avLst/>
            <a:gdLst/>
            <a:ahLst/>
            <a:cxnLst/>
            <a:rect r="r" b="b" t="t" l="l"/>
            <a:pathLst>
              <a:path h="4060706" w="5381659">
                <a:moveTo>
                  <a:pt x="0" y="0"/>
                </a:moveTo>
                <a:lnTo>
                  <a:pt x="5381659" y="0"/>
                </a:lnTo>
                <a:lnTo>
                  <a:pt x="5381659" y="4060707"/>
                </a:lnTo>
                <a:lnTo>
                  <a:pt x="0" y="4060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3031403" y="6736988"/>
            <a:ext cx="5581585" cy="4211560"/>
          </a:xfrm>
          <a:custGeom>
            <a:avLst/>
            <a:gdLst/>
            <a:ahLst/>
            <a:cxnLst/>
            <a:rect r="r" b="b" t="t" l="l"/>
            <a:pathLst>
              <a:path h="4211560" w="5581585">
                <a:moveTo>
                  <a:pt x="5581585" y="4211560"/>
                </a:moveTo>
                <a:lnTo>
                  <a:pt x="0" y="4211560"/>
                </a:lnTo>
                <a:lnTo>
                  <a:pt x="0" y="0"/>
                </a:lnTo>
                <a:lnTo>
                  <a:pt x="5581585" y="0"/>
                </a:lnTo>
                <a:lnTo>
                  <a:pt x="5581585" y="42115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262283" y="1127595"/>
            <a:ext cx="6802066" cy="1310944"/>
          </a:xfrm>
          <a:custGeom>
            <a:avLst/>
            <a:gdLst/>
            <a:ahLst/>
            <a:cxnLst/>
            <a:rect r="r" b="b" t="t" l="l"/>
            <a:pathLst>
              <a:path h="1310944" w="6802066">
                <a:moveTo>
                  <a:pt x="0" y="0"/>
                </a:moveTo>
                <a:lnTo>
                  <a:pt x="6802066" y="0"/>
                </a:lnTo>
                <a:lnTo>
                  <a:pt x="6802066" y="1310944"/>
                </a:lnTo>
                <a:lnTo>
                  <a:pt x="0" y="13109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Object 8" id="8"/>
          <p:cNvGraphicFramePr/>
          <p:nvPr/>
        </p:nvGraphicFramePr>
        <p:xfrm>
          <a:off x="1028700" y="4006864"/>
          <a:ext cx="5657850" cy="3143250"/>
        </p:xfrm>
        <a:graphic>
          <a:graphicData uri="http://schemas.openxmlformats.org/presentationml/2006/ole">
            <p:oleObj imgW="6781800" imgH="42672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graphicFrame>
        <p:nvGraphicFramePr>
          <p:cNvPr name="Object 9" id="9"/>
          <p:cNvGraphicFramePr/>
          <p:nvPr/>
        </p:nvGraphicFramePr>
        <p:xfrm>
          <a:off x="6315075" y="4006864"/>
          <a:ext cx="5657850" cy="2514600"/>
        </p:xfrm>
        <a:graphic>
          <a:graphicData uri="http://schemas.openxmlformats.org/presentationml/2006/ole">
            <p:oleObj imgW="6781800" imgH="3644900" r:id="rId11" progId="Excel.Sheet.12" name="Worksheet">
              <p:embed/>
              <p:pic>
                <p:nvPicPr>
                  <p:cNvPr name="" id="0"/>
                  <p:cNvPicPr/>
                  <p:nvPr/>
                </p:nvPicPr>
                <p:blipFill>
                  <a:blip r:embed="rId10"/>
                  <a:stretch>
                    <a:fillRect/>
                  </a:stretch>
                </p:blipFill>
                <p:spPr>
                  <a:xfrm>
                    <a:off x="1270000" y="1270000"/>
                    <a:ext cx="1270000" cy="1270000"/>
                  </a:xfrm>
                  <a:prstGeom prst="rect"/>
                </p:spPr>
              </p:pic>
            </p:oleObj>
          </a:graphicData>
        </a:graphic>
      </p:graphicFrame>
      <p:graphicFrame>
        <p:nvGraphicFramePr>
          <p:cNvPr name="Object 10" id="10"/>
          <p:cNvGraphicFramePr/>
          <p:nvPr/>
        </p:nvGraphicFramePr>
        <p:xfrm>
          <a:off x="11660509" y="4051379"/>
          <a:ext cx="7543800" cy="3771900"/>
        </p:xfrm>
        <a:graphic>
          <a:graphicData uri="http://schemas.openxmlformats.org/presentationml/2006/ole">
            <p:oleObj imgW="9042400" imgH="5270500" r:id="rId13" progId="Excel.Sheet.12" name="Worksheet">
              <p:embed/>
              <p:pic>
                <p:nvPicPr>
                  <p:cNvPr name="" id="0"/>
                  <p:cNvPicPr/>
                  <p:nvPr/>
                </p:nvPicPr>
                <p:blipFill>
                  <a:blip r:embed="rId12"/>
                  <a:stretch>
                    <a:fillRect/>
                  </a:stretch>
                </p:blipFill>
                <p:spPr>
                  <a:xfrm>
                    <a:off x="1270000" y="1270000"/>
                    <a:ext cx="1270000" cy="1270000"/>
                  </a:xfrm>
                  <a:prstGeom prst="rect"/>
                </p:spPr>
              </p:pic>
            </p:oleObj>
          </a:graphicData>
        </a:graphic>
      </p:graphicFrame>
      <p:sp>
        <p:nvSpPr>
          <p:cNvPr name="TextBox 11" id="11"/>
          <p:cNvSpPr txBox="true"/>
          <p:nvPr/>
        </p:nvSpPr>
        <p:spPr>
          <a:xfrm rot="0">
            <a:off x="5646784" y="1460804"/>
            <a:ext cx="4914903" cy="701698"/>
          </a:xfrm>
          <a:prstGeom prst="rect">
            <a:avLst/>
          </a:prstGeom>
        </p:spPr>
        <p:txBody>
          <a:bodyPr anchor="t" rtlCol="false" tIns="0" lIns="0" bIns="0" rIns="0">
            <a:spAutoFit/>
          </a:bodyPr>
          <a:lstStyle/>
          <a:p>
            <a:pPr algn="l">
              <a:lnSpc>
                <a:spcPts val="5350"/>
              </a:lnSpc>
            </a:pPr>
            <a:r>
              <a:rPr lang="en-US" sz="5000" b="true">
                <a:solidFill>
                  <a:srgbClr val="FCFEFF"/>
                </a:solidFill>
                <a:latin typeface="Aileron Bold"/>
                <a:ea typeface="Aileron Bold"/>
                <a:cs typeface="Aileron Bold"/>
                <a:sym typeface="Aileron Bold"/>
              </a:rPr>
              <a:t>Results </a:t>
            </a:r>
          </a:p>
        </p:txBody>
      </p:sp>
      <p:sp>
        <p:nvSpPr>
          <p:cNvPr name="TextBox 12" id="12"/>
          <p:cNvSpPr txBox="true"/>
          <p:nvPr/>
        </p:nvSpPr>
        <p:spPr>
          <a:xfrm rot="0">
            <a:off x="1018354" y="2683733"/>
            <a:ext cx="16240946" cy="606034"/>
          </a:xfrm>
          <a:prstGeom prst="rect">
            <a:avLst/>
          </a:prstGeom>
        </p:spPr>
        <p:txBody>
          <a:bodyPr anchor="t" rtlCol="false" tIns="0" lIns="0" bIns="0" rIns="0">
            <a:spAutoFit/>
          </a:bodyPr>
          <a:lstStyle/>
          <a:p>
            <a:pPr algn="l">
              <a:lnSpc>
                <a:spcPts val="4708"/>
              </a:lnSpc>
              <a:spcBef>
                <a:spcPct val="0"/>
              </a:spcBef>
            </a:pPr>
            <a:r>
              <a:rPr lang="en-US" b="true" sz="4400">
                <a:solidFill>
                  <a:srgbClr val="000000"/>
                </a:solidFill>
                <a:latin typeface="Montserrat Bold"/>
                <a:ea typeface="Montserrat Bold"/>
                <a:cs typeface="Montserrat Bold"/>
                <a:sym typeface="Montserrat Bold"/>
              </a:rPr>
              <a:t>User Engagement Analysis</a:t>
            </a:r>
          </a:p>
        </p:txBody>
      </p:sp>
      <p:sp>
        <p:nvSpPr>
          <p:cNvPr name="TextBox 13" id="13"/>
          <p:cNvSpPr txBox="true"/>
          <p:nvPr/>
        </p:nvSpPr>
        <p:spPr>
          <a:xfrm rot="0">
            <a:off x="1028700" y="3445630"/>
            <a:ext cx="16240946" cy="282242"/>
          </a:xfrm>
          <a:prstGeom prst="rect">
            <a:avLst/>
          </a:prstGeom>
        </p:spPr>
        <p:txBody>
          <a:bodyPr anchor="t" rtlCol="false" tIns="0" lIns="0" bIns="0" rIns="0">
            <a:spAutoFit/>
          </a:bodyPr>
          <a:lstStyle/>
          <a:p>
            <a:pPr algn="l">
              <a:lnSpc>
                <a:spcPts val="2247"/>
              </a:lnSpc>
              <a:spcBef>
                <a:spcPct val="0"/>
              </a:spcBef>
            </a:pPr>
            <a:r>
              <a:rPr lang="en-US" b="true" sz="2100">
                <a:solidFill>
                  <a:srgbClr val="000000"/>
                </a:solidFill>
                <a:latin typeface="Montserrat Bold"/>
                <a:ea typeface="Montserrat Bold"/>
                <a:cs typeface="Montserrat Bold"/>
                <a:sym typeface="Montserrat Bold"/>
              </a:rPr>
              <a:t>Engagement &amp; Behavioral Observations</a:t>
            </a:r>
          </a:p>
        </p:txBody>
      </p:sp>
      <p:sp>
        <p:nvSpPr>
          <p:cNvPr name="TextBox 14" id="14"/>
          <p:cNvSpPr txBox="true"/>
          <p:nvPr/>
        </p:nvSpPr>
        <p:spPr>
          <a:xfrm rot="0">
            <a:off x="1939043" y="7934627"/>
            <a:ext cx="2695597" cy="313046"/>
          </a:xfrm>
          <a:prstGeom prst="rect">
            <a:avLst/>
          </a:prstGeom>
        </p:spPr>
        <p:txBody>
          <a:bodyPr anchor="t" rtlCol="false" tIns="0" lIns="0" bIns="0" rIns="0">
            <a:spAutoFit/>
          </a:bodyPr>
          <a:lstStyle/>
          <a:p>
            <a:pPr algn="l">
              <a:lnSpc>
                <a:spcPts val="2400"/>
              </a:lnSpc>
              <a:spcBef>
                <a:spcPct val="0"/>
              </a:spcBef>
            </a:pPr>
            <a:r>
              <a:rPr lang="en-US" sz="2243" i="true">
                <a:solidFill>
                  <a:srgbClr val="000000"/>
                </a:solidFill>
                <a:latin typeface="Montserrat Italics"/>
                <a:ea typeface="Montserrat Italics"/>
                <a:cs typeface="Montserrat Italics"/>
                <a:sym typeface="Montserrat Italics"/>
              </a:rPr>
              <a:t>Attention Patterns</a:t>
            </a:r>
          </a:p>
        </p:txBody>
      </p:sp>
      <p:sp>
        <p:nvSpPr>
          <p:cNvPr name="TextBox 15" id="15"/>
          <p:cNvSpPr txBox="true"/>
          <p:nvPr/>
        </p:nvSpPr>
        <p:spPr>
          <a:xfrm rot="0">
            <a:off x="7141253" y="7934627"/>
            <a:ext cx="2927637" cy="608098"/>
          </a:xfrm>
          <a:prstGeom prst="rect">
            <a:avLst/>
          </a:prstGeom>
        </p:spPr>
        <p:txBody>
          <a:bodyPr anchor="t" rtlCol="false" tIns="0" lIns="0" bIns="0" rIns="0">
            <a:spAutoFit/>
          </a:bodyPr>
          <a:lstStyle/>
          <a:p>
            <a:pPr algn="l">
              <a:lnSpc>
                <a:spcPts val="2400"/>
              </a:lnSpc>
              <a:spcBef>
                <a:spcPct val="0"/>
              </a:spcBef>
            </a:pPr>
            <a:r>
              <a:rPr lang="en-US" sz="2243" i="true">
                <a:solidFill>
                  <a:srgbClr val="000000"/>
                </a:solidFill>
                <a:latin typeface="Montserrat Italics"/>
                <a:ea typeface="Montserrat Italics"/>
                <a:cs typeface="Montserrat Italics"/>
                <a:sym typeface="Montserrat Italics"/>
              </a:rPr>
              <a:t>Content Preferences</a:t>
            </a:r>
          </a:p>
          <a:p>
            <a:pPr algn="l">
              <a:lnSpc>
                <a:spcPts val="2400"/>
              </a:lnSpc>
              <a:spcBef>
                <a:spcPct val="0"/>
              </a:spcBef>
            </a:pPr>
          </a:p>
        </p:txBody>
      </p:sp>
      <p:sp>
        <p:nvSpPr>
          <p:cNvPr name="TextBox 16" id="16"/>
          <p:cNvSpPr txBox="true"/>
          <p:nvPr/>
        </p:nvSpPr>
        <p:spPr>
          <a:xfrm rot="0">
            <a:off x="12573965" y="7923712"/>
            <a:ext cx="4771069" cy="608098"/>
          </a:xfrm>
          <a:prstGeom prst="rect">
            <a:avLst/>
          </a:prstGeom>
        </p:spPr>
        <p:txBody>
          <a:bodyPr anchor="t" rtlCol="false" tIns="0" lIns="0" bIns="0" rIns="0">
            <a:spAutoFit/>
          </a:bodyPr>
          <a:lstStyle/>
          <a:p>
            <a:pPr algn="l">
              <a:lnSpc>
                <a:spcPts val="2400"/>
              </a:lnSpc>
              <a:spcBef>
                <a:spcPct val="0"/>
              </a:spcBef>
            </a:pPr>
            <a:r>
              <a:rPr lang="en-US" sz="2243" i="true">
                <a:solidFill>
                  <a:srgbClr val="000000"/>
                </a:solidFill>
                <a:latin typeface="Montserrat Italics"/>
                <a:ea typeface="Montserrat Italics"/>
                <a:cs typeface="Montserrat Italics"/>
                <a:sym typeface="Montserrat Italics"/>
              </a:rPr>
              <a:t>System Effectiveness Rating</a:t>
            </a:r>
          </a:p>
          <a:p>
            <a:pPr algn="l">
              <a:lnSpc>
                <a:spcPts val="2400"/>
              </a:lnSpc>
              <a:spcBef>
                <a:spcPct val="0"/>
              </a:spcBef>
            </a:pP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144000" y="1355173"/>
            <a:ext cx="10042068" cy="6664282"/>
          </a:xfrm>
          <a:custGeom>
            <a:avLst/>
            <a:gdLst/>
            <a:ahLst/>
            <a:cxnLst/>
            <a:rect r="r" b="b" t="t" l="l"/>
            <a:pathLst>
              <a:path h="6664282" w="10042068">
                <a:moveTo>
                  <a:pt x="0" y="6664282"/>
                </a:moveTo>
                <a:lnTo>
                  <a:pt x="10042068" y="6664282"/>
                </a:lnTo>
                <a:lnTo>
                  <a:pt x="10042068" y="0"/>
                </a:lnTo>
                <a:lnTo>
                  <a:pt x="0" y="0"/>
                </a:lnTo>
                <a:lnTo>
                  <a:pt x="0" y="6664282"/>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898068" y="2179650"/>
            <a:ext cx="10042068" cy="6664282"/>
          </a:xfrm>
          <a:custGeom>
            <a:avLst/>
            <a:gdLst/>
            <a:ahLst/>
            <a:cxnLst/>
            <a:rect r="r" b="b" t="t" l="l"/>
            <a:pathLst>
              <a:path h="6664282" w="10042068">
                <a:moveTo>
                  <a:pt x="10042068" y="0"/>
                </a:moveTo>
                <a:lnTo>
                  <a:pt x="0" y="0"/>
                </a:lnTo>
                <a:lnTo>
                  <a:pt x="0" y="6664282"/>
                </a:lnTo>
                <a:lnTo>
                  <a:pt x="10042068" y="6664282"/>
                </a:lnTo>
                <a:lnTo>
                  <a:pt x="10042068"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11278" y="4982792"/>
            <a:ext cx="4216232" cy="2798045"/>
          </a:xfrm>
          <a:custGeom>
            <a:avLst/>
            <a:gdLst/>
            <a:ahLst/>
            <a:cxnLst/>
            <a:rect r="r" b="b" t="t" l="l"/>
            <a:pathLst>
              <a:path h="2798045" w="4216232">
                <a:moveTo>
                  <a:pt x="0" y="0"/>
                </a:moveTo>
                <a:lnTo>
                  <a:pt x="4216232" y="0"/>
                </a:lnTo>
                <a:lnTo>
                  <a:pt x="4216232" y="2798045"/>
                </a:lnTo>
                <a:lnTo>
                  <a:pt x="0" y="2798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05789" y="-488243"/>
            <a:ext cx="5381659" cy="4060706"/>
          </a:xfrm>
          <a:custGeom>
            <a:avLst/>
            <a:gdLst/>
            <a:ahLst/>
            <a:cxnLst/>
            <a:rect r="r" b="b" t="t" l="l"/>
            <a:pathLst>
              <a:path h="4060706" w="5381659">
                <a:moveTo>
                  <a:pt x="0" y="0"/>
                </a:moveTo>
                <a:lnTo>
                  <a:pt x="5381659" y="0"/>
                </a:lnTo>
                <a:lnTo>
                  <a:pt x="5381659" y="4060707"/>
                </a:lnTo>
                <a:lnTo>
                  <a:pt x="0" y="4060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3031403" y="6736988"/>
            <a:ext cx="5581585" cy="4211560"/>
          </a:xfrm>
          <a:custGeom>
            <a:avLst/>
            <a:gdLst/>
            <a:ahLst/>
            <a:cxnLst/>
            <a:rect r="r" b="b" t="t" l="l"/>
            <a:pathLst>
              <a:path h="4211560" w="5581585">
                <a:moveTo>
                  <a:pt x="5581585" y="4211560"/>
                </a:moveTo>
                <a:lnTo>
                  <a:pt x="0" y="4211560"/>
                </a:lnTo>
                <a:lnTo>
                  <a:pt x="0" y="0"/>
                </a:lnTo>
                <a:lnTo>
                  <a:pt x="5581585" y="0"/>
                </a:lnTo>
                <a:lnTo>
                  <a:pt x="5581585" y="42115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262283" y="1127595"/>
            <a:ext cx="6802066" cy="1310944"/>
          </a:xfrm>
          <a:custGeom>
            <a:avLst/>
            <a:gdLst/>
            <a:ahLst/>
            <a:cxnLst/>
            <a:rect r="r" b="b" t="t" l="l"/>
            <a:pathLst>
              <a:path h="1310944" w="6802066">
                <a:moveTo>
                  <a:pt x="0" y="0"/>
                </a:moveTo>
                <a:lnTo>
                  <a:pt x="6802066" y="0"/>
                </a:lnTo>
                <a:lnTo>
                  <a:pt x="6802066" y="1310944"/>
                </a:lnTo>
                <a:lnTo>
                  <a:pt x="0" y="13109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5646784" y="1460804"/>
            <a:ext cx="4914903" cy="701698"/>
          </a:xfrm>
          <a:prstGeom prst="rect">
            <a:avLst/>
          </a:prstGeom>
        </p:spPr>
        <p:txBody>
          <a:bodyPr anchor="t" rtlCol="false" tIns="0" lIns="0" bIns="0" rIns="0">
            <a:spAutoFit/>
          </a:bodyPr>
          <a:lstStyle/>
          <a:p>
            <a:pPr algn="l">
              <a:lnSpc>
                <a:spcPts val="5350"/>
              </a:lnSpc>
            </a:pPr>
            <a:r>
              <a:rPr lang="en-US" sz="5000" b="true">
                <a:solidFill>
                  <a:srgbClr val="FCFEFF"/>
                </a:solidFill>
                <a:latin typeface="Aileron Bold"/>
                <a:ea typeface="Aileron Bold"/>
                <a:cs typeface="Aileron Bold"/>
                <a:sym typeface="Aileron Bold"/>
              </a:rPr>
              <a:t>Results </a:t>
            </a:r>
          </a:p>
        </p:txBody>
      </p:sp>
      <p:sp>
        <p:nvSpPr>
          <p:cNvPr name="TextBox 9" id="9"/>
          <p:cNvSpPr txBox="true"/>
          <p:nvPr/>
        </p:nvSpPr>
        <p:spPr>
          <a:xfrm rot="0">
            <a:off x="1018354" y="2683733"/>
            <a:ext cx="16240946" cy="606034"/>
          </a:xfrm>
          <a:prstGeom prst="rect">
            <a:avLst/>
          </a:prstGeom>
        </p:spPr>
        <p:txBody>
          <a:bodyPr anchor="t" rtlCol="false" tIns="0" lIns="0" bIns="0" rIns="0">
            <a:spAutoFit/>
          </a:bodyPr>
          <a:lstStyle/>
          <a:p>
            <a:pPr algn="l">
              <a:lnSpc>
                <a:spcPts val="4708"/>
              </a:lnSpc>
              <a:spcBef>
                <a:spcPct val="0"/>
              </a:spcBef>
            </a:pPr>
            <a:r>
              <a:rPr lang="en-US" b="true" sz="4400">
                <a:solidFill>
                  <a:srgbClr val="000000"/>
                </a:solidFill>
                <a:latin typeface="Montserrat Bold"/>
                <a:ea typeface="Montserrat Bold"/>
                <a:cs typeface="Montserrat Bold"/>
                <a:sym typeface="Montserrat Bold"/>
              </a:rPr>
              <a:t>User Engagement Analysis</a:t>
            </a:r>
          </a:p>
        </p:txBody>
      </p:sp>
      <p:sp>
        <p:nvSpPr>
          <p:cNvPr name="TextBox 10" id="10"/>
          <p:cNvSpPr txBox="true"/>
          <p:nvPr/>
        </p:nvSpPr>
        <p:spPr>
          <a:xfrm rot="0">
            <a:off x="1028700" y="3464680"/>
            <a:ext cx="16240946" cy="2227655"/>
          </a:xfrm>
          <a:prstGeom prst="rect">
            <a:avLst/>
          </a:prstGeom>
        </p:spPr>
        <p:txBody>
          <a:bodyPr anchor="t" rtlCol="false" tIns="0" lIns="0" bIns="0" rIns="0">
            <a:spAutoFit/>
          </a:bodyPr>
          <a:lstStyle/>
          <a:p>
            <a:pPr algn="l">
              <a:lnSpc>
                <a:spcPts val="2995"/>
              </a:lnSpc>
            </a:pPr>
            <a:r>
              <a:rPr lang="en-US" sz="2799">
                <a:solidFill>
                  <a:srgbClr val="000000"/>
                </a:solidFill>
                <a:latin typeface="Montserrat"/>
                <a:ea typeface="Montserrat"/>
                <a:cs typeface="Montserrat"/>
                <a:sym typeface="Montserrat"/>
              </a:rPr>
              <a:t>Key Success Indicators:</a:t>
            </a:r>
          </a:p>
          <a:p>
            <a:pPr algn="l" marL="604519" indent="-302260" lvl="1">
              <a:lnSpc>
                <a:spcPts val="2995"/>
              </a:lnSpc>
              <a:buFont typeface="Arial"/>
              <a:buChar char="•"/>
            </a:pPr>
            <a:r>
              <a:rPr lang="en-US" sz="2799">
                <a:solidFill>
                  <a:srgbClr val="000000"/>
                </a:solidFill>
                <a:latin typeface="Montserrat"/>
                <a:ea typeface="Montserrat"/>
                <a:cs typeface="Montserrat"/>
                <a:sym typeface="Montserrat"/>
              </a:rPr>
              <a:t>100% session completion rate</a:t>
            </a:r>
          </a:p>
          <a:p>
            <a:pPr algn="l" marL="604519" indent="-302260" lvl="1">
              <a:lnSpc>
                <a:spcPts val="2995"/>
              </a:lnSpc>
              <a:buFont typeface="Arial"/>
              <a:buChar char="•"/>
            </a:pPr>
            <a:r>
              <a:rPr lang="en-US" sz="2799">
                <a:solidFill>
                  <a:srgbClr val="000000"/>
                </a:solidFill>
                <a:latin typeface="Montserrat"/>
                <a:ea typeface="Montserrat"/>
                <a:cs typeface="Montserrat"/>
                <a:sym typeface="Montserrat"/>
              </a:rPr>
              <a:t>Zero dropout/abandonment</a:t>
            </a:r>
          </a:p>
          <a:p>
            <a:pPr algn="l" marL="604519" indent="-302260" lvl="1">
              <a:lnSpc>
                <a:spcPts val="2995"/>
              </a:lnSpc>
              <a:buFont typeface="Arial"/>
              <a:buChar char="•"/>
            </a:pPr>
            <a:r>
              <a:rPr lang="en-US" sz="2799">
                <a:solidFill>
                  <a:srgbClr val="000000"/>
                </a:solidFill>
                <a:latin typeface="Montserrat"/>
                <a:ea typeface="Montserrat"/>
                <a:cs typeface="Montserrat"/>
                <a:sym typeface="Montserrat"/>
              </a:rPr>
              <a:t>Voluntary replay requests</a:t>
            </a:r>
          </a:p>
          <a:p>
            <a:pPr algn="l" marL="604519" indent="-302260" lvl="1">
              <a:lnSpc>
                <a:spcPts val="2995"/>
              </a:lnSpc>
              <a:buFont typeface="Arial"/>
              <a:buChar char="•"/>
            </a:pPr>
            <a:r>
              <a:rPr lang="en-US" sz="2799">
                <a:solidFill>
                  <a:srgbClr val="000000"/>
                </a:solidFill>
                <a:latin typeface="Montserrat"/>
                <a:ea typeface="Montserrat"/>
                <a:cs typeface="Montserrat"/>
                <a:sym typeface="Montserrat"/>
              </a:rPr>
              <a:t>No performance anxiety observed</a:t>
            </a:r>
          </a:p>
          <a:p>
            <a:pPr algn="l">
              <a:lnSpc>
                <a:spcPts val="2995"/>
              </a:lnSpc>
              <a:spcBef>
                <a:spcPct val="0"/>
              </a:spcBef>
            </a:pP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144000" y="1355173"/>
            <a:ext cx="10042068" cy="6664282"/>
          </a:xfrm>
          <a:custGeom>
            <a:avLst/>
            <a:gdLst/>
            <a:ahLst/>
            <a:cxnLst/>
            <a:rect r="r" b="b" t="t" l="l"/>
            <a:pathLst>
              <a:path h="6664282" w="10042068">
                <a:moveTo>
                  <a:pt x="0" y="6664282"/>
                </a:moveTo>
                <a:lnTo>
                  <a:pt x="10042068" y="6664282"/>
                </a:lnTo>
                <a:lnTo>
                  <a:pt x="10042068" y="0"/>
                </a:lnTo>
                <a:lnTo>
                  <a:pt x="0" y="0"/>
                </a:lnTo>
                <a:lnTo>
                  <a:pt x="0" y="6664282"/>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898068" y="2179650"/>
            <a:ext cx="10042068" cy="6664282"/>
          </a:xfrm>
          <a:custGeom>
            <a:avLst/>
            <a:gdLst/>
            <a:ahLst/>
            <a:cxnLst/>
            <a:rect r="r" b="b" t="t" l="l"/>
            <a:pathLst>
              <a:path h="6664282" w="10042068">
                <a:moveTo>
                  <a:pt x="10042068" y="0"/>
                </a:moveTo>
                <a:lnTo>
                  <a:pt x="0" y="0"/>
                </a:lnTo>
                <a:lnTo>
                  <a:pt x="0" y="6664282"/>
                </a:lnTo>
                <a:lnTo>
                  <a:pt x="10042068" y="6664282"/>
                </a:lnTo>
                <a:lnTo>
                  <a:pt x="10042068"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11278" y="4982792"/>
            <a:ext cx="4216232" cy="2798045"/>
          </a:xfrm>
          <a:custGeom>
            <a:avLst/>
            <a:gdLst/>
            <a:ahLst/>
            <a:cxnLst/>
            <a:rect r="r" b="b" t="t" l="l"/>
            <a:pathLst>
              <a:path h="2798045" w="4216232">
                <a:moveTo>
                  <a:pt x="0" y="0"/>
                </a:moveTo>
                <a:lnTo>
                  <a:pt x="4216232" y="0"/>
                </a:lnTo>
                <a:lnTo>
                  <a:pt x="4216232" y="2798045"/>
                </a:lnTo>
                <a:lnTo>
                  <a:pt x="0" y="2798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05789" y="-488243"/>
            <a:ext cx="5381659" cy="4060706"/>
          </a:xfrm>
          <a:custGeom>
            <a:avLst/>
            <a:gdLst/>
            <a:ahLst/>
            <a:cxnLst/>
            <a:rect r="r" b="b" t="t" l="l"/>
            <a:pathLst>
              <a:path h="4060706" w="5381659">
                <a:moveTo>
                  <a:pt x="0" y="0"/>
                </a:moveTo>
                <a:lnTo>
                  <a:pt x="5381659" y="0"/>
                </a:lnTo>
                <a:lnTo>
                  <a:pt x="5381659" y="4060707"/>
                </a:lnTo>
                <a:lnTo>
                  <a:pt x="0" y="4060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3031403" y="6736988"/>
            <a:ext cx="5581585" cy="4211560"/>
          </a:xfrm>
          <a:custGeom>
            <a:avLst/>
            <a:gdLst/>
            <a:ahLst/>
            <a:cxnLst/>
            <a:rect r="r" b="b" t="t" l="l"/>
            <a:pathLst>
              <a:path h="4211560" w="5581585">
                <a:moveTo>
                  <a:pt x="5581585" y="4211560"/>
                </a:moveTo>
                <a:lnTo>
                  <a:pt x="0" y="4211560"/>
                </a:lnTo>
                <a:lnTo>
                  <a:pt x="0" y="0"/>
                </a:lnTo>
                <a:lnTo>
                  <a:pt x="5581585" y="0"/>
                </a:lnTo>
                <a:lnTo>
                  <a:pt x="5581585" y="42115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262283" y="1127595"/>
            <a:ext cx="8104281" cy="1561916"/>
          </a:xfrm>
          <a:custGeom>
            <a:avLst/>
            <a:gdLst/>
            <a:ahLst/>
            <a:cxnLst/>
            <a:rect r="r" b="b" t="t" l="l"/>
            <a:pathLst>
              <a:path h="1561916" w="8104281">
                <a:moveTo>
                  <a:pt x="0" y="0"/>
                </a:moveTo>
                <a:lnTo>
                  <a:pt x="8104280" y="0"/>
                </a:lnTo>
                <a:lnTo>
                  <a:pt x="8104280" y="1561916"/>
                </a:lnTo>
                <a:lnTo>
                  <a:pt x="0" y="15619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Object 8" id="8"/>
          <p:cNvGraphicFramePr/>
          <p:nvPr/>
        </p:nvGraphicFramePr>
        <p:xfrm>
          <a:off x="1028700" y="3659227"/>
          <a:ext cx="7543800" cy="4400550"/>
        </p:xfrm>
        <a:graphic>
          <a:graphicData uri="http://schemas.openxmlformats.org/presentationml/2006/ole">
            <p:oleObj imgW="9042400" imgH="59055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sp>
        <p:nvSpPr>
          <p:cNvPr name="TextBox 9" id="9"/>
          <p:cNvSpPr txBox="true"/>
          <p:nvPr/>
        </p:nvSpPr>
        <p:spPr>
          <a:xfrm rot="0">
            <a:off x="5701492" y="1465911"/>
            <a:ext cx="6003835" cy="691850"/>
          </a:xfrm>
          <a:prstGeom prst="rect">
            <a:avLst/>
          </a:prstGeom>
        </p:spPr>
        <p:txBody>
          <a:bodyPr anchor="t" rtlCol="false" tIns="0" lIns="0" bIns="0" rIns="0">
            <a:spAutoFit/>
          </a:bodyPr>
          <a:lstStyle/>
          <a:p>
            <a:pPr algn="ctr">
              <a:lnSpc>
                <a:spcPts val="5679"/>
              </a:lnSpc>
            </a:pPr>
            <a:r>
              <a:rPr lang="en-US" sz="4056" b="true">
                <a:solidFill>
                  <a:srgbClr val="FCFEFF"/>
                </a:solidFill>
                <a:latin typeface="Canva Sans Bold"/>
                <a:ea typeface="Canva Sans Bold"/>
                <a:cs typeface="Canva Sans Bold"/>
                <a:sym typeface="Canva Sans Bold"/>
              </a:rPr>
              <a:t>Challenges &amp; Solutions</a:t>
            </a:r>
          </a:p>
        </p:txBody>
      </p:sp>
      <p:sp>
        <p:nvSpPr>
          <p:cNvPr name="TextBox 10" id="10"/>
          <p:cNvSpPr txBox="true"/>
          <p:nvPr/>
        </p:nvSpPr>
        <p:spPr>
          <a:xfrm rot="0">
            <a:off x="1028700" y="3070460"/>
            <a:ext cx="6905575" cy="861553"/>
          </a:xfrm>
          <a:prstGeom prst="rect">
            <a:avLst/>
          </a:prstGeom>
        </p:spPr>
        <p:txBody>
          <a:bodyPr anchor="t" rtlCol="false" tIns="0" lIns="0" bIns="0" rIns="0">
            <a:spAutoFit/>
          </a:bodyPr>
          <a:lstStyle/>
          <a:p>
            <a:pPr algn="l">
              <a:lnSpc>
                <a:spcPts val="3424"/>
              </a:lnSpc>
              <a:spcBef>
                <a:spcPct val="0"/>
              </a:spcBef>
            </a:pPr>
            <a:r>
              <a:rPr lang="en-US" b="true" sz="3200">
                <a:solidFill>
                  <a:srgbClr val="000000"/>
                </a:solidFill>
                <a:latin typeface="Aileron Bold"/>
                <a:ea typeface="Aileron Bold"/>
                <a:cs typeface="Aileron Bold"/>
                <a:sym typeface="Aileron Bold"/>
              </a:rPr>
              <a:t>Technic</a:t>
            </a:r>
            <a:r>
              <a:rPr lang="en-US" b="true" sz="3200">
                <a:solidFill>
                  <a:srgbClr val="000000"/>
                </a:solidFill>
                <a:latin typeface="Aileron Bold"/>
                <a:ea typeface="Aileron Bold"/>
                <a:cs typeface="Aileron Bold"/>
                <a:sym typeface="Aileron Bold"/>
              </a:rPr>
              <a:t>al Challenges Encountered</a:t>
            </a:r>
          </a:p>
          <a:p>
            <a:pPr algn="ctr">
              <a:lnSpc>
                <a:spcPts val="3317"/>
              </a:lnSpc>
              <a:spcBef>
                <a:spcPct val="0"/>
              </a:spcBef>
            </a:pP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144000" y="1355173"/>
            <a:ext cx="10042068" cy="6664282"/>
          </a:xfrm>
          <a:custGeom>
            <a:avLst/>
            <a:gdLst/>
            <a:ahLst/>
            <a:cxnLst/>
            <a:rect r="r" b="b" t="t" l="l"/>
            <a:pathLst>
              <a:path h="6664282" w="10042068">
                <a:moveTo>
                  <a:pt x="0" y="6664282"/>
                </a:moveTo>
                <a:lnTo>
                  <a:pt x="10042068" y="6664282"/>
                </a:lnTo>
                <a:lnTo>
                  <a:pt x="10042068" y="0"/>
                </a:lnTo>
                <a:lnTo>
                  <a:pt x="0" y="0"/>
                </a:lnTo>
                <a:lnTo>
                  <a:pt x="0" y="6664282"/>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898068" y="2179650"/>
            <a:ext cx="10042068" cy="6664282"/>
          </a:xfrm>
          <a:custGeom>
            <a:avLst/>
            <a:gdLst/>
            <a:ahLst/>
            <a:cxnLst/>
            <a:rect r="r" b="b" t="t" l="l"/>
            <a:pathLst>
              <a:path h="6664282" w="10042068">
                <a:moveTo>
                  <a:pt x="10042068" y="0"/>
                </a:moveTo>
                <a:lnTo>
                  <a:pt x="0" y="0"/>
                </a:lnTo>
                <a:lnTo>
                  <a:pt x="0" y="6664282"/>
                </a:lnTo>
                <a:lnTo>
                  <a:pt x="10042068" y="6664282"/>
                </a:lnTo>
                <a:lnTo>
                  <a:pt x="10042068"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11278" y="4982792"/>
            <a:ext cx="4216232" cy="2798045"/>
          </a:xfrm>
          <a:custGeom>
            <a:avLst/>
            <a:gdLst/>
            <a:ahLst/>
            <a:cxnLst/>
            <a:rect r="r" b="b" t="t" l="l"/>
            <a:pathLst>
              <a:path h="2798045" w="4216232">
                <a:moveTo>
                  <a:pt x="0" y="0"/>
                </a:moveTo>
                <a:lnTo>
                  <a:pt x="4216232" y="0"/>
                </a:lnTo>
                <a:lnTo>
                  <a:pt x="4216232" y="2798045"/>
                </a:lnTo>
                <a:lnTo>
                  <a:pt x="0" y="2798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05789" y="-488243"/>
            <a:ext cx="5381659" cy="4060706"/>
          </a:xfrm>
          <a:custGeom>
            <a:avLst/>
            <a:gdLst/>
            <a:ahLst/>
            <a:cxnLst/>
            <a:rect r="r" b="b" t="t" l="l"/>
            <a:pathLst>
              <a:path h="4060706" w="5381659">
                <a:moveTo>
                  <a:pt x="0" y="0"/>
                </a:moveTo>
                <a:lnTo>
                  <a:pt x="5381659" y="0"/>
                </a:lnTo>
                <a:lnTo>
                  <a:pt x="5381659" y="4060707"/>
                </a:lnTo>
                <a:lnTo>
                  <a:pt x="0" y="4060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3031403" y="6736988"/>
            <a:ext cx="5581585" cy="4211560"/>
          </a:xfrm>
          <a:custGeom>
            <a:avLst/>
            <a:gdLst/>
            <a:ahLst/>
            <a:cxnLst/>
            <a:rect r="r" b="b" t="t" l="l"/>
            <a:pathLst>
              <a:path h="4211560" w="5581585">
                <a:moveTo>
                  <a:pt x="5581585" y="4211560"/>
                </a:moveTo>
                <a:lnTo>
                  <a:pt x="0" y="4211560"/>
                </a:lnTo>
                <a:lnTo>
                  <a:pt x="0" y="0"/>
                </a:lnTo>
                <a:lnTo>
                  <a:pt x="5581585" y="0"/>
                </a:lnTo>
                <a:lnTo>
                  <a:pt x="5581585" y="42115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262283" y="1127595"/>
            <a:ext cx="8104281" cy="1561916"/>
          </a:xfrm>
          <a:custGeom>
            <a:avLst/>
            <a:gdLst/>
            <a:ahLst/>
            <a:cxnLst/>
            <a:rect r="r" b="b" t="t" l="l"/>
            <a:pathLst>
              <a:path h="1561916" w="8104281">
                <a:moveTo>
                  <a:pt x="0" y="0"/>
                </a:moveTo>
                <a:lnTo>
                  <a:pt x="8104280" y="0"/>
                </a:lnTo>
                <a:lnTo>
                  <a:pt x="8104280" y="1561916"/>
                </a:lnTo>
                <a:lnTo>
                  <a:pt x="0" y="15619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5701492" y="1465911"/>
            <a:ext cx="6003835" cy="691850"/>
          </a:xfrm>
          <a:prstGeom prst="rect">
            <a:avLst/>
          </a:prstGeom>
        </p:spPr>
        <p:txBody>
          <a:bodyPr anchor="t" rtlCol="false" tIns="0" lIns="0" bIns="0" rIns="0">
            <a:spAutoFit/>
          </a:bodyPr>
          <a:lstStyle/>
          <a:p>
            <a:pPr algn="ctr">
              <a:lnSpc>
                <a:spcPts val="5679"/>
              </a:lnSpc>
            </a:pPr>
            <a:r>
              <a:rPr lang="en-US" sz="4056" b="true">
                <a:solidFill>
                  <a:srgbClr val="FCFEFF"/>
                </a:solidFill>
                <a:latin typeface="Canva Sans Bold"/>
                <a:ea typeface="Canva Sans Bold"/>
                <a:cs typeface="Canva Sans Bold"/>
                <a:sym typeface="Canva Sans Bold"/>
              </a:rPr>
              <a:t>Challenges &amp; Solutions</a:t>
            </a:r>
          </a:p>
        </p:txBody>
      </p:sp>
      <p:sp>
        <p:nvSpPr>
          <p:cNvPr name="TextBox 9" id="9"/>
          <p:cNvSpPr txBox="true"/>
          <p:nvPr/>
        </p:nvSpPr>
        <p:spPr>
          <a:xfrm rot="0">
            <a:off x="1028700" y="2900232"/>
            <a:ext cx="6905575" cy="1094605"/>
          </a:xfrm>
          <a:prstGeom prst="rect">
            <a:avLst/>
          </a:prstGeom>
        </p:spPr>
        <p:txBody>
          <a:bodyPr anchor="t" rtlCol="false" tIns="0" lIns="0" bIns="0" rIns="0">
            <a:spAutoFit/>
          </a:bodyPr>
          <a:lstStyle/>
          <a:p>
            <a:pPr algn="l">
              <a:lnSpc>
                <a:spcPts val="4279"/>
              </a:lnSpc>
            </a:pPr>
            <a:r>
              <a:rPr lang="en-US" sz="3999" b="true">
                <a:solidFill>
                  <a:srgbClr val="000000"/>
                </a:solidFill>
                <a:latin typeface="Montserrat Bold"/>
                <a:ea typeface="Montserrat Bold"/>
                <a:cs typeface="Montserrat Bold"/>
                <a:sym typeface="Montserrat Bold"/>
              </a:rPr>
              <a:t>Development Challenges</a:t>
            </a:r>
          </a:p>
          <a:p>
            <a:pPr algn="l">
              <a:lnSpc>
                <a:spcPts val="4279"/>
              </a:lnSpc>
              <a:spcBef>
                <a:spcPct val="0"/>
              </a:spcBef>
            </a:pPr>
          </a:p>
        </p:txBody>
      </p:sp>
      <p:sp>
        <p:nvSpPr>
          <p:cNvPr name="TextBox 10" id="10"/>
          <p:cNvSpPr txBox="true"/>
          <p:nvPr/>
        </p:nvSpPr>
        <p:spPr>
          <a:xfrm rot="0">
            <a:off x="1028700" y="4032937"/>
            <a:ext cx="13253770" cy="4836612"/>
          </a:xfrm>
          <a:prstGeom prst="rect">
            <a:avLst/>
          </a:prstGeom>
        </p:spPr>
        <p:txBody>
          <a:bodyPr anchor="t" rtlCol="false" tIns="0" lIns="0" bIns="0" rIns="0">
            <a:spAutoFit/>
          </a:bodyPr>
          <a:lstStyle/>
          <a:p>
            <a:pPr algn="l">
              <a:lnSpc>
                <a:spcPts val="3512"/>
              </a:lnSpc>
              <a:spcBef>
                <a:spcPct val="0"/>
              </a:spcBef>
            </a:pPr>
            <a:r>
              <a:rPr lang="en-US" b="true" sz="3282">
                <a:solidFill>
                  <a:srgbClr val="000000"/>
                </a:solidFill>
                <a:latin typeface="Montserrat Bold"/>
                <a:ea typeface="Montserrat Bold"/>
                <a:cs typeface="Montserrat Bold"/>
                <a:sym typeface="Montserrat Bold"/>
              </a:rPr>
              <a:t>Integration Complexity:</a:t>
            </a:r>
          </a:p>
          <a:p>
            <a:pPr algn="l">
              <a:lnSpc>
                <a:spcPts val="3512"/>
              </a:lnSpc>
              <a:spcBef>
                <a:spcPct val="0"/>
              </a:spcBef>
            </a:pPr>
            <a:r>
              <a:rPr lang="en-US" sz="3282">
                <a:solidFill>
                  <a:srgbClr val="000000"/>
                </a:solidFill>
                <a:latin typeface="Montserrat"/>
                <a:ea typeface="Montserrat"/>
                <a:cs typeface="Montserrat"/>
                <a:sym typeface="Montserrat"/>
              </a:rPr>
              <a:t>Multiple API coordination (Whisper, Gemini, gTTS)</a:t>
            </a:r>
          </a:p>
          <a:p>
            <a:pPr algn="l">
              <a:lnSpc>
                <a:spcPts val="3512"/>
              </a:lnSpc>
              <a:spcBef>
                <a:spcPct val="0"/>
              </a:spcBef>
            </a:pPr>
            <a:r>
              <a:rPr lang="en-US" sz="3282">
                <a:solidFill>
                  <a:srgbClr val="000000"/>
                </a:solidFill>
                <a:latin typeface="Montserrat"/>
                <a:ea typeface="Montserrat"/>
                <a:cs typeface="Montserrat"/>
                <a:sym typeface="Montserrat"/>
              </a:rPr>
              <a:t>Solution: Modular architecture with clear interfaces</a:t>
            </a:r>
          </a:p>
          <a:p>
            <a:pPr algn="l">
              <a:lnSpc>
                <a:spcPts val="3512"/>
              </a:lnSpc>
              <a:spcBef>
                <a:spcPct val="0"/>
              </a:spcBef>
            </a:pPr>
          </a:p>
          <a:p>
            <a:pPr algn="l">
              <a:lnSpc>
                <a:spcPts val="3512"/>
              </a:lnSpc>
              <a:spcBef>
                <a:spcPct val="0"/>
              </a:spcBef>
            </a:pPr>
            <a:r>
              <a:rPr lang="en-US" b="true" sz="3282">
                <a:solidFill>
                  <a:srgbClr val="000000"/>
                </a:solidFill>
                <a:latin typeface="Montserrat Bold"/>
                <a:ea typeface="Montserrat Bold"/>
                <a:cs typeface="Montserrat Bold"/>
                <a:sym typeface="Montserrat Bold"/>
              </a:rPr>
              <a:t>Model Selection:</a:t>
            </a:r>
          </a:p>
          <a:p>
            <a:pPr algn="l">
              <a:lnSpc>
                <a:spcPts val="3512"/>
              </a:lnSpc>
              <a:spcBef>
                <a:spcPct val="0"/>
              </a:spcBef>
            </a:pPr>
            <a:r>
              <a:rPr lang="en-US" sz="3282">
                <a:solidFill>
                  <a:srgbClr val="000000"/>
                </a:solidFill>
                <a:latin typeface="Montserrat"/>
                <a:ea typeface="Montserrat"/>
                <a:cs typeface="Montserrat"/>
                <a:sym typeface="Montserrat"/>
              </a:rPr>
              <a:t>Balancing accuracy vs. speed</a:t>
            </a:r>
          </a:p>
          <a:p>
            <a:pPr algn="l">
              <a:lnSpc>
                <a:spcPts val="3512"/>
              </a:lnSpc>
              <a:spcBef>
                <a:spcPct val="0"/>
              </a:spcBef>
            </a:pPr>
            <a:r>
              <a:rPr lang="en-US" sz="3282">
                <a:solidFill>
                  <a:srgbClr val="000000"/>
                </a:solidFill>
                <a:latin typeface="Montserrat"/>
                <a:ea typeface="Montserrat"/>
                <a:cs typeface="Montserrat"/>
                <a:sym typeface="Montserrat"/>
              </a:rPr>
              <a:t>Solution: Whisper "base" model (optimal for real-time use)</a:t>
            </a:r>
          </a:p>
          <a:p>
            <a:pPr algn="l">
              <a:lnSpc>
                <a:spcPts val="3512"/>
              </a:lnSpc>
              <a:spcBef>
                <a:spcPct val="0"/>
              </a:spcBef>
            </a:pPr>
          </a:p>
          <a:p>
            <a:pPr algn="l">
              <a:lnSpc>
                <a:spcPts val="3512"/>
              </a:lnSpc>
              <a:spcBef>
                <a:spcPct val="0"/>
              </a:spcBef>
            </a:pPr>
            <a:r>
              <a:rPr lang="en-US" b="true" sz="3282">
                <a:solidFill>
                  <a:srgbClr val="000000"/>
                </a:solidFill>
                <a:latin typeface="Montserrat Bold"/>
                <a:ea typeface="Montserrat Bold"/>
                <a:cs typeface="Montserrat Bold"/>
                <a:sym typeface="Montserrat Bold"/>
              </a:rPr>
              <a:t>Prompt Engineering:</a:t>
            </a:r>
          </a:p>
          <a:p>
            <a:pPr algn="l">
              <a:lnSpc>
                <a:spcPts val="3512"/>
              </a:lnSpc>
              <a:spcBef>
                <a:spcPct val="0"/>
              </a:spcBef>
            </a:pPr>
            <a:r>
              <a:rPr lang="en-US" sz="3282">
                <a:solidFill>
                  <a:srgbClr val="000000"/>
                </a:solidFill>
                <a:latin typeface="Montserrat"/>
                <a:ea typeface="Montserrat"/>
                <a:cs typeface="Montserrat"/>
                <a:sym typeface="Montserrat"/>
              </a:rPr>
              <a:t>Ensuring consistent JSON output from Gemini</a:t>
            </a:r>
          </a:p>
          <a:p>
            <a:pPr algn="l">
              <a:lnSpc>
                <a:spcPts val="3512"/>
              </a:lnSpc>
              <a:spcBef>
                <a:spcPct val="0"/>
              </a:spcBef>
            </a:pPr>
            <a:r>
              <a:rPr lang="en-US" sz="3282">
                <a:solidFill>
                  <a:srgbClr val="000000"/>
                </a:solidFill>
                <a:latin typeface="Montserrat"/>
                <a:ea typeface="Montserrat"/>
                <a:cs typeface="Montserrat"/>
                <a:sym typeface="Montserrat"/>
              </a:rPr>
              <a:t>Solution: Strict format instructions, markdown removal logic</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144000" y="1355173"/>
            <a:ext cx="10042068" cy="6664282"/>
          </a:xfrm>
          <a:custGeom>
            <a:avLst/>
            <a:gdLst/>
            <a:ahLst/>
            <a:cxnLst/>
            <a:rect r="r" b="b" t="t" l="l"/>
            <a:pathLst>
              <a:path h="6664282" w="10042068">
                <a:moveTo>
                  <a:pt x="0" y="6664282"/>
                </a:moveTo>
                <a:lnTo>
                  <a:pt x="10042068" y="6664282"/>
                </a:lnTo>
                <a:lnTo>
                  <a:pt x="10042068" y="0"/>
                </a:lnTo>
                <a:lnTo>
                  <a:pt x="0" y="0"/>
                </a:lnTo>
                <a:lnTo>
                  <a:pt x="0" y="6664282"/>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898068" y="2179650"/>
            <a:ext cx="10042068" cy="6664282"/>
          </a:xfrm>
          <a:custGeom>
            <a:avLst/>
            <a:gdLst/>
            <a:ahLst/>
            <a:cxnLst/>
            <a:rect r="r" b="b" t="t" l="l"/>
            <a:pathLst>
              <a:path h="6664282" w="10042068">
                <a:moveTo>
                  <a:pt x="10042068" y="0"/>
                </a:moveTo>
                <a:lnTo>
                  <a:pt x="0" y="0"/>
                </a:lnTo>
                <a:lnTo>
                  <a:pt x="0" y="6664282"/>
                </a:lnTo>
                <a:lnTo>
                  <a:pt x="10042068" y="6664282"/>
                </a:lnTo>
                <a:lnTo>
                  <a:pt x="10042068"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11278" y="4982792"/>
            <a:ext cx="4216232" cy="2798045"/>
          </a:xfrm>
          <a:custGeom>
            <a:avLst/>
            <a:gdLst/>
            <a:ahLst/>
            <a:cxnLst/>
            <a:rect r="r" b="b" t="t" l="l"/>
            <a:pathLst>
              <a:path h="2798045" w="4216232">
                <a:moveTo>
                  <a:pt x="0" y="0"/>
                </a:moveTo>
                <a:lnTo>
                  <a:pt x="4216232" y="0"/>
                </a:lnTo>
                <a:lnTo>
                  <a:pt x="4216232" y="2798045"/>
                </a:lnTo>
                <a:lnTo>
                  <a:pt x="0" y="2798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05789" y="-488243"/>
            <a:ext cx="5381659" cy="4060706"/>
          </a:xfrm>
          <a:custGeom>
            <a:avLst/>
            <a:gdLst/>
            <a:ahLst/>
            <a:cxnLst/>
            <a:rect r="r" b="b" t="t" l="l"/>
            <a:pathLst>
              <a:path h="4060706" w="5381659">
                <a:moveTo>
                  <a:pt x="0" y="0"/>
                </a:moveTo>
                <a:lnTo>
                  <a:pt x="5381659" y="0"/>
                </a:lnTo>
                <a:lnTo>
                  <a:pt x="5381659" y="4060707"/>
                </a:lnTo>
                <a:lnTo>
                  <a:pt x="0" y="4060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3031403" y="6736988"/>
            <a:ext cx="5581585" cy="4211560"/>
          </a:xfrm>
          <a:custGeom>
            <a:avLst/>
            <a:gdLst/>
            <a:ahLst/>
            <a:cxnLst/>
            <a:rect r="r" b="b" t="t" l="l"/>
            <a:pathLst>
              <a:path h="4211560" w="5581585">
                <a:moveTo>
                  <a:pt x="5581585" y="4211560"/>
                </a:moveTo>
                <a:lnTo>
                  <a:pt x="0" y="4211560"/>
                </a:lnTo>
                <a:lnTo>
                  <a:pt x="0" y="0"/>
                </a:lnTo>
                <a:lnTo>
                  <a:pt x="5581585" y="0"/>
                </a:lnTo>
                <a:lnTo>
                  <a:pt x="5581585" y="42115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262283" y="1127595"/>
            <a:ext cx="8104281" cy="1561916"/>
          </a:xfrm>
          <a:custGeom>
            <a:avLst/>
            <a:gdLst/>
            <a:ahLst/>
            <a:cxnLst/>
            <a:rect r="r" b="b" t="t" l="l"/>
            <a:pathLst>
              <a:path h="1561916" w="8104281">
                <a:moveTo>
                  <a:pt x="0" y="0"/>
                </a:moveTo>
                <a:lnTo>
                  <a:pt x="8104280" y="0"/>
                </a:lnTo>
                <a:lnTo>
                  <a:pt x="8104280" y="1561916"/>
                </a:lnTo>
                <a:lnTo>
                  <a:pt x="0" y="15619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5701492" y="1465911"/>
            <a:ext cx="6003835" cy="691850"/>
          </a:xfrm>
          <a:prstGeom prst="rect">
            <a:avLst/>
          </a:prstGeom>
        </p:spPr>
        <p:txBody>
          <a:bodyPr anchor="t" rtlCol="false" tIns="0" lIns="0" bIns="0" rIns="0">
            <a:spAutoFit/>
          </a:bodyPr>
          <a:lstStyle/>
          <a:p>
            <a:pPr algn="ctr">
              <a:lnSpc>
                <a:spcPts val="5679"/>
              </a:lnSpc>
            </a:pPr>
            <a:r>
              <a:rPr lang="en-US" sz="4056" b="true">
                <a:solidFill>
                  <a:srgbClr val="FCFEFF"/>
                </a:solidFill>
                <a:latin typeface="Canva Sans Bold"/>
                <a:ea typeface="Canva Sans Bold"/>
                <a:cs typeface="Canva Sans Bold"/>
                <a:sym typeface="Canva Sans Bold"/>
              </a:rPr>
              <a:t>Challenges &amp; Solutions</a:t>
            </a:r>
          </a:p>
        </p:txBody>
      </p:sp>
      <p:sp>
        <p:nvSpPr>
          <p:cNvPr name="TextBox 9" id="9"/>
          <p:cNvSpPr txBox="true"/>
          <p:nvPr/>
        </p:nvSpPr>
        <p:spPr>
          <a:xfrm rot="0">
            <a:off x="1131253" y="3106000"/>
            <a:ext cx="11048366" cy="551748"/>
          </a:xfrm>
          <a:prstGeom prst="rect">
            <a:avLst/>
          </a:prstGeom>
        </p:spPr>
        <p:txBody>
          <a:bodyPr anchor="t" rtlCol="false" tIns="0" lIns="0" bIns="0" rIns="0">
            <a:spAutoFit/>
          </a:bodyPr>
          <a:lstStyle/>
          <a:p>
            <a:pPr algn="l">
              <a:lnSpc>
                <a:spcPts val="4279"/>
              </a:lnSpc>
              <a:spcBef>
                <a:spcPct val="0"/>
              </a:spcBef>
            </a:pPr>
            <a:r>
              <a:rPr lang="en-US" b="true" sz="3999">
                <a:solidFill>
                  <a:srgbClr val="000000"/>
                </a:solidFill>
                <a:latin typeface="Montserrat Bold"/>
                <a:ea typeface="Montserrat Bold"/>
                <a:cs typeface="Montserrat Bold"/>
                <a:sym typeface="Montserrat Bold"/>
              </a:rPr>
              <a:t>Limitations and Mitigation Strategies</a:t>
            </a:r>
          </a:p>
        </p:txBody>
      </p:sp>
      <p:sp>
        <p:nvSpPr>
          <p:cNvPr name="TextBox 10" id="10"/>
          <p:cNvSpPr txBox="true"/>
          <p:nvPr/>
        </p:nvSpPr>
        <p:spPr>
          <a:xfrm rot="0">
            <a:off x="1028700" y="3686390"/>
            <a:ext cx="13253770" cy="6333015"/>
          </a:xfrm>
          <a:prstGeom prst="rect">
            <a:avLst/>
          </a:prstGeom>
        </p:spPr>
        <p:txBody>
          <a:bodyPr anchor="t" rtlCol="false" tIns="0" lIns="0" bIns="0" rIns="0">
            <a:spAutoFit/>
          </a:bodyPr>
          <a:lstStyle/>
          <a:p>
            <a:pPr algn="l" marL="600789" indent="-300394" lvl="1">
              <a:lnSpc>
                <a:spcPts val="2977"/>
              </a:lnSpc>
              <a:buAutoNum type="arabicPeriod" startAt="1"/>
            </a:pPr>
            <a:r>
              <a:rPr lang="en-US" b="true" sz="2782">
                <a:solidFill>
                  <a:srgbClr val="000000"/>
                </a:solidFill>
                <a:latin typeface="Montserrat Bold"/>
                <a:ea typeface="Montserrat Bold"/>
                <a:cs typeface="Montserrat Bold"/>
                <a:sym typeface="Montserrat Bold"/>
              </a:rPr>
              <a:t>Sample Size (N=2)</a:t>
            </a:r>
          </a:p>
          <a:p>
            <a:pPr algn="l" marL="1201577" indent="-400526" lvl="2">
              <a:lnSpc>
                <a:spcPts val="2977"/>
              </a:lnSpc>
              <a:buFont typeface="Arial"/>
              <a:buChar char="⚬"/>
            </a:pPr>
            <a:r>
              <a:rPr lang="en-US" sz="2782">
                <a:solidFill>
                  <a:srgbClr val="000000"/>
                </a:solidFill>
                <a:latin typeface="Montserrat"/>
                <a:ea typeface="Montserrat"/>
                <a:cs typeface="Montserrat"/>
                <a:sym typeface="Montserrat"/>
              </a:rPr>
              <a:t>Impact: Cannot generalize findings statistically</a:t>
            </a:r>
          </a:p>
          <a:p>
            <a:pPr algn="l" marL="1201577" indent="-400526" lvl="2">
              <a:lnSpc>
                <a:spcPts val="2977"/>
              </a:lnSpc>
              <a:buFont typeface="Arial"/>
              <a:buChar char="⚬"/>
            </a:pPr>
            <a:r>
              <a:rPr lang="en-US" sz="2782">
                <a:solidFill>
                  <a:srgbClr val="000000"/>
                </a:solidFill>
                <a:latin typeface="Montserrat"/>
                <a:ea typeface="Montserrat"/>
                <a:cs typeface="Montserrat"/>
                <a:sym typeface="Montserrat"/>
              </a:rPr>
              <a:t>Mitigation: Acknowledged in research; larger study planned (N≥20)</a:t>
            </a:r>
          </a:p>
          <a:p>
            <a:pPr algn="l" marL="600789" indent="-300394" lvl="1">
              <a:lnSpc>
                <a:spcPts val="2977"/>
              </a:lnSpc>
              <a:buAutoNum type="arabicPeriod" startAt="1"/>
            </a:pPr>
            <a:r>
              <a:rPr lang="en-US" b="true" sz="2782">
                <a:solidFill>
                  <a:srgbClr val="000000"/>
                </a:solidFill>
                <a:latin typeface="Montserrat Bold"/>
                <a:ea typeface="Montserrat Bold"/>
                <a:cs typeface="Montserrat Bold"/>
                <a:sym typeface="Montserrat Bold"/>
              </a:rPr>
              <a:t>Language Support (English only)</a:t>
            </a:r>
          </a:p>
          <a:p>
            <a:pPr algn="l" marL="1201577" indent="-400526" lvl="2">
              <a:lnSpc>
                <a:spcPts val="2977"/>
              </a:lnSpc>
              <a:buFont typeface="Arial"/>
              <a:buChar char="⚬"/>
            </a:pPr>
            <a:r>
              <a:rPr lang="en-US" sz="2782">
                <a:solidFill>
                  <a:srgbClr val="000000"/>
                </a:solidFill>
                <a:latin typeface="Montserrat"/>
                <a:ea typeface="Montserrat"/>
                <a:cs typeface="Montserrat"/>
                <a:sym typeface="Montserrat"/>
              </a:rPr>
              <a:t>Impact: Limited to monolingual English speakers</a:t>
            </a:r>
          </a:p>
          <a:p>
            <a:pPr algn="l" marL="1201577" indent="-400526" lvl="2">
              <a:lnSpc>
                <a:spcPts val="2977"/>
              </a:lnSpc>
              <a:buFont typeface="Arial"/>
              <a:buChar char="⚬"/>
            </a:pPr>
            <a:r>
              <a:rPr lang="en-US" sz="2782">
                <a:solidFill>
                  <a:srgbClr val="000000"/>
                </a:solidFill>
                <a:latin typeface="Montserrat"/>
                <a:ea typeface="Montserrat"/>
                <a:cs typeface="Montserrat"/>
                <a:sym typeface="Montserrat"/>
              </a:rPr>
              <a:t>Mitigation: Multilingual expansion planned (Spanish, Mandarin)</a:t>
            </a:r>
          </a:p>
          <a:p>
            <a:pPr algn="l" marL="600789" indent="-300394" lvl="1">
              <a:lnSpc>
                <a:spcPts val="2977"/>
              </a:lnSpc>
              <a:buAutoNum type="arabicPeriod" startAt="1"/>
            </a:pPr>
            <a:r>
              <a:rPr lang="en-US" b="true" sz="2782">
                <a:solidFill>
                  <a:srgbClr val="000000"/>
                </a:solidFill>
                <a:latin typeface="Montserrat Bold"/>
                <a:ea typeface="Montserrat Bold"/>
                <a:cs typeface="Montserrat Bold"/>
                <a:sym typeface="Montserrat Bold"/>
              </a:rPr>
              <a:t>Environmental Dependency</a:t>
            </a:r>
          </a:p>
          <a:p>
            <a:pPr algn="l" marL="1201577" indent="-400526" lvl="2">
              <a:lnSpc>
                <a:spcPts val="2977"/>
              </a:lnSpc>
              <a:buFont typeface="Arial"/>
              <a:buChar char="⚬"/>
            </a:pPr>
            <a:r>
              <a:rPr lang="en-US" sz="2782">
                <a:solidFill>
                  <a:srgbClr val="000000"/>
                </a:solidFill>
                <a:latin typeface="Montserrat"/>
                <a:ea typeface="Montserrat"/>
                <a:cs typeface="Montserrat"/>
                <a:sym typeface="Montserrat"/>
              </a:rPr>
              <a:t>Impact: 37.5% of sessions affected by noise</a:t>
            </a:r>
          </a:p>
          <a:p>
            <a:pPr algn="l" marL="1201577" indent="-400526" lvl="2">
              <a:lnSpc>
                <a:spcPts val="2977"/>
              </a:lnSpc>
              <a:buFont typeface="Arial"/>
              <a:buChar char="⚬"/>
            </a:pPr>
            <a:r>
              <a:rPr lang="en-US" sz="2782">
                <a:solidFill>
                  <a:srgbClr val="000000"/>
                </a:solidFill>
                <a:latin typeface="Montserrat"/>
                <a:ea typeface="Montserrat"/>
                <a:cs typeface="Montserrat"/>
                <a:sym typeface="Montserrat"/>
              </a:rPr>
              <a:t>Mitigation: User guidelines, noise detection algorithms (future)</a:t>
            </a:r>
          </a:p>
          <a:p>
            <a:pPr algn="l" marL="600789" indent="-300394" lvl="1">
              <a:lnSpc>
                <a:spcPts val="2977"/>
              </a:lnSpc>
              <a:buAutoNum type="arabicPeriod" startAt="1"/>
            </a:pPr>
            <a:r>
              <a:rPr lang="en-US" b="true" sz="2782">
                <a:solidFill>
                  <a:srgbClr val="000000"/>
                </a:solidFill>
                <a:latin typeface="Montserrat Bold"/>
                <a:ea typeface="Montserrat Bold"/>
                <a:cs typeface="Montserrat Bold"/>
                <a:sym typeface="Montserrat Bold"/>
              </a:rPr>
              <a:t>Baseline Intelligibility Requirement (&gt;70%)</a:t>
            </a:r>
          </a:p>
          <a:p>
            <a:pPr algn="l" marL="1201577" indent="-400526" lvl="2">
              <a:lnSpc>
                <a:spcPts val="2977"/>
              </a:lnSpc>
              <a:buFont typeface="Arial"/>
              <a:buChar char="⚬"/>
            </a:pPr>
            <a:r>
              <a:rPr lang="en-US" b="true" sz="2782">
                <a:solidFill>
                  <a:srgbClr val="000000"/>
                </a:solidFill>
                <a:latin typeface="Montserrat Bold"/>
                <a:ea typeface="Montserrat Bold"/>
                <a:cs typeface="Montserrat Bold"/>
                <a:sym typeface="Montserrat Bold"/>
              </a:rPr>
              <a:t>I</a:t>
            </a:r>
            <a:r>
              <a:rPr lang="en-US" sz="2782">
                <a:solidFill>
                  <a:srgbClr val="000000"/>
                </a:solidFill>
                <a:latin typeface="Montserrat"/>
                <a:ea typeface="Montserrat"/>
                <a:cs typeface="Montserrat"/>
                <a:sym typeface="Montserrat"/>
              </a:rPr>
              <a:t>mpact: Not suitable for severe speech disorders</a:t>
            </a:r>
          </a:p>
          <a:p>
            <a:pPr algn="l" marL="1201577" indent="-400526" lvl="2">
              <a:lnSpc>
                <a:spcPts val="2977"/>
              </a:lnSpc>
              <a:buFont typeface="Arial"/>
              <a:buChar char="⚬"/>
            </a:pPr>
            <a:r>
              <a:rPr lang="en-US" sz="2782">
                <a:solidFill>
                  <a:srgbClr val="000000"/>
                </a:solidFill>
                <a:latin typeface="Montserrat"/>
                <a:ea typeface="Montserrat"/>
                <a:cs typeface="Montserrat"/>
                <a:sym typeface="Montserrat"/>
              </a:rPr>
              <a:t>Mitigation: Positioned as a supplementary tool, not replacement for therapy</a:t>
            </a:r>
          </a:p>
          <a:p>
            <a:pPr algn="l" marL="600789" indent="-300394" lvl="1">
              <a:lnSpc>
                <a:spcPts val="2977"/>
              </a:lnSpc>
              <a:buAutoNum type="arabicPeriod" startAt="1"/>
            </a:pPr>
            <a:r>
              <a:rPr lang="en-US" b="true" sz="2782">
                <a:solidFill>
                  <a:srgbClr val="000000"/>
                </a:solidFill>
                <a:latin typeface="Montserrat Bold"/>
                <a:ea typeface="Montserrat Bold"/>
                <a:cs typeface="Montserrat Bold"/>
                <a:sym typeface="Montserrat Bold"/>
              </a:rPr>
              <a:t>Internet Connectivity Required</a:t>
            </a:r>
          </a:p>
          <a:p>
            <a:pPr algn="l" marL="1201577" indent="-400526" lvl="2">
              <a:lnSpc>
                <a:spcPts val="2977"/>
              </a:lnSpc>
              <a:buFont typeface="Arial"/>
              <a:buChar char="⚬"/>
            </a:pPr>
            <a:r>
              <a:rPr lang="en-US" sz="2782">
                <a:solidFill>
                  <a:srgbClr val="000000"/>
                </a:solidFill>
                <a:latin typeface="Montserrat"/>
                <a:ea typeface="Montserrat"/>
                <a:cs typeface="Montserrat"/>
                <a:sym typeface="Montserrat"/>
              </a:rPr>
              <a:t>Impact: Limits offline use</a:t>
            </a:r>
          </a:p>
          <a:p>
            <a:pPr algn="l" marL="1201577" indent="-400526" lvl="2">
              <a:lnSpc>
                <a:spcPts val="2977"/>
              </a:lnSpc>
              <a:buFont typeface="Arial"/>
              <a:buChar char="⚬"/>
            </a:pPr>
            <a:r>
              <a:rPr lang="en-US" sz="2782">
                <a:solidFill>
                  <a:srgbClr val="000000"/>
                </a:solidFill>
                <a:latin typeface="Montserrat"/>
                <a:ea typeface="Montserrat"/>
                <a:cs typeface="Montserrat"/>
                <a:sym typeface="Montserrat"/>
              </a:rPr>
              <a:t>Mitigation: Offline mode development planned</a:t>
            </a:r>
          </a:p>
          <a:p>
            <a:pPr algn="l">
              <a:lnSpc>
                <a:spcPts val="2977"/>
              </a:lnSpc>
              <a:spcBef>
                <a:spcPct val="0"/>
              </a:spcBef>
            </a:pP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144000" y="1355173"/>
            <a:ext cx="10042068" cy="6664282"/>
          </a:xfrm>
          <a:custGeom>
            <a:avLst/>
            <a:gdLst/>
            <a:ahLst/>
            <a:cxnLst/>
            <a:rect r="r" b="b" t="t" l="l"/>
            <a:pathLst>
              <a:path h="6664282" w="10042068">
                <a:moveTo>
                  <a:pt x="0" y="6664282"/>
                </a:moveTo>
                <a:lnTo>
                  <a:pt x="10042068" y="6664282"/>
                </a:lnTo>
                <a:lnTo>
                  <a:pt x="10042068" y="0"/>
                </a:lnTo>
                <a:lnTo>
                  <a:pt x="0" y="0"/>
                </a:lnTo>
                <a:lnTo>
                  <a:pt x="0" y="6664282"/>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898068" y="2179650"/>
            <a:ext cx="10042068" cy="6664282"/>
          </a:xfrm>
          <a:custGeom>
            <a:avLst/>
            <a:gdLst/>
            <a:ahLst/>
            <a:cxnLst/>
            <a:rect r="r" b="b" t="t" l="l"/>
            <a:pathLst>
              <a:path h="6664282" w="10042068">
                <a:moveTo>
                  <a:pt x="10042068" y="0"/>
                </a:moveTo>
                <a:lnTo>
                  <a:pt x="0" y="0"/>
                </a:lnTo>
                <a:lnTo>
                  <a:pt x="0" y="6664282"/>
                </a:lnTo>
                <a:lnTo>
                  <a:pt x="10042068" y="6664282"/>
                </a:lnTo>
                <a:lnTo>
                  <a:pt x="10042068"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11278" y="4982792"/>
            <a:ext cx="4216232" cy="2798045"/>
          </a:xfrm>
          <a:custGeom>
            <a:avLst/>
            <a:gdLst/>
            <a:ahLst/>
            <a:cxnLst/>
            <a:rect r="r" b="b" t="t" l="l"/>
            <a:pathLst>
              <a:path h="2798045" w="4216232">
                <a:moveTo>
                  <a:pt x="0" y="0"/>
                </a:moveTo>
                <a:lnTo>
                  <a:pt x="4216232" y="0"/>
                </a:lnTo>
                <a:lnTo>
                  <a:pt x="4216232" y="2798045"/>
                </a:lnTo>
                <a:lnTo>
                  <a:pt x="0" y="2798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05789" y="-488243"/>
            <a:ext cx="5381659" cy="4060706"/>
          </a:xfrm>
          <a:custGeom>
            <a:avLst/>
            <a:gdLst/>
            <a:ahLst/>
            <a:cxnLst/>
            <a:rect r="r" b="b" t="t" l="l"/>
            <a:pathLst>
              <a:path h="4060706" w="5381659">
                <a:moveTo>
                  <a:pt x="0" y="0"/>
                </a:moveTo>
                <a:lnTo>
                  <a:pt x="5381659" y="0"/>
                </a:lnTo>
                <a:lnTo>
                  <a:pt x="5381659" y="4060707"/>
                </a:lnTo>
                <a:lnTo>
                  <a:pt x="0" y="4060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3031403" y="6736988"/>
            <a:ext cx="5581585" cy="4211560"/>
          </a:xfrm>
          <a:custGeom>
            <a:avLst/>
            <a:gdLst/>
            <a:ahLst/>
            <a:cxnLst/>
            <a:rect r="r" b="b" t="t" l="l"/>
            <a:pathLst>
              <a:path h="4211560" w="5581585">
                <a:moveTo>
                  <a:pt x="5581585" y="4211560"/>
                </a:moveTo>
                <a:lnTo>
                  <a:pt x="0" y="4211560"/>
                </a:lnTo>
                <a:lnTo>
                  <a:pt x="0" y="0"/>
                </a:lnTo>
                <a:lnTo>
                  <a:pt x="5581585" y="0"/>
                </a:lnTo>
                <a:lnTo>
                  <a:pt x="5581585" y="42115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590945" y="1186195"/>
            <a:ext cx="6887877" cy="1327482"/>
          </a:xfrm>
          <a:custGeom>
            <a:avLst/>
            <a:gdLst/>
            <a:ahLst/>
            <a:cxnLst/>
            <a:rect r="r" b="b" t="t" l="l"/>
            <a:pathLst>
              <a:path h="1327482" w="6887877">
                <a:moveTo>
                  <a:pt x="0" y="0"/>
                </a:moveTo>
                <a:lnTo>
                  <a:pt x="6887877" y="0"/>
                </a:lnTo>
                <a:lnTo>
                  <a:pt x="6887877" y="1327481"/>
                </a:lnTo>
                <a:lnTo>
                  <a:pt x="0" y="13274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5274231" y="1367018"/>
            <a:ext cx="6003835" cy="812633"/>
          </a:xfrm>
          <a:prstGeom prst="rect">
            <a:avLst/>
          </a:prstGeom>
        </p:spPr>
        <p:txBody>
          <a:bodyPr anchor="t" rtlCol="false" tIns="0" lIns="0" bIns="0" rIns="0">
            <a:spAutoFit/>
          </a:bodyPr>
          <a:lstStyle/>
          <a:p>
            <a:pPr algn="ctr">
              <a:lnSpc>
                <a:spcPts val="6659"/>
              </a:lnSpc>
            </a:pPr>
            <a:r>
              <a:rPr lang="en-US" sz="4756" b="true">
                <a:solidFill>
                  <a:srgbClr val="FCFEFF"/>
                </a:solidFill>
                <a:latin typeface="Canva Sans Bold"/>
                <a:ea typeface="Canva Sans Bold"/>
                <a:cs typeface="Canva Sans Bold"/>
                <a:sym typeface="Canva Sans Bold"/>
              </a:rPr>
              <a:t>Future Work</a:t>
            </a:r>
          </a:p>
        </p:txBody>
      </p:sp>
      <p:sp>
        <p:nvSpPr>
          <p:cNvPr name="TextBox 9" id="9"/>
          <p:cNvSpPr txBox="true"/>
          <p:nvPr/>
        </p:nvSpPr>
        <p:spPr>
          <a:xfrm rot="0">
            <a:off x="1028700" y="4057865"/>
            <a:ext cx="14054357" cy="4493284"/>
          </a:xfrm>
          <a:prstGeom prst="rect">
            <a:avLst/>
          </a:prstGeom>
        </p:spPr>
        <p:txBody>
          <a:bodyPr anchor="t" rtlCol="false" tIns="0" lIns="0" bIns="0" rIns="0">
            <a:spAutoFit/>
          </a:bodyPr>
          <a:lstStyle/>
          <a:p>
            <a:pPr algn="l" marL="714447" indent="-357224" lvl="1">
              <a:lnSpc>
                <a:spcPts val="3540"/>
              </a:lnSpc>
              <a:buAutoNum type="arabicPeriod" startAt="1"/>
            </a:pPr>
            <a:r>
              <a:rPr lang="en-US" b="true" sz="3309">
                <a:solidFill>
                  <a:srgbClr val="000000"/>
                </a:solidFill>
                <a:latin typeface="Aileron Bold"/>
                <a:ea typeface="Aileron Bold"/>
                <a:cs typeface="Aileron Bold"/>
                <a:sym typeface="Aileron Bold"/>
              </a:rPr>
              <a:t> Multilingual Support: </a:t>
            </a:r>
            <a:r>
              <a:rPr lang="en-US" sz="3309">
                <a:solidFill>
                  <a:srgbClr val="000000"/>
                </a:solidFill>
                <a:latin typeface="Aileron"/>
                <a:ea typeface="Aileron"/>
                <a:cs typeface="Aileron"/>
                <a:sym typeface="Aileron"/>
              </a:rPr>
              <a:t>Spanish and Mandarin language models</a:t>
            </a:r>
          </a:p>
          <a:p>
            <a:pPr algn="l" marL="714447" indent="-357224" lvl="1">
              <a:lnSpc>
                <a:spcPts val="3540"/>
              </a:lnSpc>
              <a:buAutoNum type="arabicPeriod" startAt="1"/>
            </a:pPr>
            <a:r>
              <a:rPr lang="en-US" sz="3309">
                <a:solidFill>
                  <a:srgbClr val="000000"/>
                </a:solidFill>
                <a:latin typeface="Aileron"/>
                <a:ea typeface="Aileron"/>
                <a:cs typeface="Aileron"/>
                <a:sym typeface="Aileron"/>
              </a:rPr>
              <a:t> </a:t>
            </a:r>
            <a:r>
              <a:rPr lang="en-US" b="true" sz="3309">
                <a:solidFill>
                  <a:srgbClr val="000000"/>
                </a:solidFill>
                <a:latin typeface="Aileron Bold"/>
                <a:ea typeface="Aileron Bold"/>
                <a:cs typeface="Aileron Bold"/>
                <a:sym typeface="Aileron Bold"/>
              </a:rPr>
              <a:t>Content Library Expansion: </a:t>
            </a:r>
            <a:r>
              <a:rPr lang="en-US" sz="3309">
                <a:solidFill>
                  <a:srgbClr val="000000"/>
                </a:solidFill>
                <a:latin typeface="Aileron"/>
                <a:ea typeface="Aileron"/>
                <a:cs typeface="Aileron"/>
                <a:sym typeface="Aileron"/>
              </a:rPr>
              <a:t>50+ picture prompts across diverse categories</a:t>
            </a:r>
          </a:p>
          <a:p>
            <a:pPr algn="l" marL="714447" indent="-357224" lvl="1">
              <a:lnSpc>
                <a:spcPts val="3540"/>
              </a:lnSpc>
              <a:buAutoNum type="arabicPeriod" startAt="1"/>
            </a:pPr>
            <a:r>
              <a:rPr lang="en-US" sz="3309">
                <a:solidFill>
                  <a:srgbClr val="000000"/>
                </a:solidFill>
                <a:latin typeface="Aileron"/>
                <a:ea typeface="Aileron"/>
                <a:cs typeface="Aileron"/>
                <a:sym typeface="Aileron"/>
              </a:rPr>
              <a:t> </a:t>
            </a:r>
            <a:r>
              <a:rPr lang="en-US" b="true" sz="3309">
                <a:solidFill>
                  <a:srgbClr val="000000"/>
                </a:solidFill>
                <a:latin typeface="Aileron Bold"/>
                <a:ea typeface="Aileron Bold"/>
                <a:cs typeface="Aileron Bold"/>
                <a:sym typeface="Aileron Bold"/>
              </a:rPr>
              <a:t>Customization Options: </a:t>
            </a:r>
            <a:r>
              <a:rPr lang="en-US" sz="3309">
                <a:solidFill>
                  <a:srgbClr val="000000"/>
                </a:solidFill>
                <a:latin typeface="Aileron"/>
                <a:ea typeface="Aileron"/>
                <a:cs typeface="Aileron"/>
                <a:sym typeface="Aileron"/>
              </a:rPr>
              <a:t>Parent-input interests (dinosaurs, princesses, sports)</a:t>
            </a:r>
          </a:p>
          <a:p>
            <a:pPr algn="l" marL="714447" indent="-357224" lvl="1">
              <a:lnSpc>
                <a:spcPts val="3540"/>
              </a:lnSpc>
              <a:buAutoNum type="arabicPeriod" startAt="1"/>
            </a:pPr>
            <a:r>
              <a:rPr lang="en-US" sz="3309">
                <a:solidFill>
                  <a:srgbClr val="000000"/>
                </a:solidFill>
                <a:latin typeface="Aileron"/>
                <a:ea typeface="Aileron"/>
                <a:cs typeface="Aileron"/>
                <a:sym typeface="Aileron"/>
              </a:rPr>
              <a:t> </a:t>
            </a:r>
            <a:r>
              <a:rPr lang="en-US" b="true" sz="3309">
                <a:solidFill>
                  <a:srgbClr val="000000"/>
                </a:solidFill>
                <a:latin typeface="Aileron Bold"/>
                <a:ea typeface="Aileron Bold"/>
                <a:cs typeface="Aileron Bold"/>
                <a:sym typeface="Aileron Bold"/>
              </a:rPr>
              <a:t>Advanced Analytics: </a:t>
            </a:r>
            <a:r>
              <a:rPr lang="en-US" sz="3309">
                <a:solidFill>
                  <a:srgbClr val="000000"/>
                </a:solidFill>
                <a:latin typeface="Aileron"/>
                <a:ea typeface="Aileron"/>
                <a:cs typeface="Aileron"/>
                <a:sym typeface="Aileron"/>
              </a:rPr>
              <a:t>Predictive modeling for intervention recommendations</a:t>
            </a:r>
          </a:p>
          <a:p>
            <a:pPr algn="l" marL="714447" indent="-357224" lvl="1">
              <a:lnSpc>
                <a:spcPts val="3540"/>
              </a:lnSpc>
              <a:buAutoNum type="arabicPeriod" startAt="1"/>
            </a:pPr>
            <a:r>
              <a:rPr lang="en-US" sz="3309">
                <a:solidFill>
                  <a:srgbClr val="000000"/>
                </a:solidFill>
                <a:latin typeface="Aileron"/>
                <a:ea typeface="Aileron"/>
                <a:cs typeface="Aileron"/>
                <a:sym typeface="Aileron"/>
              </a:rPr>
              <a:t> </a:t>
            </a:r>
            <a:r>
              <a:rPr lang="en-US" b="true" sz="3309">
                <a:solidFill>
                  <a:srgbClr val="000000"/>
                </a:solidFill>
                <a:latin typeface="Aileron Bold"/>
                <a:ea typeface="Aileron Bold"/>
                <a:cs typeface="Aileron Bold"/>
                <a:sym typeface="Aileron Bold"/>
              </a:rPr>
              <a:t>Voice Cloning: </a:t>
            </a:r>
            <a:r>
              <a:rPr lang="en-US" sz="3309">
                <a:solidFill>
                  <a:srgbClr val="000000"/>
                </a:solidFill>
                <a:latin typeface="Aileron"/>
                <a:ea typeface="Aileron"/>
                <a:cs typeface="Aileron"/>
                <a:sym typeface="Aileron"/>
              </a:rPr>
              <a:t>Familiar voice (parent/caregiver) for read-aloud</a:t>
            </a:r>
          </a:p>
          <a:p>
            <a:pPr algn="l" marL="714447" indent="-357224" lvl="1">
              <a:lnSpc>
                <a:spcPts val="3540"/>
              </a:lnSpc>
              <a:buAutoNum type="arabicPeriod" startAt="1"/>
            </a:pPr>
            <a:r>
              <a:rPr lang="en-US" sz="3309">
                <a:solidFill>
                  <a:srgbClr val="000000"/>
                </a:solidFill>
                <a:latin typeface="Aileron"/>
                <a:ea typeface="Aileron"/>
                <a:cs typeface="Aileron"/>
                <a:sym typeface="Aileron"/>
              </a:rPr>
              <a:t> </a:t>
            </a:r>
            <a:r>
              <a:rPr lang="en-US" b="true" sz="3309">
                <a:solidFill>
                  <a:srgbClr val="000000"/>
                </a:solidFill>
                <a:latin typeface="Aileron Bold"/>
                <a:ea typeface="Aileron Bold"/>
                <a:cs typeface="Aileron Bold"/>
                <a:sym typeface="Aileron Bold"/>
              </a:rPr>
              <a:t>Offline Mode</a:t>
            </a:r>
            <a:r>
              <a:rPr lang="en-US" sz="3309">
                <a:solidFill>
                  <a:srgbClr val="000000"/>
                </a:solidFill>
                <a:latin typeface="Aileron"/>
                <a:ea typeface="Aileron"/>
                <a:cs typeface="Aileron"/>
                <a:sym typeface="Aileron"/>
              </a:rPr>
              <a:t>: Local model processing for basic functionality</a:t>
            </a:r>
          </a:p>
          <a:p>
            <a:pPr algn="l" marL="714447" indent="-357224" lvl="1">
              <a:lnSpc>
                <a:spcPts val="3540"/>
              </a:lnSpc>
              <a:spcBef>
                <a:spcPct val="0"/>
              </a:spcBef>
              <a:buAutoNum type="arabicPeriod" startAt="1"/>
            </a:pPr>
            <a:r>
              <a:rPr lang="en-US" sz="3309">
                <a:solidFill>
                  <a:srgbClr val="000000"/>
                </a:solidFill>
                <a:latin typeface="Aileron"/>
                <a:ea typeface="Aileron"/>
                <a:cs typeface="Aileron"/>
                <a:sym typeface="Aileron"/>
              </a:rPr>
              <a:t> </a:t>
            </a:r>
            <a:r>
              <a:rPr lang="en-US" b="true" sz="3309">
                <a:solidFill>
                  <a:srgbClr val="000000"/>
                </a:solidFill>
                <a:latin typeface="Aileron Bold"/>
                <a:ea typeface="Aileron Bold"/>
                <a:cs typeface="Aileron Bold"/>
                <a:sym typeface="Aileron Bold"/>
              </a:rPr>
              <a:t>Multi-Child Profiles</a:t>
            </a:r>
            <a:r>
              <a:rPr lang="en-US" sz="3309">
                <a:solidFill>
                  <a:srgbClr val="000000"/>
                </a:solidFill>
                <a:latin typeface="Aileron"/>
                <a:ea typeface="Aileron"/>
                <a:cs typeface="Aileron"/>
                <a:sym typeface="Aileron"/>
              </a:rPr>
              <a:t>: Support sibling usage with separate tracking</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144000" y="1355173"/>
            <a:ext cx="10042068" cy="6664282"/>
          </a:xfrm>
          <a:custGeom>
            <a:avLst/>
            <a:gdLst/>
            <a:ahLst/>
            <a:cxnLst/>
            <a:rect r="r" b="b" t="t" l="l"/>
            <a:pathLst>
              <a:path h="6664282" w="10042068">
                <a:moveTo>
                  <a:pt x="0" y="6664282"/>
                </a:moveTo>
                <a:lnTo>
                  <a:pt x="10042068" y="6664282"/>
                </a:lnTo>
                <a:lnTo>
                  <a:pt x="10042068" y="0"/>
                </a:lnTo>
                <a:lnTo>
                  <a:pt x="0" y="0"/>
                </a:lnTo>
                <a:lnTo>
                  <a:pt x="0" y="6664282"/>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898068" y="2179650"/>
            <a:ext cx="10042068" cy="6664282"/>
          </a:xfrm>
          <a:custGeom>
            <a:avLst/>
            <a:gdLst/>
            <a:ahLst/>
            <a:cxnLst/>
            <a:rect r="r" b="b" t="t" l="l"/>
            <a:pathLst>
              <a:path h="6664282" w="10042068">
                <a:moveTo>
                  <a:pt x="10042068" y="0"/>
                </a:moveTo>
                <a:lnTo>
                  <a:pt x="0" y="0"/>
                </a:lnTo>
                <a:lnTo>
                  <a:pt x="0" y="6664282"/>
                </a:lnTo>
                <a:lnTo>
                  <a:pt x="10042068" y="6664282"/>
                </a:lnTo>
                <a:lnTo>
                  <a:pt x="10042068"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11278" y="4982792"/>
            <a:ext cx="4216232" cy="2798045"/>
          </a:xfrm>
          <a:custGeom>
            <a:avLst/>
            <a:gdLst/>
            <a:ahLst/>
            <a:cxnLst/>
            <a:rect r="r" b="b" t="t" l="l"/>
            <a:pathLst>
              <a:path h="2798045" w="4216232">
                <a:moveTo>
                  <a:pt x="0" y="0"/>
                </a:moveTo>
                <a:lnTo>
                  <a:pt x="4216232" y="0"/>
                </a:lnTo>
                <a:lnTo>
                  <a:pt x="4216232" y="2798045"/>
                </a:lnTo>
                <a:lnTo>
                  <a:pt x="0" y="2798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05789" y="-488243"/>
            <a:ext cx="5381659" cy="4060706"/>
          </a:xfrm>
          <a:custGeom>
            <a:avLst/>
            <a:gdLst/>
            <a:ahLst/>
            <a:cxnLst/>
            <a:rect r="r" b="b" t="t" l="l"/>
            <a:pathLst>
              <a:path h="4060706" w="5381659">
                <a:moveTo>
                  <a:pt x="0" y="0"/>
                </a:moveTo>
                <a:lnTo>
                  <a:pt x="5381659" y="0"/>
                </a:lnTo>
                <a:lnTo>
                  <a:pt x="5381659" y="4060707"/>
                </a:lnTo>
                <a:lnTo>
                  <a:pt x="0" y="4060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3031403" y="6736988"/>
            <a:ext cx="5581585" cy="4211560"/>
          </a:xfrm>
          <a:custGeom>
            <a:avLst/>
            <a:gdLst/>
            <a:ahLst/>
            <a:cxnLst/>
            <a:rect r="r" b="b" t="t" l="l"/>
            <a:pathLst>
              <a:path h="4211560" w="5581585">
                <a:moveTo>
                  <a:pt x="5581585" y="4211560"/>
                </a:moveTo>
                <a:lnTo>
                  <a:pt x="0" y="4211560"/>
                </a:lnTo>
                <a:lnTo>
                  <a:pt x="0" y="0"/>
                </a:lnTo>
                <a:lnTo>
                  <a:pt x="5581585" y="0"/>
                </a:lnTo>
                <a:lnTo>
                  <a:pt x="5581585" y="42115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590945" y="1186195"/>
            <a:ext cx="6887877" cy="1327482"/>
          </a:xfrm>
          <a:custGeom>
            <a:avLst/>
            <a:gdLst/>
            <a:ahLst/>
            <a:cxnLst/>
            <a:rect r="r" b="b" t="t" l="l"/>
            <a:pathLst>
              <a:path h="1327482" w="6887877">
                <a:moveTo>
                  <a:pt x="0" y="0"/>
                </a:moveTo>
                <a:lnTo>
                  <a:pt x="6887877" y="0"/>
                </a:lnTo>
                <a:lnTo>
                  <a:pt x="6887877" y="1327481"/>
                </a:lnTo>
                <a:lnTo>
                  <a:pt x="0" y="13274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5274231" y="1367018"/>
            <a:ext cx="6003835" cy="812633"/>
          </a:xfrm>
          <a:prstGeom prst="rect">
            <a:avLst/>
          </a:prstGeom>
        </p:spPr>
        <p:txBody>
          <a:bodyPr anchor="t" rtlCol="false" tIns="0" lIns="0" bIns="0" rIns="0">
            <a:spAutoFit/>
          </a:bodyPr>
          <a:lstStyle/>
          <a:p>
            <a:pPr algn="ctr">
              <a:lnSpc>
                <a:spcPts val="6659"/>
              </a:lnSpc>
            </a:pPr>
            <a:r>
              <a:rPr lang="en-US" sz="4756" b="true">
                <a:solidFill>
                  <a:srgbClr val="FCFEFF"/>
                </a:solidFill>
                <a:latin typeface="Canva Sans Bold"/>
                <a:ea typeface="Canva Sans Bold"/>
                <a:cs typeface="Canva Sans Bold"/>
                <a:sym typeface="Canva Sans Bold"/>
              </a:rPr>
              <a:t>References</a:t>
            </a:r>
          </a:p>
        </p:txBody>
      </p:sp>
      <p:sp>
        <p:nvSpPr>
          <p:cNvPr name="TextBox 9" id="9"/>
          <p:cNvSpPr txBox="true"/>
          <p:nvPr/>
        </p:nvSpPr>
        <p:spPr>
          <a:xfrm rot="0">
            <a:off x="1028700" y="2718740"/>
            <a:ext cx="16135261" cy="6940955"/>
          </a:xfrm>
          <a:prstGeom prst="rect">
            <a:avLst/>
          </a:prstGeom>
        </p:spPr>
        <p:txBody>
          <a:bodyPr anchor="t" rtlCol="false" tIns="0" lIns="0" bIns="0" rIns="0">
            <a:spAutoFit/>
          </a:bodyPr>
          <a:lstStyle/>
          <a:p>
            <a:pPr algn="just" marL="473597" indent="-236798" lvl="1">
              <a:lnSpc>
                <a:spcPts val="3071"/>
              </a:lnSpc>
              <a:buAutoNum type="arabicPeriod" startAt="1"/>
            </a:pPr>
            <a:r>
              <a:rPr lang="en-US" sz="2193">
                <a:solidFill>
                  <a:srgbClr val="000000"/>
                </a:solidFill>
                <a:latin typeface="Montserrat"/>
                <a:ea typeface="Montserrat"/>
                <a:cs typeface="Montserrat"/>
                <a:sym typeface="Montserrat"/>
              </a:rPr>
              <a:t>Radford, A., et al. (2023). "Robust Speech Recognition via Large-Scale Weak Supervision." OpenAI Technical Report.</a:t>
            </a:r>
          </a:p>
          <a:p>
            <a:pPr algn="just" marL="473597" indent="-236798" lvl="1">
              <a:lnSpc>
                <a:spcPts val="3071"/>
              </a:lnSpc>
              <a:buAutoNum type="arabicPeriod" startAt="1"/>
            </a:pPr>
            <a:r>
              <a:rPr lang="en-US" sz="2193">
                <a:solidFill>
                  <a:srgbClr val="000000"/>
                </a:solidFill>
                <a:latin typeface="Montserrat"/>
                <a:ea typeface="Montserrat"/>
                <a:cs typeface="Montserrat"/>
                <a:sym typeface="Montserrat"/>
              </a:rPr>
              <a:t>Kennedy, M., &amp; Ellis, R. (2024). "Challenges in Automatic Speech Recognition for Children Aged 4-7." Journal of Speech Technology, 27(2), 145-162.</a:t>
            </a:r>
          </a:p>
          <a:p>
            <a:pPr algn="just" marL="473597" indent="-236798" lvl="1">
              <a:lnSpc>
                <a:spcPts val="3071"/>
              </a:lnSpc>
              <a:buAutoNum type="arabicPeriod" startAt="1"/>
            </a:pPr>
            <a:r>
              <a:rPr lang="en-US" sz="2193">
                <a:solidFill>
                  <a:srgbClr val="000000"/>
                </a:solidFill>
                <a:latin typeface="Montserrat"/>
                <a:ea typeface="Montserrat"/>
                <a:cs typeface="Montserrat"/>
                <a:sym typeface="Montserrat"/>
              </a:rPr>
              <a:t>Kim, S., et al. (2023). "Deep Learning Approaches for Pediatric Speech Recognition." IEEE Transactions on Audio, Speech, and Language Processing, 31, 892-905.</a:t>
            </a:r>
          </a:p>
          <a:p>
            <a:pPr algn="just" marL="473597" indent="-236798" lvl="1">
              <a:lnSpc>
                <a:spcPts val="3071"/>
              </a:lnSpc>
              <a:buAutoNum type="arabicPeriod" startAt="1"/>
            </a:pPr>
            <a:r>
              <a:rPr lang="en-US" sz="2193">
                <a:solidFill>
                  <a:srgbClr val="000000"/>
                </a:solidFill>
                <a:latin typeface="Montserrat"/>
                <a:ea typeface="Montserrat"/>
                <a:cs typeface="Montserrat"/>
                <a:sym typeface="Montserrat"/>
              </a:rPr>
              <a:t> Lee, J., Chen, W., &amp; Park, K. (2023). "Multi-Modal Error Detection in Child Speech Using Acoustic and Linguistic Features." Computer Speech &amp; Language, 78, 101-119.</a:t>
            </a:r>
          </a:p>
          <a:p>
            <a:pPr algn="just">
              <a:lnSpc>
                <a:spcPts val="3071"/>
              </a:lnSpc>
            </a:pPr>
            <a:r>
              <a:rPr lang="en-US" sz="2193">
                <a:solidFill>
                  <a:srgbClr val="000000"/>
                </a:solidFill>
                <a:latin typeface="Montserrat"/>
                <a:ea typeface="Montserrat"/>
                <a:cs typeface="Montserrat"/>
                <a:sym typeface="Montserrat"/>
              </a:rPr>
              <a:t> 5. Thompson, R., &amp; Kumar, A. (2024). "Automated Phonological Error Analysis in Early Childhood." Journal of Child Language, 51(1), 89-108.</a:t>
            </a:r>
          </a:p>
          <a:p>
            <a:pPr algn="just">
              <a:lnSpc>
                <a:spcPts val="3071"/>
              </a:lnSpc>
            </a:pPr>
            <a:r>
              <a:rPr lang="en-US" sz="2193">
                <a:solidFill>
                  <a:srgbClr val="000000"/>
                </a:solidFill>
                <a:latin typeface="Montserrat"/>
                <a:ea typeface="Montserrat"/>
                <a:cs typeface="Montserrat"/>
                <a:sym typeface="Montserrat"/>
              </a:rPr>
              <a:t> 6. Johnson, P., et al. (2024). "Machine Learning for Speech Disorder Classification in Children." Speech Communication, 148, 35-47.</a:t>
            </a:r>
          </a:p>
          <a:p>
            <a:pPr algn="just">
              <a:lnSpc>
                <a:spcPts val="3071"/>
              </a:lnSpc>
            </a:pPr>
            <a:r>
              <a:rPr lang="en-US" sz="2193">
                <a:solidFill>
                  <a:srgbClr val="000000"/>
                </a:solidFill>
                <a:latin typeface="Montserrat"/>
                <a:ea typeface="Montserrat"/>
                <a:cs typeface="Montserrat"/>
                <a:sym typeface="Montserrat"/>
              </a:rPr>
              <a:t>7. Zhang, L., &amp; Wang, Q. (2024). "Gamification in Speech Therapy: A Systematic Review." International Journal of Language &amp; Communication Disorders, 59(2), 234-251. </a:t>
            </a:r>
          </a:p>
          <a:p>
            <a:pPr algn="just">
              <a:lnSpc>
                <a:spcPts val="3071"/>
              </a:lnSpc>
            </a:pPr>
            <a:r>
              <a:rPr lang="en-US" sz="2193">
                <a:solidFill>
                  <a:srgbClr val="000000"/>
                </a:solidFill>
                <a:latin typeface="Montserrat"/>
                <a:ea typeface="Montserrat"/>
                <a:cs typeface="Montserrat"/>
                <a:sym typeface="Montserrat"/>
              </a:rPr>
              <a:t>8. Silva, M., et al. (2023). "Effectiveness of Technology-Assisted Speech Intervention for Preschoolers." Journal of Speech, Language, and Hearing Research, 66(4), 1245-1262.</a:t>
            </a:r>
          </a:p>
          <a:p>
            <a:pPr algn="just">
              <a:lnSpc>
                <a:spcPts val="3071"/>
              </a:lnSpc>
            </a:pPr>
          </a:p>
          <a:p>
            <a:pPr algn="just">
              <a:lnSpc>
                <a:spcPts val="3071"/>
              </a:lnSpc>
            </a:pP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144000" y="1355173"/>
            <a:ext cx="10042068" cy="6664282"/>
          </a:xfrm>
          <a:custGeom>
            <a:avLst/>
            <a:gdLst/>
            <a:ahLst/>
            <a:cxnLst/>
            <a:rect r="r" b="b" t="t" l="l"/>
            <a:pathLst>
              <a:path h="6664282" w="10042068">
                <a:moveTo>
                  <a:pt x="0" y="6664282"/>
                </a:moveTo>
                <a:lnTo>
                  <a:pt x="10042068" y="6664282"/>
                </a:lnTo>
                <a:lnTo>
                  <a:pt x="10042068" y="0"/>
                </a:lnTo>
                <a:lnTo>
                  <a:pt x="0" y="0"/>
                </a:lnTo>
                <a:lnTo>
                  <a:pt x="0" y="6664282"/>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898068" y="2179650"/>
            <a:ext cx="10042068" cy="6664282"/>
          </a:xfrm>
          <a:custGeom>
            <a:avLst/>
            <a:gdLst/>
            <a:ahLst/>
            <a:cxnLst/>
            <a:rect r="r" b="b" t="t" l="l"/>
            <a:pathLst>
              <a:path h="6664282" w="10042068">
                <a:moveTo>
                  <a:pt x="10042068" y="0"/>
                </a:moveTo>
                <a:lnTo>
                  <a:pt x="0" y="0"/>
                </a:lnTo>
                <a:lnTo>
                  <a:pt x="0" y="6664282"/>
                </a:lnTo>
                <a:lnTo>
                  <a:pt x="10042068" y="6664282"/>
                </a:lnTo>
                <a:lnTo>
                  <a:pt x="10042068"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11278" y="4982792"/>
            <a:ext cx="4216232" cy="2798045"/>
          </a:xfrm>
          <a:custGeom>
            <a:avLst/>
            <a:gdLst/>
            <a:ahLst/>
            <a:cxnLst/>
            <a:rect r="r" b="b" t="t" l="l"/>
            <a:pathLst>
              <a:path h="2798045" w="4216232">
                <a:moveTo>
                  <a:pt x="0" y="0"/>
                </a:moveTo>
                <a:lnTo>
                  <a:pt x="4216232" y="0"/>
                </a:lnTo>
                <a:lnTo>
                  <a:pt x="4216232" y="2798045"/>
                </a:lnTo>
                <a:lnTo>
                  <a:pt x="0" y="2798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05789" y="-488243"/>
            <a:ext cx="5381659" cy="4060706"/>
          </a:xfrm>
          <a:custGeom>
            <a:avLst/>
            <a:gdLst/>
            <a:ahLst/>
            <a:cxnLst/>
            <a:rect r="r" b="b" t="t" l="l"/>
            <a:pathLst>
              <a:path h="4060706" w="5381659">
                <a:moveTo>
                  <a:pt x="0" y="0"/>
                </a:moveTo>
                <a:lnTo>
                  <a:pt x="5381659" y="0"/>
                </a:lnTo>
                <a:lnTo>
                  <a:pt x="5381659" y="4060707"/>
                </a:lnTo>
                <a:lnTo>
                  <a:pt x="0" y="40607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3031403" y="6736988"/>
            <a:ext cx="5581585" cy="4211560"/>
          </a:xfrm>
          <a:custGeom>
            <a:avLst/>
            <a:gdLst/>
            <a:ahLst/>
            <a:cxnLst/>
            <a:rect r="r" b="b" t="t" l="l"/>
            <a:pathLst>
              <a:path h="4211560" w="5581585">
                <a:moveTo>
                  <a:pt x="5581585" y="4211560"/>
                </a:moveTo>
                <a:lnTo>
                  <a:pt x="0" y="4211560"/>
                </a:lnTo>
                <a:lnTo>
                  <a:pt x="0" y="0"/>
                </a:lnTo>
                <a:lnTo>
                  <a:pt x="5581585" y="0"/>
                </a:lnTo>
                <a:lnTo>
                  <a:pt x="5581585" y="421156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590945" y="1186195"/>
            <a:ext cx="6887877" cy="1327482"/>
          </a:xfrm>
          <a:custGeom>
            <a:avLst/>
            <a:gdLst/>
            <a:ahLst/>
            <a:cxnLst/>
            <a:rect r="r" b="b" t="t" l="l"/>
            <a:pathLst>
              <a:path h="1327482" w="6887877">
                <a:moveTo>
                  <a:pt x="0" y="0"/>
                </a:moveTo>
                <a:lnTo>
                  <a:pt x="6887877" y="0"/>
                </a:lnTo>
                <a:lnTo>
                  <a:pt x="6887877" y="1327481"/>
                </a:lnTo>
                <a:lnTo>
                  <a:pt x="0" y="13274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5274231" y="1367018"/>
            <a:ext cx="6003835" cy="812633"/>
          </a:xfrm>
          <a:prstGeom prst="rect">
            <a:avLst/>
          </a:prstGeom>
        </p:spPr>
        <p:txBody>
          <a:bodyPr anchor="t" rtlCol="false" tIns="0" lIns="0" bIns="0" rIns="0">
            <a:spAutoFit/>
          </a:bodyPr>
          <a:lstStyle/>
          <a:p>
            <a:pPr algn="ctr">
              <a:lnSpc>
                <a:spcPts val="6659"/>
              </a:lnSpc>
            </a:pPr>
            <a:r>
              <a:rPr lang="en-US" sz="4756" b="true">
                <a:solidFill>
                  <a:srgbClr val="FCFEFF"/>
                </a:solidFill>
                <a:latin typeface="Canva Sans Bold"/>
                <a:ea typeface="Canva Sans Bold"/>
                <a:cs typeface="Canva Sans Bold"/>
                <a:sym typeface="Canva Sans Bold"/>
              </a:rPr>
              <a:t>References</a:t>
            </a:r>
          </a:p>
        </p:txBody>
      </p:sp>
      <p:sp>
        <p:nvSpPr>
          <p:cNvPr name="TextBox 9" id="9"/>
          <p:cNvSpPr txBox="true"/>
          <p:nvPr/>
        </p:nvSpPr>
        <p:spPr>
          <a:xfrm rot="0">
            <a:off x="976263" y="2846017"/>
            <a:ext cx="16283037" cy="4225925"/>
          </a:xfrm>
          <a:prstGeom prst="rect">
            <a:avLst/>
          </a:prstGeom>
        </p:spPr>
        <p:txBody>
          <a:bodyPr anchor="t" rtlCol="false" tIns="0" lIns="0" bIns="0" rIns="0">
            <a:spAutoFit/>
          </a:bodyPr>
          <a:lstStyle/>
          <a:p>
            <a:pPr algn="just">
              <a:lnSpc>
                <a:spcPts val="2800"/>
              </a:lnSpc>
              <a:spcBef>
                <a:spcPct val="0"/>
              </a:spcBef>
            </a:pPr>
            <a:r>
              <a:rPr lang="en-US" sz="2000">
                <a:solidFill>
                  <a:srgbClr val="000000"/>
                </a:solidFill>
                <a:latin typeface="Canva Sans"/>
                <a:ea typeface="Canva Sans"/>
                <a:cs typeface="Canva Sans"/>
                <a:sym typeface="Canva Sans"/>
              </a:rPr>
              <a:t>9. OpenAI (2024). "GPT-4 Technical Report and Educational Applications." arXiv preprint arXiv:2303.08774. </a:t>
            </a:r>
          </a:p>
          <a:p>
            <a:pPr algn="just">
              <a:lnSpc>
                <a:spcPts val="2800"/>
              </a:lnSpc>
              <a:spcBef>
                <a:spcPct val="0"/>
              </a:spcBef>
            </a:pPr>
            <a:r>
              <a:rPr lang="en-US" sz="2000">
                <a:solidFill>
                  <a:srgbClr val="000000"/>
                </a:solidFill>
                <a:latin typeface="Canva Sans"/>
                <a:ea typeface="Canva Sans"/>
                <a:cs typeface="Canva Sans"/>
                <a:sym typeface="Canva Sans"/>
              </a:rPr>
              <a:t>10. Google DeepMind (2024). "Gemini: A Family of Highly Capable Multimodal Models." Technical Report. </a:t>
            </a:r>
          </a:p>
          <a:p>
            <a:pPr algn="just">
              <a:lnSpc>
                <a:spcPts val="2800"/>
              </a:lnSpc>
              <a:spcBef>
                <a:spcPct val="0"/>
              </a:spcBef>
            </a:pPr>
            <a:r>
              <a:rPr lang="en-US" sz="2000">
                <a:solidFill>
                  <a:srgbClr val="000000"/>
                </a:solidFill>
                <a:latin typeface="Canva Sans"/>
                <a:ea typeface="Canva Sans"/>
                <a:cs typeface="Canva Sans"/>
                <a:sym typeface="Canva Sans"/>
              </a:rPr>
              <a:t>11. Rodriguez, C. (2022). "Narrative-Based Approaches to Language Acquisition in Early Childhood." Language Learning &amp; Technology, 26(3), 78-95.</a:t>
            </a:r>
          </a:p>
          <a:p>
            <a:pPr algn="just">
              <a:lnSpc>
                <a:spcPts val="2800"/>
              </a:lnSpc>
              <a:spcBef>
                <a:spcPct val="0"/>
              </a:spcBef>
            </a:pPr>
            <a:r>
              <a:rPr lang="en-US" sz="2000">
                <a:solidFill>
                  <a:srgbClr val="000000"/>
                </a:solidFill>
                <a:latin typeface="Canva Sans"/>
                <a:ea typeface="Canva Sans"/>
                <a:cs typeface="Canva Sans"/>
                <a:sym typeface="Canva Sans"/>
              </a:rPr>
              <a:t>12. Morrison, S., &amp; Chen, L. (2024). "Real-Time Feedback Mechanisms in Speech Intervention." American Journal of Speech-Language Pathology, 33(1), 112-128. </a:t>
            </a:r>
          </a:p>
          <a:p>
            <a:pPr algn="just">
              <a:lnSpc>
                <a:spcPts val="2800"/>
              </a:lnSpc>
              <a:spcBef>
                <a:spcPct val="0"/>
              </a:spcBef>
            </a:pPr>
            <a:r>
              <a:rPr lang="en-US" sz="2000">
                <a:solidFill>
                  <a:srgbClr val="000000"/>
                </a:solidFill>
                <a:latin typeface="Canva Sans"/>
                <a:ea typeface="Canva Sans"/>
                <a:cs typeface="Canva Sans"/>
                <a:sym typeface="Canva Sans"/>
              </a:rPr>
              <a:t>13. Patel, R., et al. (2023). "Virtual Reality Applications in Pediatric Speech Therapy." Augmentative and Alternative Communication, 39(2), 156-170. </a:t>
            </a:r>
          </a:p>
          <a:p>
            <a:pPr algn="just">
              <a:lnSpc>
                <a:spcPts val="2800"/>
              </a:lnSpc>
              <a:spcBef>
                <a:spcPct val="0"/>
              </a:spcBef>
            </a:pPr>
            <a:r>
              <a:rPr lang="en-US" sz="2000">
                <a:solidFill>
                  <a:srgbClr val="000000"/>
                </a:solidFill>
                <a:latin typeface="Canva Sans"/>
                <a:ea typeface="Canva Sans"/>
                <a:cs typeface="Canva Sans"/>
                <a:sym typeface="Canva Sans"/>
              </a:rPr>
              <a:t>14. Anderson, K., &amp; Martinez, E. (2023). "Parent-Implemented Speech Practice: Barriers and Facilitators." Journal of Early Intervention, 45(3), 289-305.</a:t>
            </a:r>
          </a:p>
          <a:p>
            <a:pPr algn="just">
              <a:lnSpc>
                <a:spcPts val="2800"/>
              </a:lnSpc>
              <a:spcBef>
                <a:spcPct val="0"/>
              </a:spcBef>
            </a:pPr>
            <a:r>
              <a:rPr lang="en-US" sz="2000">
                <a:solidFill>
                  <a:srgbClr val="000000"/>
                </a:solidFill>
                <a:latin typeface="Canva Sans"/>
                <a:ea typeface="Canva Sans"/>
                <a:cs typeface="Canva Sans"/>
                <a:sym typeface="Canva Sans"/>
              </a:rPr>
              <a:t>15. Duolingo ABC Research Team (2023). "Early Literacy and Language Development through Mobile Applications." Educational Technology Research &amp; Development, 71, 1523-1540.</a:t>
            </a: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bg>
      <p:bgPr>
        <a:solidFill>
          <a:srgbClr val="FCFEFF"/>
        </a:solidFill>
      </p:bgPr>
    </p:bg>
    <p:spTree>
      <p:nvGrpSpPr>
        <p:cNvPr id="1" name=""/>
        <p:cNvGrpSpPr/>
        <p:nvPr/>
      </p:nvGrpSpPr>
      <p:grpSpPr>
        <a:xfrm>
          <a:off x="0" y="0"/>
          <a:ext cx="0" cy="0"/>
          <a:chOff x="0" y="0"/>
          <a:chExt cx="0" cy="0"/>
        </a:xfrm>
      </p:grpSpPr>
      <p:sp>
        <p:nvSpPr>
          <p:cNvPr name="Freeform 2" id="2"/>
          <p:cNvSpPr/>
          <p:nvPr/>
        </p:nvSpPr>
        <p:spPr>
          <a:xfrm flipH="false" flipV="true" rot="0">
            <a:off x="9144000" y="1355173"/>
            <a:ext cx="10042068" cy="6664282"/>
          </a:xfrm>
          <a:custGeom>
            <a:avLst/>
            <a:gdLst/>
            <a:ahLst/>
            <a:cxnLst/>
            <a:rect r="r" b="b" t="t" l="l"/>
            <a:pathLst>
              <a:path h="6664282" w="10042068">
                <a:moveTo>
                  <a:pt x="0" y="6664282"/>
                </a:moveTo>
                <a:lnTo>
                  <a:pt x="10042068" y="6664282"/>
                </a:lnTo>
                <a:lnTo>
                  <a:pt x="10042068" y="0"/>
                </a:lnTo>
                <a:lnTo>
                  <a:pt x="0" y="0"/>
                </a:lnTo>
                <a:lnTo>
                  <a:pt x="0" y="6664282"/>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14145" y="0"/>
            <a:ext cx="20409103" cy="1443068"/>
          </a:xfrm>
          <a:custGeom>
            <a:avLst/>
            <a:gdLst/>
            <a:ahLst/>
            <a:cxnLst/>
            <a:rect r="r" b="b" t="t" l="l"/>
            <a:pathLst>
              <a:path h="1443068" w="20409103">
                <a:moveTo>
                  <a:pt x="0" y="0"/>
                </a:moveTo>
                <a:lnTo>
                  <a:pt x="20409103" y="0"/>
                </a:lnTo>
                <a:lnTo>
                  <a:pt x="20409103" y="1443068"/>
                </a:lnTo>
                <a:lnTo>
                  <a:pt x="0" y="14430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898068" y="2179650"/>
            <a:ext cx="10042068" cy="6664282"/>
          </a:xfrm>
          <a:custGeom>
            <a:avLst/>
            <a:gdLst/>
            <a:ahLst/>
            <a:cxnLst/>
            <a:rect r="r" b="b" t="t" l="l"/>
            <a:pathLst>
              <a:path h="6664282" w="10042068">
                <a:moveTo>
                  <a:pt x="10042068" y="0"/>
                </a:moveTo>
                <a:lnTo>
                  <a:pt x="0" y="0"/>
                </a:lnTo>
                <a:lnTo>
                  <a:pt x="0" y="6664282"/>
                </a:lnTo>
                <a:lnTo>
                  <a:pt x="10042068" y="6664282"/>
                </a:lnTo>
                <a:lnTo>
                  <a:pt x="10042068"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true" rot="0">
            <a:off x="-1748364" y="8843932"/>
            <a:ext cx="20409103" cy="1443068"/>
          </a:xfrm>
          <a:custGeom>
            <a:avLst/>
            <a:gdLst/>
            <a:ahLst/>
            <a:cxnLst/>
            <a:rect r="r" b="b" t="t" l="l"/>
            <a:pathLst>
              <a:path h="1443068" w="20409103">
                <a:moveTo>
                  <a:pt x="20409103" y="1443068"/>
                </a:moveTo>
                <a:lnTo>
                  <a:pt x="0" y="1443068"/>
                </a:lnTo>
                <a:lnTo>
                  <a:pt x="0" y="0"/>
                </a:lnTo>
                <a:lnTo>
                  <a:pt x="20409103" y="0"/>
                </a:lnTo>
                <a:lnTo>
                  <a:pt x="20409103" y="1443068"/>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3169859" y="5618309"/>
            <a:ext cx="5118141" cy="3396585"/>
          </a:xfrm>
          <a:custGeom>
            <a:avLst/>
            <a:gdLst/>
            <a:ahLst/>
            <a:cxnLst/>
            <a:rect r="r" b="b" t="t" l="l"/>
            <a:pathLst>
              <a:path h="3396585" w="5118141">
                <a:moveTo>
                  <a:pt x="0" y="0"/>
                </a:moveTo>
                <a:lnTo>
                  <a:pt x="5118141" y="0"/>
                </a:lnTo>
                <a:lnTo>
                  <a:pt x="5118141" y="3396585"/>
                </a:lnTo>
                <a:lnTo>
                  <a:pt x="0" y="33965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3747997" y="3253490"/>
            <a:ext cx="10792006" cy="2364819"/>
          </a:xfrm>
          <a:prstGeom prst="rect">
            <a:avLst/>
          </a:prstGeom>
        </p:spPr>
        <p:txBody>
          <a:bodyPr anchor="t" rtlCol="false" tIns="0" lIns="0" bIns="0" rIns="0">
            <a:spAutoFit/>
          </a:bodyPr>
          <a:lstStyle/>
          <a:p>
            <a:pPr algn="ctr">
              <a:lnSpc>
                <a:spcPts val="18071"/>
              </a:lnSpc>
            </a:pPr>
            <a:r>
              <a:rPr lang="en-US" b="true" sz="16889">
                <a:solidFill>
                  <a:srgbClr val="1F305D"/>
                </a:solidFill>
                <a:latin typeface="Aileron Bold"/>
                <a:ea typeface="Aileron Bold"/>
                <a:cs typeface="Aileron Bold"/>
                <a:sym typeface="Aileron Bold"/>
              </a:rPr>
              <a:t>Thank</a:t>
            </a:r>
          </a:p>
        </p:txBody>
      </p:sp>
      <p:sp>
        <p:nvSpPr>
          <p:cNvPr name="TextBox 8" id="8"/>
          <p:cNvSpPr txBox="true"/>
          <p:nvPr/>
        </p:nvSpPr>
        <p:spPr>
          <a:xfrm rot="0">
            <a:off x="7506708" y="5184737"/>
            <a:ext cx="3274583" cy="2048797"/>
          </a:xfrm>
          <a:prstGeom prst="rect">
            <a:avLst/>
          </a:prstGeom>
        </p:spPr>
        <p:txBody>
          <a:bodyPr anchor="t" rtlCol="false" tIns="0" lIns="0" bIns="0" rIns="0">
            <a:spAutoFit/>
          </a:bodyPr>
          <a:lstStyle/>
          <a:p>
            <a:pPr algn="ctr">
              <a:lnSpc>
                <a:spcPts val="15639"/>
              </a:lnSpc>
            </a:pPr>
            <a:r>
              <a:rPr lang="en-US" b="true" sz="14616">
                <a:solidFill>
                  <a:srgbClr val="576179"/>
                </a:solidFill>
                <a:latin typeface="Aileron Bold"/>
                <a:ea typeface="Aileron Bold"/>
                <a:cs typeface="Aileron Bold"/>
                <a:sym typeface="Aileron Bold"/>
              </a:rPr>
              <a:t>You</a:t>
            </a:r>
          </a:p>
        </p:txBody>
      </p:sp>
      <p:sp>
        <p:nvSpPr>
          <p:cNvPr name="Freeform 9" id="9"/>
          <p:cNvSpPr/>
          <p:nvPr/>
        </p:nvSpPr>
        <p:spPr>
          <a:xfrm flipH="true" flipV="false" rot="0">
            <a:off x="-1050468" y="1355173"/>
            <a:ext cx="5118141" cy="3396585"/>
          </a:xfrm>
          <a:custGeom>
            <a:avLst/>
            <a:gdLst/>
            <a:ahLst/>
            <a:cxnLst/>
            <a:rect r="r" b="b" t="t" l="l"/>
            <a:pathLst>
              <a:path h="3396585" w="5118141">
                <a:moveTo>
                  <a:pt x="5118141" y="0"/>
                </a:moveTo>
                <a:lnTo>
                  <a:pt x="0" y="0"/>
                </a:lnTo>
                <a:lnTo>
                  <a:pt x="0" y="3396585"/>
                </a:lnTo>
                <a:lnTo>
                  <a:pt x="5118141" y="3396585"/>
                </a:lnTo>
                <a:lnTo>
                  <a:pt x="511814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DAGzlkV7JDc</dc:identifier>
  <dcterms:modified xsi:type="dcterms:W3CDTF">2011-08-01T06:04:30Z</dcterms:modified>
  <cp:revision>1</cp:revision>
  <dc:title>Review I PPT</dc:title>
</cp:coreProperties>
</file>